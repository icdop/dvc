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开场：直接把 dvc-labs 解压到工具区，`csh run_all.csh` 跑一遍给学员看（30 秒内出结果），再回头讲课程结构。强调这不是 PPT 课程——每一页都有可执行的东西。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让每人先认领：你最想解决的是哪一行。后面每个模块结束都回到这张表打勾。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常见卡点：直接在 bash 里 source env.csh（csh 语法会报错）；或忘记 make bin，于是任何 dvc_ 命令都 command not found。现场用 which dvc_get_system 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模块开场：先念本页的三件事，让学员知道这一模块结束时他们手上会多出什么能力与什么产物。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目标页不要念完，指出「做完你能自己做出什么」即可；右侧灰块是本次实验入口。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 模板里 anon-access = write —— 下一步必须收紧。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小结页请学员合上电脑，用一句话复述每一条；复述不出的模块，作业里补做一次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模块开场：先念本页的三件事，让学员知道这一模块结束时他们手上会多出什么能力与什么产物。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目标页不要念完，指出「做完你能自己做出什么」即可；右侧灰块是本次实验入口。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结论：一台机器多个项目 → 一个项目一个检出根，而不是反复 --force。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小结页请学员合上电脑，用一句话复述每一条；复述不出的模块，作业里补做一次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模块开场：先念本页的三件事，让学员知道这一模块结束时他们手上会多出什么能力与什么产物。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目标页不要念完，指出「做完你能自己做出什么」即可；右侧灰块是本次实验入口。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让学员现场故意写错一次（只给 stage 名），观察 DVC 把谁当版本 —— 错误最快被消化。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小结页请学员合上电脑，用一句话复述每一条；复述不出的模块，作业里补做一次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模块开场：先念本页的三件事，让学员知道这一模块结束时他们手上会多出什么能力与什么产物。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目标页不要念完，指出「做完你能自己做出什么」即可；右侧灰块是本次实验入口。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让学员用 svn status 自查，比让讲师说更有效：这是「交付前最后一道」的习惯。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小结页请学员合上电脑，用一句话复述每一条；复述不出的模块，作业里补做一次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模块开场：先念本页的三件事，让学员知道这一模块结束时他们手上会多出什么能力与什么产物。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这就是团队推荐 checkin_* 而非裸 commit 的原因：语义与数据一起进门。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小结页请学员合上电脑，用一句话复述每一条；复述不出的模块，作业里补做一次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模块开场：先念本页的三件事，让学员知道这一模块结束时他们手上会多出什么能力与什么产物。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交付评审的凭据是「服务器上的 .dqc」，不是某人终端上的一次输出。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小结页请学员合上电脑，用一句话复述每一条；复述不出的模块，作业里补做一次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模块开场：先念本页的三件事，让学员知道这一模块结束时他们手上会多出什么能力与什么产物。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目标页不要念完，指出「做完你能自己做出什么」即可；右侧灰块是本次实验入口。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manifest 与 signoff 当作邮件附件：交付沟通从「我发你了」变成「请核对」。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小结页请学员合上电脑，用一句话复述每一条；复述不出的模块，作业里补做一次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模块开场：先念本页的三件事，让学员知道这一模块结束时他们手上会多出什么能力与什么产物。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目标页不要念完，指出「做完你能自己做出什么」即可；右侧灰块是本次实验入口。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'--root :container' 让指标写进「当前容器」，循环里不必拼长路径 —— 这是剧本脚本简化的关键。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小结页请学员合上电脑，用一句话复述每一条；复述不出的模块，作业里补做一次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模块开场：先念本页的三件事，让学员知道这一模块结束时他们手上会多出什么能力与什么产物。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命令页：先讲「什么时候用」，再讲参数；右侧回显请让学员在 lab 里自己打一次。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结论：先 svn cleanup，再考虑重建工作区；不要在项目仓库上做 rm -rf。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逐步带做：先预测输出，再执行；执行后请学员复述「这一步把什么放进了仓库」。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dump 只含版本数据，不含 conf/ —— 迁移后权限必须重配，这是最常见的“迁完不能用”。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小结页请学员合上电脑，用一句话复述每一条；复述不出的模块，作业里补做一次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先让学员举手投票，再揭示右侧答案。这题的正确率决定要不要重跑对应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先让学员举手投票，再揭示右侧答案。这题的正确率决定要不要重跑对应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先让学员举手投票，再揭示右侧答案。这题的正确率决定要不要重跑对应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先让学员举手投票，再揭示右侧答案。这题的正确率决定要不要重跑对应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先让学员举手投票，再揭示右侧答案。这题的正确率决定要不要重跑对应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先让学员举手投票，再揭示右侧答案。这题的正确率决定要不要重跑对应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先让学员举手投票，再揭示右侧答案。这题的正确率决定要不要重跑对应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先让学员举手投票，再揭示右侧答案。这题的正确率决定要不要重跑对应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先让学员举手投票，再揭示右侧答案。这题的正确率决定要不要重跑对应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先让学员举手投票，再揭示右侧答案。这题的正确率决定要不要重跑对应 lab。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结课不留感想，留三句话承诺：谁、什么时候、铺哪条路径。下一周用 verify.csh 检查落地情况。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现场就 rm -rf train &amp;&amp; csh run_all.csh：让学员看到「一套实验随时可重来」，</a:t>
            </a:r>
          </a:p>
          <a:p>
            <a:r>
              <a:t>这是愿意在生产流程里采用它的前提。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把这页当作「作业模板」发给学员：回去只需替换 4 个变量，就能接进自己的流程。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对照表用来收敛争议：讲解时逐行问「我们组是哪一种」。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45720" cy="6711696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8686800" cy="3041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9A63C"/>
                </a:solidFill>
                <a:latin typeface="Consolas"/>
              </a:rPr>
              <a:t>DVC · DESIGN VERSION CONTROL · HANDS-ON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8778240" cy="874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4F7FA"/>
                </a:solidFill>
                <a:latin typeface="Arial"/>
              </a:rPr>
              <a:t>芯片设计数据管理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95728"/>
            <a:ext cx="8778240" cy="874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4F7FA"/>
                </a:solidFill>
                <a:latin typeface="Arial"/>
              </a:rPr>
              <a:t>实做训练课程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74720"/>
            <a:ext cx="8595360" cy="363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9A63C"/>
                </a:solidFill>
                <a:latin typeface="Arial"/>
              </a:rPr>
              <a:t>10 个模块 · 10 支可执行 lab · 每一条回显都来自真实运行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968496"/>
            <a:ext cx="8412480" cy="10599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E9A63C"/>
                </a:solidFill>
                <a:latin typeface="Consolas"/>
              </a:rPr>
              <a:t>·  </a:t>
            </a:r>
            <a:r>
              <a:rPr sz="1300">
                <a:solidFill>
                  <a:srgbClr val="8A97A6"/>
                </a:solidFill>
                <a:latin typeface="Arial"/>
              </a:rPr>
              <a:t>对象 · 设计工程师 / 项目经理 / 流程与 CAD 支持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9A63C"/>
                </a:solidFill>
                <a:latin typeface="Consolas"/>
              </a:rPr>
              <a:t>·  </a:t>
            </a:r>
            <a:r>
              <a:rPr sz="1300">
                <a:solidFill>
                  <a:srgbClr val="8A97A6"/>
                </a:solidFill>
                <a:latin typeface="Arial"/>
              </a:rPr>
              <a:t>形式 · 讲 40% + 终端实作 50% + 推演 10%（每次 90 分钟 × 6 场）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9A63C"/>
                </a:solidFill>
                <a:latin typeface="Consolas"/>
              </a:rPr>
              <a:t>·  </a:t>
            </a:r>
            <a:r>
              <a:rPr sz="1300">
                <a:solidFill>
                  <a:srgbClr val="8A97A6"/>
                </a:solidFill>
                <a:latin typeface="Arial"/>
              </a:rPr>
              <a:t>工具 · DVC V2020_1115a（MIT，gitee.com/icdop/dvc）+ Subversion + tcsh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394960"/>
            <a:ext cx="8412480" cy="89717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559155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5550408"/>
            <a:ext cx="786384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动手 · 全套实验只需这一条命令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5888736"/>
            <a:ext cx="8010144" cy="2424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850">
                <a:solidFill>
                  <a:srgbClr val="7C8998"/>
                </a:solidFill>
                <a:latin typeface="Consolas"/>
              </a:rPr>
              <a:t>%</a:t>
            </a:r>
            <a:r>
              <a:rPr sz="850">
                <a:solidFill>
                  <a:srgbClr val="7C8998"/>
                </a:solidFill>
                <a:latin typeface="Consolas"/>
              </a:rPr>
              <a:t> </a:t>
            </a:r>
            <a:r>
              <a:rPr sz="850">
                <a:solidFill>
                  <a:srgbClr val="F4F7FA"/>
                </a:solidFill>
                <a:latin typeface="Consolas"/>
              </a:rPr>
              <a:t>csh</a:t>
            </a:r>
            <a:r>
              <a:rPr sz="850">
                <a:solidFill>
                  <a:srgbClr val="C6D0DA"/>
                </a:solidFill>
                <a:latin typeface="Consolas"/>
              </a:rPr>
              <a:t> </a:t>
            </a:r>
            <a:r>
              <a:rPr sz="850">
                <a:solidFill>
                  <a:srgbClr val="F4F7FA"/>
                </a:solidFill>
                <a:latin typeface="Consolas"/>
              </a:rPr>
              <a:t>run_all.csh</a:t>
            </a:r>
            <a:r>
              <a:rPr sz="850">
                <a:solidFill>
                  <a:srgbClr val="C6D0DA"/>
                </a:solidFill>
                <a:latin typeface="Consolas"/>
              </a:rPr>
              <a:t>        </a:t>
            </a:r>
            <a:r>
              <a:rPr sz="850">
                <a:solidFill>
                  <a:srgbClr val="7C8998"/>
                </a:solidFill>
                <a:latin typeface="Consolas"/>
              </a:rPr>
              <a:t># 一次跑完 10 支 lab，日志写进 logs/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10928" y="960120"/>
            <a:ext cx="1920240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0928" y="1188720"/>
            <a:ext cx="1920240" cy="601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9A63C"/>
                </a:solidFill>
                <a:latin typeface="Arial"/>
              </a:rPr>
              <a:t>100+ 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0928" y="1755648"/>
            <a:ext cx="1920240" cy="278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97A6"/>
                </a:solidFill>
                <a:latin typeface="Arial"/>
              </a:rPr>
              <a:t>含逐页讲师备注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10928" y="2377440"/>
            <a:ext cx="1920240" cy="25603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0928" y="2606040"/>
            <a:ext cx="192024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F7FA"/>
                </a:solidFill>
                <a:latin typeface="Consolas"/>
              </a:rPr>
              <a:t>LAB-01 … LAB-10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2971800"/>
            <a:ext cx="1920240" cy="465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97A6"/>
                </a:solidFill>
                <a:latin typeface="Arial"/>
              </a:rPr>
              <a:t>可执行案例数据包
真实 SVN 仓库跑通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309360"/>
            <a:ext cx="8229600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配套：《DVC 使用手册》《DVC 命令参考手册》 · dvc-labs/ 实验包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COURSE MAP · 课程结构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33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4F7FA"/>
                </a:solidFill>
                <a:latin typeface="Arial"/>
              </a:rPr>
              <a:t>六个模块 × 十个实验，每一步都能验收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4884"/>
            <a:ext cx="986911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97A6"/>
                </a:solidFill>
                <a:latin typeface="Arial"/>
              </a:rPr>
              <a:t>每一模块都以「仓库里多了什么」为结课标准，而不是「听懂了没有」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45030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90750"/>
            <a:ext cx="181901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7694" y="2190750"/>
            <a:ext cx="405184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学完能做的事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709" y="2190750"/>
            <a:ext cx="139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实验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5589" y="2190750"/>
            <a:ext cx="298859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仓库里的证据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55926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492502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M0 开篇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7694" y="2492502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认识目录语义与三条铁律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709" y="2492502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env.csh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5589" y="2492502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环境可复现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768282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2804858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M1 仓库与环境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7694" y="2804858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起 SVN、建项目、发环境档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709" y="2804858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lab01–lab02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5589" y="2804858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N7A/ 三个元数据目录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080639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3117215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M2 目录与命名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87694" y="3117215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铺四层路径、用 DVC_PATH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709" y="3117215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lab03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5589" y="3117215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P1-trial/chip/000-DATA/...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92995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429571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M3 检出与指针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87694" y="3429571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检出、:链接、深度控制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0709" y="3429571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lab04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5589" y="3429571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_/ 与 :version 链接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705352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3741928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M4 对象与容器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87694" y="3741928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copy / link / rename / delete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0709" y="3741928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lab05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5589" y="3741928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route 容器 + 4 个对象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017708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4054284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M5 提交与复核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87694" y="4054284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四种提交粒度的选择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0709" y="4054284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lab06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35589" y="4054284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服务器端可见内容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330065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4366641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M6 质量指标 DQI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87694" y="4366641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写指标、出趋势、产 HTML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0709" y="4366641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lab07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35589" y="4366641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.dqc/WNS = -0.152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642421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" y="4678997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M7 跨团队共享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87694" y="4678997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交付三件套 + 接收方接手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0709" y="4678997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lab08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35589" y="4678997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manifest + 状态变量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954778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" y="4991354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M8 综合剧本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87694" y="4991354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SoC 全流程数据管理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0709" y="4991354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lab09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35589" y="4991354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六个流程节点全绿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5267134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" y="5303710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M9 运维与恢复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87694" y="5303710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cleanup / peg 恢复 / dump 迁移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0709" y="5303710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lab10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35589" y="5303710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migrated/svn 可用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5579490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SETUP · 环境前提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33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4F7FA"/>
                </a:solidFill>
                <a:latin typeface="Arial"/>
              </a:rPr>
              <a:t>开工前必须到位的四件事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67764"/>
            <a:ext cx="685800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713484"/>
            <a:ext cx="135331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依赖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1" y="1713484"/>
            <a:ext cx="290779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0952" y="1713484"/>
            <a:ext cx="199339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检查命令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78659"/>
            <a:ext cx="6858000" cy="3768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015236"/>
            <a:ext cx="1353311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tcsh / csh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2015236"/>
            <a:ext cx="2907791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DVC 全部脚本的解释器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015236"/>
            <a:ext cx="1993391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csh --version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355469"/>
            <a:ext cx="6858000" cy="3768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392045"/>
            <a:ext cx="1353311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Subversion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1991" y="2392045"/>
            <a:ext cx="2907791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唯一存储引擎（svn / svnadmin / svnserve）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2392045"/>
            <a:ext cx="1993391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svn --version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732278"/>
            <a:ext cx="6858000" cy="3768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768854"/>
            <a:ext cx="1353311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GNU make + git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1991" y="2768854"/>
            <a:ext cx="2907791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生成 dvc_* 命令、取源码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2768854"/>
            <a:ext cx="1993391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make -v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109086"/>
            <a:ext cx="6858000" cy="3768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3145662"/>
            <a:ext cx="1353311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一个可写目录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1991" y="3145662"/>
            <a:ext cx="2907791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放 SVN_ROOT 与训练产物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952" y="3145662"/>
            <a:ext cx="1993391" cy="303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touch .w &amp;&amp; rm .w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485896"/>
            <a:ext cx="685800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9520" y="1667764"/>
            <a:ext cx="4041648" cy="200893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90688" y="1864359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4" y="1823212"/>
            <a:ext cx="349300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准备 · 66 支命令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8" y="2161540"/>
            <a:ext cx="3639312" cy="13542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/tools/icdop/dvc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make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bin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ls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bin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|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wc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-l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66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dvc_get_system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DVC_VERSON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2020_1115a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749852"/>
            <a:ext cx="404164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C8998"/>
                </a:solidFill>
                <a:latin typeface="Consolas"/>
              </a:rPr>
              <a:t>make bin 把 ../csh/*.csh 链接为 bin/dvc_*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4630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194560" cy="29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97A6"/>
                </a:solidFill>
                <a:latin typeface="Consolas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2194560" cy="118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E9A63C"/>
                </a:solidFill>
                <a:latin typeface="Arial"/>
              </a:rPr>
              <a:t>M01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051560"/>
            <a:ext cx="8046720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M01 · 把工具与服务器架起来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8138160" cy="636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4F7FA"/>
                </a:solidFill>
                <a:latin typeface="Arial"/>
              </a:rPr>
              <a:t>仓库与环境：从空目录到可用 SVN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468880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2523744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52928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生成命令、初始化 SVN 根、创建项目仓库、发环境档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578098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3632962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看得见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2146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SVN_ROOT 下出现 &lt;项目&gt;/conf，版本树里有 .dvc / .dqc / .htm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687316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4742180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带得走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071364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一份能全员 source 的 CSHRC / env.csh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6309360"/>
            <a:ext cx="8138160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本页是本模块的地图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GOAL · 本模块要达成的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33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4F7FA"/>
                </a:solidFill>
                <a:latin typeface="Arial"/>
              </a:rPr>
              <a:t>本模块结束时，你能独立完成一次「起库」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7764"/>
            <a:ext cx="6400800" cy="177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解释 file 模式与 svn 模式的差别，并说清各自适用团队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用 dvc_init_server 初始化仓库根并解释 status 的每一行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创建项目仓库，并说出仓库里三个元数据目录分别装什么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把服务器配置写成可分发、可复现的环境档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667764"/>
            <a:ext cx="4023360" cy="411480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667764"/>
            <a:ext cx="402336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1740916"/>
            <a:ext cx="365760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本模块实验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43252"/>
            <a:ext cx="3657600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A38"/>
                </a:solidFill>
                <a:latin typeface="Consolas"/>
              </a:rPr>
              <a:t>lab01_server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719324"/>
            <a:ext cx="3657600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2181F"/>
                </a:solidFill>
                <a:latin typeface="Arial"/>
              </a:rPr>
              <a:t>CAD / IT 视角：仓库与服务端配置。跑完会看到 N7A 仓库骨架。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4502404"/>
            <a:ext cx="329184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4575556"/>
            <a:ext cx="3200400" cy="278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onsolas"/>
              </a:rPr>
              <a:t>□ 做完请跑 csh verify.csh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dvc_get_system — 先确认你在用哪一套 DVC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dvc_get_system [--mod dop|dvc|dqi|dcm|dfa] [--root_path]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--mod &lt;模块&gt;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选择 DOP 平台子模块：dop / dvc / dqi / dcm / dfa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0344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--root_path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70344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只输出该模块根目录，便于脚本取值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59481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105785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多人共用工具区、版本升级后确认生效版本，或与 DOP 其它子模块联调时第一件事。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614170"/>
            <a:ext cx="4937760" cy="155752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7" y="2107946"/>
            <a:ext cx="4535424" cy="902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dvc_get_system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DVC_VERSON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2020_1115a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dvc_get_system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--mod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dvc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--root_path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D8A65E"/>
                </a:solidFill>
                <a:latin typeface="Consolas"/>
              </a:rPr>
              <a:t>/tmp/qwenwork/dvc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回显里的 DVC_VERSON 是原版拼写（源码如此），脚本取值别写成 DVC_VERSION。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dvc_init_server — 一个命令管 SVN 的两种模式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dvc_init_server [--root &lt;路径&gt;] [--mode file|svn] [--host &lt;h&gt;] [--port &lt;p&gt;] [start|stop|restart|status]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93112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33883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33883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04007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640584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640584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 数据根目录，会登记进 .dop/env/SVN_ROOT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896615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93319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--mode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93319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不启进程，直接读写共享盘（NFS）上的仓库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189224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22580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--mode svn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3225800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以 svnserve 守护进程提供 svn://host:port 服务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481831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518407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start|stop|restart|status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2" y="3518407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生命周期动作；省略即 start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774440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920744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为团队选一种共享半径，并负责 svnserve 的启停与状态查看。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614170"/>
            <a:ext cx="4937760" cy="1943100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7" y="2107946"/>
            <a:ext cx="4535424" cy="1288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dvc_init_server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.../train/svn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--mode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file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SVN_MODE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file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SVN_ROOT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/tmp/qwenwork/train/dvc-labs/train/svn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SVN_URL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file:///tmp/qwenwork/train/dvc-labs/train/svn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DVC 解析配置的顺序是「本地 .dop/env → 服务器 .dop/env → shell 变量 → 默认」；命令行里 setenv 往往被旧的本档 .dop/env 覆盖，排错时先看 .dop/env 而不是 echo $SVN_MODE。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M1 · lab01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1-2 · 命令落地 + file 模式初始化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先让机器上存在可用的 66 支命令，再把 SVN 根指到训练目录。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159105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lab01_server.csh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936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cd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/path/to/dvc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&amp;&amp;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make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bin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source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../dvc-labs/env.csh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dvc_init_server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$SVN_ROOT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--mode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file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dvc_get_server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--info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20172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547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#</a:t>
            </a:r>
            <a:r>
              <a:rPr sz="1150">
                <a:solidFill>
                  <a:srgbClr val="7C8998"/>
                </a:solidFill>
                <a:latin typeface="Consolas"/>
              </a:rPr>
              <a:t>#### STEP 1  命令是否可用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DVC_VERSON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2020_1115a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D8A65E"/>
                </a:solidFill>
                <a:latin typeface="Consolas"/>
              </a:rPr>
              <a:t>/tmp/qwenwork/dvc/bin/dvc_create_project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#</a:t>
            </a:r>
            <a:r>
              <a:rPr sz="1150">
                <a:solidFill>
                  <a:srgbClr val="7C8998"/>
                </a:solidFill>
                <a:latin typeface="Consolas"/>
              </a:rPr>
              <a:t>#### STEP 2  file 模式初始化（不啟服務進程）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SVN_MODE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file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SVN_URL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file:///tmp/qwenwork/train/dvc-labs/train/svn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3981754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219498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dvc_create_project 的路径是否在 $DVC_HOME/bin 下？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SVN_URL 是否以 file:/// 开头（不是 :svn_root 这类占位值）？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M1 · lab01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3-4 · 建项目仓库，看清三个元数据目录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create_project 做的不只是 svnadmin create：它同时铺好 DVC 的语义骨架。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159105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lab01_server.csh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936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dvc_create_project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list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file://$SVN_ROOT/N7A/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list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.../N7A/.dvc/env/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cat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.../N7A/.dvc/README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3363163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270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Create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Respository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.dqc/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.dvc/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.htm/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---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元資料目錄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.dvc/env/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內容：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DESIGN_PROJT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DVC_VERSION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---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專案級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README：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#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Directory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*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*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Author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root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*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Created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20260904_212120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917186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5154929"/>
            <a:ext cx="4864608" cy="8435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三个元数据目录的含义能各说一句吗（配置/指标/报告）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README 里的 Author 是谁？（这就是最早的审计线索）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conf/ 为什么不在版本树里？（它属于仓库本体，不是版本内容）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38928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572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提示   </a:t>
            </a:r>
            <a:r>
              <a:rPr sz="1200">
                <a:solidFill>
                  <a:srgbClr val="8A97A6"/>
                </a:solidFill>
                <a:latin typeface="Arial"/>
              </a:rPr>
              <a:t>conf 模板里 anon-access = write —— 下一步必须收紧。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CONCEPT · 权限模型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仓库配置三件套与共享半径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181901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7694" y="1696466"/>
            <a:ext cx="373287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作用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1733" y="1696466"/>
            <a:ext cx="288226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默认值的风险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5169" y="1696466"/>
            <a:ext cx="181901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训练里的处置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61642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98218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svnserve.conf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7694" y="1998218"/>
            <a:ext cx="373287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realm、匿名/认证权限、指向下面两档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1733" y="1998218"/>
            <a:ext cx="288226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anon-access = write（匿名可写）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05169" y="1998218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改 none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73998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310574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passwd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7694" y="2310574"/>
            <a:ext cx="373287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用户名 = 口令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1733" y="2310574"/>
            <a:ext cx="288226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示例账号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5169" y="2310574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只留必要账号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86355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622931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authz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7694" y="2622931"/>
            <a:ext cx="373287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按仓库内路径授权（正好对应 DVC 层级）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1733" y="2622931"/>
            <a:ext cx="288226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无限制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5169" y="2622931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按 phase 收口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898711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173031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191319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DVC 的层级路径就是 authz 的授权单元 —— 这是它能做「按模块授权共享」的根本原因。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SUMMARY · 本模块小结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M1 · 带走这四句话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69034"/>
            <a:ext cx="530352" cy="274320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2389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68732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先 make bin，再谈命令：PATH 里没有 dvc_* 时一切报错都不是 DVC 的错。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16861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71725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335149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file 模式 = 共享盘 + 组权限；svn 模式 = 网络 + 账号；命令层完全一致。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64687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19551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2982975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create_project 生成的是「仓库 + 语义骨架」，不是空目录。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12514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66737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3080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模板默认匿名可写，共享之前先改 anon-access 与 authz。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351781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534661"/>
            <a:ext cx="1105783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9A63C"/>
                </a:solidFill>
                <a:latin typeface="Arial"/>
              </a:rPr>
              <a:t>下一模块：M2 · 项目与上下文：让命令知道你在哪个项目里工作。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4630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194560" cy="29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97A6"/>
                </a:solidFill>
                <a:latin typeface="Consolas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2194560" cy="118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E9A63C"/>
                </a:solidFill>
                <a:latin typeface="Arial"/>
              </a:rPr>
              <a:t>M02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051560"/>
            <a:ext cx="8046720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M02 · 让命令有记忆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8138160" cy="636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4F7FA"/>
                </a:solidFill>
                <a:latin typeface="Arial"/>
              </a:rPr>
              <a:t>项目与工作区：上下文是怎么形成的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468880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2523744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52928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检出项目到工作目录，观察 .dop/env 的形成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578098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3632962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看得见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2146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两个用户目录 + PROJT_PATH=_ 的独立上下文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687316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4742180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带得走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071364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一套能发给全组的 CSHRC/env.csh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6309360"/>
            <a:ext cx="8138160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本页是本模块的地图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GOAL · 本模块要达成的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33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4F7FA"/>
                </a:solidFill>
                <a:latin typeface="Arial"/>
              </a:rPr>
              <a:t>本模块结束时，你能解释「命令为什么知道项目是谁」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7764"/>
            <a:ext cx="6400800" cy="177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说明 DESIGN_PROJT / PROJT_PATH 从哪来、存在哪、谁改它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用 dvc_checkout_project 建立工作区并解释默认检出深度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区分 --local / --global / --server 三种作用域并正确使用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在同一台机器上并行维护两个工作区（模拟两名成员）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667764"/>
            <a:ext cx="4023360" cy="411480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667764"/>
            <a:ext cx="402336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1740916"/>
            <a:ext cx="365760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本模块实验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43252"/>
            <a:ext cx="3657600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A38"/>
                </a:solidFill>
                <a:latin typeface="Consolas"/>
              </a:rPr>
              <a:t>lab02_project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719324"/>
            <a:ext cx="3657600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2181F"/>
                </a:solidFill>
                <a:latin typeface="Arial"/>
              </a:rPr>
              <a:t>PM 与工程师双视角：同一仓库、两份上下文、互不干扰。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4502404"/>
            <a:ext cx="329184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4575556"/>
            <a:ext cx="3200400" cy="278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onsolas"/>
              </a:rPr>
              <a:t>□ 做完请跑 csh verify.csh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dvc_checkout_project — 把仓库挂到本地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dvc_checkout_project [--force] &lt;项目&gt; [&lt;PROJT_PATH&gt;]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&lt;项目&gt;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已存在的项目代号（dvc_create_project 建出来的）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0344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&lt;PROJT_PATH&gt;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70344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本地检出根；给 . 或 .. 会被改写成 _；省略时用项目名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59481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996057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--force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2996057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检出根里已有别的项目的数据时，清掉重来（否则报错退出）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252089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88665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--recursive / --depth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2" y="3288665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默认 files：只取本层，子层数据之后按需取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544697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691001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进项目第一步。它只取项目根的文件与三个元数据目录，不是把整棵树拖下来。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614170"/>
            <a:ext cx="4937760" cy="2234641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7" y="2107946"/>
            <a:ext cx="4535424" cy="15799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dvc_checkout_project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_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Checkout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Respository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SETP: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PROJT_PATH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_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Checked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out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8.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dvc_get_project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--info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PROJT_PATH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_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DESIGN_PROJT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同一个 _ 目录只能属于一个项目；跨项目复用目录必须 --force，否则会明确拒绝你。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dvc_set_env / dvc_get_env — 上下文的写入与读取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dvc_set_env [--local|--global|--server] [--reset] &lt;VAR&gt; [&lt;值&gt;]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（默认）/ --local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$PWD/.dop/env/ —— 当前目录，随目录而变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0344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70344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$HOME/.dop/env/ —— 本人所有目录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59481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996057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2996057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$SVN_ROOT/.dop/env/ —— 全项目共享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252089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88665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--design &lt;dir&gt;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2" y="3288665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写进该设计目录的 .dvc/，随数据一起入库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544697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3581273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--all / --script / --csv / --tcl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9192" y="3581273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读取与批量输出，喂给流程脚本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837305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983609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所有 dvc_* 命令的行为都由这些变量决定；作用域决定「谁受影响」。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1614170"/>
            <a:ext cx="4937760" cy="2460345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007" y="2107946"/>
            <a:ext cx="4535424" cy="1805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dvc_set_project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SETP: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DESIGN_PROJT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dvc_set_env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--server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TECHLIB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/path/to/data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SETP: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TECHLIB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/tmp/qwenwork/train/dvc-labs/data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dvc_get_env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--all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DESIGN_PROJT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PROJT_PATH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_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SVN_MODE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file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回显前缀 SETP: 是原版拼写；--server 需要能看见 SVN_ROOT 路径，跨网段团队请改在服务器侧执行。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M2 · lab02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1-2 · 建立两个工作区（模拟两名成员）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同名仓库、不同工作目录：这正是团队共用的最小模型。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182514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lab02_project.csh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mkdir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-p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$TRAIN_ROOT/users/u01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&amp;&amp;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cd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$_/../../..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dvc_checkout_project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N7A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_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dvc_get_env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--all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dvc_set_env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--server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TECHLIB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dvc_list_project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91175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2257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#</a:t>
            </a:r>
            <a:r>
              <a:rPr sz="1150">
                <a:solidFill>
                  <a:srgbClr val="7C8998"/>
                </a:solidFill>
                <a:latin typeface="Consolas"/>
              </a:rPr>
              <a:t>#### STEP 1  把專案掛到自己的工作區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Checkout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Respository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SETP: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PROJT_PATH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_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PROJT_PATH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_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DESIGN_PROJT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---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本地記住的上下文：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DESIGN_PROJT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PROJT_PATH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SVN_MODE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SVN_ROOT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691786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929530"/>
            <a:ext cx="4864608" cy="8435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两个工作区的 .dop/env 是否互不影响？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--server 变量为什么两个工作区都能读到？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dvc_list_project 需要本地有数据吗？（不需要：它问的是服务器）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M2 · lab02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3 · 换项目时的工作区冲突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这是最容易被误用「rm -rf」解决的地方，正确工具是 --force。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159105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lab02_project.csh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936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dvc_checkout_project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N7B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_</a:t>
            </a:r>
            <a:r>
              <a:rPr sz="1200">
                <a:solidFill>
                  <a:srgbClr val="C6D0DA"/>
                </a:solidFill>
                <a:latin typeface="Consolas"/>
              </a:rPr>
              <a:t>        </a:t>
            </a:r>
            <a:r>
              <a:rPr sz="1200">
                <a:solidFill>
                  <a:srgbClr val="7C8998"/>
                </a:solidFill>
                <a:latin typeface="Consolas"/>
              </a:rPr>
              <a:t># 同目录，另一项目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F4F7FA"/>
                </a:solidFill>
                <a:latin typeface="Consolas"/>
              </a:rPr>
              <a:t>（报错）ERROR: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there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is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existing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project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checkout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data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      </a:t>
            </a:r>
            <a:r>
              <a:rPr sz="1200">
                <a:solidFill>
                  <a:srgbClr val="F4F7FA"/>
                </a:solidFill>
                <a:latin typeface="Consolas"/>
              </a:rPr>
              <a:t>use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--force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option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to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replace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it.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dvc_checkout_project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--force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N7B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155752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902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Checkout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Respository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PROJT_PATH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_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DESIGN_PROJT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（第二个工作区与第一个互不干扰）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3655695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893439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为什么 DVC 要拒绝你，而不是默默覆盖？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真实项目里，什么时候才允许 --force？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38928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572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提示   </a:t>
            </a:r>
            <a:r>
              <a:rPr sz="1200">
                <a:solidFill>
                  <a:srgbClr val="8A97A6"/>
                </a:solidFill>
                <a:latin typeface="Arial"/>
              </a:rPr>
              <a:t>结论：一台机器多个项目 → 一个项目一个检出根，而不是反复 --force。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CONCEPT · 配置分层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作用域怎么选：三种变量的正确用法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139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作用域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2392" y="1696466"/>
            <a:ext cx="266961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放在哪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3177" y="1696466"/>
            <a:ext cx="203166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谁看得到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10" y="1696466"/>
            <a:ext cx="41581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适合放什么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61642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98218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2392" y="1998218"/>
            <a:ext cx="266961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&lt;工作目录&gt;/.dop/env/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3177" y="1998218"/>
            <a:ext cx="203166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只有这个目录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6010" y="1998218"/>
            <a:ext cx="415817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某次运行的临时上下文、PROJT_PATH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73998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310574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--global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2392" y="2310574"/>
            <a:ext cx="266961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~/.dop/env/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3177" y="2310574"/>
            <a:ext cx="203166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本人所有目录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6010" y="2310574"/>
            <a:ext cx="415817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个人偏好、默认项目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86355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622931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62392" y="2622931"/>
            <a:ext cx="266961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&lt;SVN_ROOT&gt;/.dop/env/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3177" y="2622931"/>
            <a:ext cx="203166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全项目成员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6010" y="2622931"/>
            <a:ext cx="415817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工艺库路径、NETLIST_STATE、RELEASE_TAG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898711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2935287"/>
            <a:ext cx="139371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--design &lt;目录&gt;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62392" y="2935287"/>
            <a:ext cx="266961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&lt;目录&gt;/.dvc/env/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3177" y="2935287"/>
            <a:ext cx="203166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随该版本入库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6010" y="2935287"/>
            <a:ext cx="415817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DESIGN_PATH、DESIGN_CONTR、DVC_VERSION（由命令自动写）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211068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485388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503676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判断标准只有一条：这个值是「我的偏好」还是「团队事实」。团队事实永远往 --server / --design 放。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SUMMARY · 本模块小结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M2 · 带走这四句话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69034"/>
            <a:ext cx="530352" cy="274320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2389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68732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命令不是无状态的：DESIGN_* 与 PROJT_PATH 决定了它在动谁。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16861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71725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335149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一个检出根只服务一个项目，多项目请多开目录，别靠 --force。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64687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19551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2982975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--server / --design 变量是团队事实，--local/--global 是个人偏好。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12514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66737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3080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list 类命令问服务器，不占本地空间 —— 这是「先看再拉」的基础。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351781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534661"/>
            <a:ext cx="1105783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9A63C"/>
                </a:solidFill>
                <a:latin typeface="Arial"/>
              </a:rPr>
              <a:t>下一模块：M3 · 目录与命名：把项目的流程结构固化成目录树。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4630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194560" cy="29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97A6"/>
                </a:solidFill>
                <a:latin typeface="Consolas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2194560" cy="118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E9A63C"/>
                </a:solidFill>
                <a:latin typeface="Arial"/>
              </a:rPr>
              <a:t>M03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051560"/>
            <a:ext cx="8046720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M03 · 团队契约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8138160" cy="636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4F7FA"/>
                </a:solidFill>
                <a:latin typeface="Arial"/>
              </a:rPr>
              <a:t>目录模型与命名规范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468880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2523744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52928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铺出四层路径，再用占位符改一层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578098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3632962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看得见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2146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P1-trial/chip/000-DATA/2021_0301-foundation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687316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4742180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带得走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071364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一套 DEFINE_* 规则与命名评审清单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6309360"/>
            <a:ext cx="8138160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本页是本模块的地图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GOAL · 本模块要达成的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33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4F7FA"/>
                </a:solidFill>
                <a:latin typeface="Arial"/>
              </a:rPr>
              <a:t>本模块结束时，你能把项目的流程结构写成目录规范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7764"/>
            <a:ext cx="6400800" cy="177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说清 Phase / Block / Stage / Version 各由谁定义、多久变一次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用 dvc_create_folder 一次铺满四层，或用 _ / . 只动需要的层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解释 DVC_PATH 为什么是「从右往左」解析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为团队写出可评审的命名规则（含正则）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667764"/>
            <a:ext cx="4023360" cy="411480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667764"/>
            <a:ext cx="402336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1740916"/>
            <a:ext cx="365760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本模块实验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43252"/>
            <a:ext cx="3657600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A38"/>
                </a:solidFill>
                <a:latin typeface="Consolas"/>
              </a:rPr>
              <a:t>lab03_structure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719324"/>
            <a:ext cx="3657600" cy="3041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2181F"/>
                </a:solidFill>
                <a:latin typeface="Arial"/>
              </a:rPr>
              <a:t>设计经理视角：为新模块开流程节点，一条命令到位。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4502404"/>
            <a:ext cx="329184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4575556"/>
            <a:ext cx="3200400" cy="278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onsolas"/>
              </a:rPr>
              <a:t>□ 做完请跑 csh verify.csh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CONCEPT · 分层责任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五层语义：谁定义、多久变、错了会怎样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132991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层级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8597" y="1696466"/>
            <a:ext cx="127321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定义者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2975" y="1696466"/>
            <a:ext cx="19536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变化频率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7836" y="1696466"/>
            <a:ext cx="184027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命名规则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9284" y="1696466"/>
            <a:ext cx="365489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命名失控的代价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961642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1998218"/>
            <a:ext cx="132991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8597" y="1998218"/>
            <a:ext cx="127321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项目经理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2975" y="1998218"/>
            <a:ext cx="19536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项目生命周期一次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7836" y="1998218"/>
            <a:ext cx="18402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项目代号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9284" y="1998218"/>
            <a:ext cx="365489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仓库散落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272538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309114"/>
            <a:ext cx="132991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Phase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8597" y="2309114"/>
            <a:ext cx="127321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项目经理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2975" y="2309114"/>
            <a:ext cx="19536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每个里程碑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7836" y="2309114"/>
            <a:ext cx="18402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P&lt;数字&gt;-&lt;主题&gt;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9284" y="2309114"/>
            <a:ext cx="365489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阶段无法汇总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583434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2620010"/>
            <a:ext cx="132991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8597" y="2620010"/>
            <a:ext cx="127321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设计经理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2975" y="2620010"/>
            <a:ext cx="19536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架构定案后基本不变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7836" y="2620010"/>
            <a:ext cx="18402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模块英文名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9284" y="2620010"/>
            <a:ext cx="365489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同名模块互相覆盖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894330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2930906"/>
            <a:ext cx="132991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8597" y="2930906"/>
            <a:ext cx="127321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流程约定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975" y="2930906"/>
            <a:ext cx="19536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流程改版时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27836" y="2930906"/>
            <a:ext cx="18402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&lt;数字&gt;-&lt;流程&gt;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9284" y="2930906"/>
            <a:ext cx="365489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工具脚本匹配失败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205226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3241802"/>
            <a:ext cx="132991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Version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8597" y="3241802"/>
            <a:ext cx="127321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设计工程师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72975" y="3241802"/>
            <a:ext cx="19536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每次跑批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27836" y="3241802"/>
            <a:ext cx="18402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&lt;日期&gt;-&lt;备注&gt;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9284" y="3241802"/>
            <a:ext cx="365489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无法复现签核版本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3516122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3552698"/>
            <a:ext cx="132991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Container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8597" y="3552698"/>
            <a:ext cx="127321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设计工程师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72975" y="3552698"/>
            <a:ext cx="19536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每个 corner/step/tb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27836" y="3552698"/>
            <a:ext cx="18402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自由命名（要有语义）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9284" y="3552698"/>
            <a:ext cx="365489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评审无法定位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3827017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" y="4101337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4119625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越靠上的层越稳定、越该由管理角色统一；越靠下的层越自由，但必须能被脚本解释。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dvc_create_folder — 一条命令铺四层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dvc_create_folder &lt;phase&gt;/&lt;block&gt;/&lt;stage&gt;/&lt;version&gt;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&lt;DVC_PATH&gt;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四层路径；某段为 _ / . / : 时该层沿用当前上下文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0344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（别名）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70344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dvc_create_design 指向同一支脚本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59481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105785"/>
            <a:ext cx="58978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内部依次调用 create_phase → block → stage → version；已存在的层跳过并提示。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614170"/>
            <a:ext cx="4937760" cy="258729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7" y="2107946"/>
            <a:ext cx="4535424" cy="1932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dvc_create_folder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P1-trial/chip/000-DATA/2021_0301-foundation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DVC_PATH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P1-trial/chip/000-DATA/2021_0301-foundation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Create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Phase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P1-trial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Create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Block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chip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Create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Stage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000-DATA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Create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2021_0301-foundation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Version 层会额外写 .dqc（指标）与 DESIGN_CONTR=.（默认容器就是版本根本身）——也就是说：不建容器也能直接用。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M3 · lab03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1 · 铺路径并立刻检出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create 只动服务器；要用它，还得 checkout 把语义拉到本地。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199339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lab03_structure.csh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3386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P1-trial/chip/000-DATA/2021_0301-foundation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dvc_checkout_folder</a:t>
            </a: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F4F7FA"/>
                </a:solidFill>
                <a:latin typeface="Consolas"/>
              </a:rPr>
              <a:t>P1-trial/chip/000-DATA/2021_0301-foundation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ls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-a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ls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-a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_/P1-trial/chip/000-DATA/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780080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21253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DVC_PATH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/P1-trial/chip/000-DATA/2021_0301-foundation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Checkout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Phase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P1-trial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Checkout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Block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P1-trial/chip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Checkout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Stage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000-DATA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Checkout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2021_0301-foundation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.block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:container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:phase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:stage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:version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_（本地）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560112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797856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本地多出 5 个 :xxx 链接，说明上下文已建立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版本目录里是否看到 .dvc / .dqc / .htm 三个元数据目录？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M3 · lab03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2-3 · 占位符与「从右往左」解析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日常最高频的动作是「只换版本」，靠的就是路径占位符。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159105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lab03_structure.csh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936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_/_/520-sta/2021_0601-rc0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2021_0519-eco</a:t>
            </a:r>
            <a:r>
              <a:rPr sz="1200">
                <a:solidFill>
                  <a:srgbClr val="C6D0DA"/>
                </a:solidFill>
                <a:latin typeface="Consolas"/>
              </a:rPr>
              <a:t>        </a:t>
            </a:r>
            <a:r>
              <a:rPr sz="1200">
                <a:solidFill>
                  <a:srgbClr val="7C8998"/>
                </a:solidFill>
                <a:latin typeface="Consolas"/>
              </a:rPr>
              <a:t># 只给一段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dvc_get_folder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--info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dvc_list_stage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400-APR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234641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5799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DESIGN_PHASE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P2-stable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DESIGN_BLOCK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cpu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DESIGN_STAGE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400-APR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DESIGN_VERSN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2021_0519-eco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dvc_list_stage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400-APR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2021_0512-impl005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2021_0519-eco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014673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252417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单段路径被当成 Version，不是 Stage —— 这条规则记住了吗？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如果 stage 也要换，最少要写几段？（答：两段）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38928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572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提示   </a:t>
            </a:r>
            <a:r>
              <a:rPr sz="1200">
                <a:solidFill>
                  <a:srgbClr val="8A97A6"/>
                </a:solidFill>
                <a:latin typeface="Arial"/>
              </a:rPr>
              <a:t>让学员现场故意写错一次（只给 stage 名），观察 DVC 把谁当版本 —— 错误最快被消化。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dvc_list_stage / dvc_list_version / dvc_list_container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dvc_list_&lt;层级&gt; [-v|--verbose] [--info] [--recursive] [&lt;名称&gt;]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（无选项）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只列下一层名字，自动过滤 .dvc / .dqc / .htm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0344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-v | --verbose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70344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 list -v：带修订号、作者、日期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59481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996057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2996057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 info：这一层的仓库元信息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252089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88665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--recursive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2" y="3288665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递归列全部路径（做交付清单就靠它）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544697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691001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管理者的进度仪表盘就是这三条 list：谁、何时、跑了几版、有哪些 corner。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614170"/>
            <a:ext cx="4937760" cy="197601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7" y="2107946"/>
            <a:ext cx="4535424" cy="13213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dvc_list_stage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400-APR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    </a:t>
            </a:r>
            <a:r>
              <a:rPr sz="1150">
                <a:solidFill>
                  <a:srgbClr val="F4F7FA"/>
                </a:solidFill>
                <a:latin typeface="Consolas"/>
              </a:rPr>
              <a:t>318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n7a05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2021-05-12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"</a:t>
            </a:r>
            <a:r>
              <a:rPr sz="1150">
                <a:solidFill>
                  <a:srgbClr val="F4F7FA"/>
                </a:solidFill>
                <a:latin typeface="Consolas"/>
              </a:rPr>
              <a:t>2021_0512-impl005/</a:t>
            </a:r>
            <a:r>
              <a:rPr sz="1150">
                <a:solidFill>
                  <a:srgbClr val="F4F7FA"/>
                </a:solidFill>
                <a:latin typeface="Consolas"/>
              </a:rPr>
              <a:t>"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    </a:t>
            </a:r>
            <a:r>
              <a:rPr sz="1150">
                <a:solidFill>
                  <a:srgbClr val="F4F7FA"/>
                </a:solidFill>
                <a:latin typeface="Consolas"/>
              </a:rPr>
              <a:t>331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n7a07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2021-05-19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"</a:t>
            </a:r>
            <a:r>
              <a:rPr sz="1150">
                <a:solidFill>
                  <a:srgbClr val="F4F7FA"/>
                </a:solidFill>
                <a:latin typeface="Consolas"/>
              </a:rPr>
              <a:t>2021_0519-eco/</a:t>
            </a:r>
            <a:r>
              <a:rPr sz="1150">
                <a:solidFill>
                  <a:srgbClr val="F4F7FA"/>
                </a:solidFill>
                <a:latin typeface="Consolas"/>
              </a:rPr>
              <a:t>"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dvc_list_version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2021_0512-impl005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place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route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list 读的是服务器：未 checkin 的东西不会出现在这里。用它验证「同事到底提没提交」非常有效。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CONCEPT · 规范落处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把命名规范写进仓库：DEFINE_* 规则档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181901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规则档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7694" y="1696466"/>
            <a:ext cx="256329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内容形态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2153" y="1696466"/>
            <a:ext cx="426449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例子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17819" y="1696466"/>
            <a:ext cx="160636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谁负责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61642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98218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DEFINE_PHASE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7694" y="1998218"/>
            <a:ext cx="256329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名字 或 正则 + 标题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2153" y="1998218"/>
            <a:ext cx="426449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P4-validation；P(\d+)-(\S+)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7819" y="1998218"/>
            <a:ext cx="160636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项目经理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73998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310574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DEFINE_BLOCK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7694" y="2310574"/>
            <a:ext cx="256329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模块清单 或正则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2153" y="2310574"/>
            <a:ext cx="426449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chip / cpu / ddr / pcie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7819" y="2310574"/>
            <a:ext cx="160636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设计经理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86355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622931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DEFINE_STAGE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7694" y="2622931"/>
            <a:ext cx="256329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&lt;数字&gt;-&lt;流程&gt;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2153" y="2622931"/>
            <a:ext cx="426449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500-TIMING、700-TAPEOUT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7819" y="2622931"/>
            <a:ext cx="160636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流程负责人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898711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2935287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DEFINE_VERSION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87694" y="2935287"/>
            <a:ext cx="256329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日期语法正则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2153" y="2935287"/>
            <a:ext cx="426449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(\d+)_(\d+)-(\S+) → 2021_0512-impl005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7819" y="2935287"/>
            <a:ext cx="160636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工程师共识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211068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3247644"/>
            <a:ext cx="18190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DEFINE_FILE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87694" y="3247644"/>
            <a:ext cx="256329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默认文件名与类型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52153" y="3247644"/>
            <a:ext cx="426449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VLG_FILE=design.v；STA_RPT=sta.rpt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17819" y="3247644"/>
            <a:ext cx="160636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流程开发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523424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3797744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3816032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放在 &lt;DVC_HOME&gt;/etc/rule/ 的是公司级默认；项目可在自己的 .dvc/ 里覆盖 —— 规范要有出处，才有人肯守。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SUMMARY · 本模块小结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M3 · 带走这四句话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69034"/>
            <a:ext cx="530352" cy="274320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2389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68732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四层路径 = 团队契约：Phase/Block/Stage 稳定，Version/Container 自由。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16861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71725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335149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create 动服务器、checkout 动本地，两者总是一前一后出现。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64687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19551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2982975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DVC_PATH 从右往左解析，单段一定是 Version；要改 stage 就给两段。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12514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66737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3080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命名规则要落成 DEFINE_* 档，否则「规范」只存在于会议记录里。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351781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534661"/>
            <a:ext cx="1105783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9A63C"/>
                </a:solidFill>
                <a:latin typeface="Arial"/>
              </a:rPr>
              <a:t>下一模块：M4 · 对象与容器：把 EDA 产出真正收进版本库。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4630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194560" cy="29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97A6"/>
                </a:solidFill>
                <a:latin typeface="Consolas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2194560" cy="118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E9A63C"/>
                </a:solidFill>
                <a:latin typeface="Arial"/>
              </a:rPr>
              <a:t>M04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051560"/>
            <a:ext cx="8046720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M04 · 工程师的最高频动作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8138160" cy="636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4F7FA"/>
                </a:solidFill>
                <a:latin typeface="Arial"/>
              </a:rPr>
              <a:t>对象与容器：把 EDA 产出收进版本库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468880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2523744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52928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建容器、copy / link 收数据、改名与删除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578098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3632962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看得见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2146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route 容器里 4 个对象，服务器已可见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687316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4742180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带得走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071364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copy 还是 link 的判断表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6309360"/>
            <a:ext cx="8138160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本页是本模块的地图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GOAL · 本模块要达成的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33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4F7FA"/>
                </a:solidFill>
                <a:latin typeface="Arial"/>
              </a:rPr>
              <a:t>本模块结束时，你能把一次跑批结果完整入库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7764"/>
            <a:ext cx="6400800" cy="177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按评审粒度建立容器，并解释容器与版本的关系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为不同数据正确选择 dvc_copy_object 或 dvc_link_object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用 rename / delete 整理容器内容，且理解它们只动本地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用 list + svn status 证明「哪些还没进仓库」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667764"/>
            <a:ext cx="4023360" cy="411480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667764"/>
            <a:ext cx="402336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1740916"/>
            <a:ext cx="365760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本模块实验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43252"/>
            <a:ext cx="3657600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A38"/>
                </a:solidFill>
                <a:latin typeface="Consolas"/>
              </a:rPr>
              <a:t>lab05_objects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719324"/>
            <a:ext cx="3657600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2181F"/>
                </a:solidFill>
                <a:latin typeface="Arial"/>
              </a:rPr>
              <a:t>工程师视角：一个版本下 5 个 step 容器，全部可复查。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4502404"/>
            <a:ext cx="329184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4575556"/>
            <a:ext cx="3200400" cy="278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onsolas"/>
              </a:rPr>
              <a:t>□ 做完请跑 csh verify.csh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dvc_create_container — 版本的子目录就是容器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dvc_create_container [--force] &lt;DESIGN_CONTR&gt;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&lt;DESIGN_CONTR&gt;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容器名，如 route、tt_0p80V_25C、base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0344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（别名）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70344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版本根本身可当容器，名字是 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59481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105785"/>
            <a:ext cx="58978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同一版本下要区分 corner / step / testbench 时用；它建目录的同时已经把容器检出到本地。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614170"/>
            <a:ext cx="4937760" cy="178323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7" y="2107946"/>
            <a:ext cx="4535424" cy="11285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dvc_create_container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place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dvc_create_container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route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dvc_list_version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place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route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不必再 dvc_checkout_container：create 已以 --depth infinity 拉好，并自动设为当前容器。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dvc_set_container / dvc_get_container — :container 是怎么来的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dvc_set_container &lt;DESIGN_CONTR&gt;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&lt;DESIGN_CONTR&gt;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容器名；填 . 回到版本根容器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0344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副作用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70344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重建 :container 链接并更新 CONTAINER_DIR / CONTAINER_PATH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59481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105785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在同一版本的多组结果间来回切换，而不重新检出。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614170"/>
            <a:ext cx="4937760" cy="178323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7" y="2107946"/>
            <a:ext cx="4535424" cy="11285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dvc_set_container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route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Path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':version/route'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SETP: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DESIGN_CONTR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route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ls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-l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|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grep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container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:container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-&gt;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:version/route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容器必须真实存在，否则报 “can not find container”。这是上下文错乱最常见的信号。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dvc_copy_object — 把产出实体收进当前容器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dvc_copy_object &lt;SRC_FILE&gt; [&lt;DEST_NAME&gt;]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&lt;SRC_FILE&gt;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run 目录里的文件或目录（相对/绝对皆可）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0344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&lt;DEST_NAME&gt;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70344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容器内目标名；省略则沿用源名；同名目标会被整体替换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59481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105785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所有需要交付、复现的数据都走它：文件、目录都支持。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614170"/>
            <a:ext cx="4937760" cy="200893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7" y="2107946"/>
            <a:ext cx="4535424" cy="13542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.../cpu.v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cpu.v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(</a:t>
            </a:r>
            <a:r>
              <a:rPr sz="1150">
                <a:solidFill>
                  <a:srgbClr val="F4F7FA"/>
                </a:solidFill>
                <a:latin typeface="Consolas"/>
              </a:rPr>
              <a:t>bin</a:t>
            </a:r>
            <a:r>
              <a:rPr sz="1150">
                <a:solidFill>
                  <a:srgbClr val="F4F7FA"/>
                </a:solidFill>
                <a:latin typeface="Consolas"/>
              </a:rPr>
              <a:t>)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cpu.v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.../reports/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report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  </a:t>
            </a:r>
            <a:r>
              <a:rPr sz="1150">
                <a:solidFill>
                  <a:srgbClr val="F4F7FA"/>
                </a:solidFill>
                <a:latin typeface="Consolas"/>
              </a:rPr>
              <a:t>report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(</a:t>
            </a:r>
            <a:r>
              <a:rPr sz="1150">
                <a:solidFill>
                  <a:srgbClr val="F4F7FA"/>
                </a:solidFill>
                <a:latin typeface="Consolas"/>
              </a:rPr>
              <a:t>bin</a:t>
            </a:r>
            <a:r>
              <a:rPr sz="1150">
                <a:solidFill>
                  <a:srgbClr val="F4F7FA"/>
                </a:solidFill>
                <a:latin typeface="Consolas"/>
              </a:rPr>
              <a:t>)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report/sta.rpt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(</a:t>
            </a:r>
            <a:r>
              <a:rPr sz="1150">
                <a:solidFill>
                  <a:srgbClr val="F4F7FA"/>
                </a:solidFill>
                <a:latin typeface="Consolas"/>
              </a:rPr>
              <a:t>bin</a:t>
            </a:r>
            <a:r>
              <a:rPr sz="1150">
                <a:solidFill>
                  <a:srgbClr val="F4F7FA"/>
                </a:solidFill>
                <a:latin typeface="Consolas"/>
              </a:rPr>
              <a:t>)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report/drc.rpt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回显里的 A 只代表「已 svn add」，还没上传。看到 A 不代表别人能看到 —— 必须 commit / checkin。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dvc_link_object — 省空间，但只在同一台机器有效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dvc_link_object &lt;SRC_FILE&gt; [&lt;DEST_NAME&gt;]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&lt;SRC_FILE&gt;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会被 realpath 化成绝对路径写进链接条目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0344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&lt;DEST_NAME&gt;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70344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若同名目标已是目录，链接建在该目录内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59481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105785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GB 级、可重跑的中间产物（GDS / SPEF / SAIF / 波形）用链接，避免仓库膨胀。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614170"/>
            <a:ext cx="4937760" cy="1943100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7" y="2107946"/>
            <a:ext cx="4535424" cy="1288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dvc_link_object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.../bigfile.spef.gz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design.spef.gz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design.spef.gz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ls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-l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:version/route/design.spef.gz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design.spef.gz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-&gt;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/tmp/qwenwork/train/dvc-labs/train/bigfile.spef.gz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换机器、换挂载点、对外交付 —— 链接都会指向空。凡是要给别人看的东西，一律 copy。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dvc_rename_object / dvc_delete_object — 整理容器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dvc_rename_object &lt;对象&gt; &lt;新名&gt;   |   dvc_delete_object &lt;对象&gt;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rename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底层 svn mv --force --parents：保留历史的重命名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0344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70344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仅从本地工作副本标记删除，commit 前可 svn revert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59481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105785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命名不合规范、误收临时文件时用；delete 支持一次给多个对象。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614170"/>
            <a:ext cx="4937760" cy="200893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7" y="2107946"/>
            <a:ext cx="4535424" cy="13542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dvc_rename_object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constraint.sdc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mv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constraint.sdc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design.sdc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constraint.sdc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dvc_delete_object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report/apr.log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report/apr.log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rename / delete 也一样停在本地：svn status 里还有 A/D，就说明仓库还没变。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M4 · lab05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1-2 · 建容器并收三类数据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一次跑批的归档顺序：建容器 → 定当前 → copy 小档 → link 大档。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2494483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lab05_objects.csh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8397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P2-stable/cpu/400-APR/2021_0512-impl005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dvc_checkout_folder</a:t>
            </a: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F4F7FA"/>
                </a:solidFill>
                <a:latin typeface="Consolas"/>
              </a:rPr>
              <a:t>P2-stable/cpu/400-APR/2021_0512-impl005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route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$LAB_DATA/cpu.v</a:t>
            </a: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F4F7FA"/>
                </a:solidFill>
                <a:latin typeface="Consolas"/>
              </a:rPr>
              <a:t>cpu.v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$LAB_DATA/cpu.sdc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constraint.sdc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$LAB_DATA/reports/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report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ls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:version/route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178323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1285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Path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':version/route'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(</a:t>
            </a:r>
            <a:r>
              <a:rPr sz="1150">
                <a:solidFill>
                  <a:srgbClr val="F4F7FA"/>
                </a:solidFill>
                <a:latin typeface="Consolas"/>
              </a:rPr>
              <a:t>bin</a:t>
            </a:r>
            <a:r>
              <a:rPr sz="1150">
                <a:solidFill>
                  <a:srgbClr val="F4F7FA"/>
                </a:solidFill>
                <a:latin typeface="Consolas"/>
              </a:rPr>
              <a:t>)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cpu.v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constraint.sdc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  </a:t>
            </a:r>
            <a:r>
              <a:rPr sz="1150">
                <a:solidFill>
                  <a:srgbClr val="F4F7FA"/>
                </a:solidFill>
                <a:latin typeface="Consolas"/>
              </a:rPr>
              <a:t>report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cpu.v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constraint.sdc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559122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796866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容器名和 step 名一致，别人能一眼看懂吗？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report 目录里三个文件是否都进了工作副本（A 行）？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M4 · lab05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3-4 · 加一个大文件链接并整理命名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先把命名统一，再提交；提交之后再改命名会留下历史噪音。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2026310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lab05_objects.csh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gzip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-c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$LAB_DATA/cpu.v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&gt;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$TRAIN_ROOT/bigfile.spef.gz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dvc_link_object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$TRAIN_ROOT/bigfile.spef.gz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design.spef.gz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dvc_rename_object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constraint.sdc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design.sdc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dvc_delete_object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report/apr.log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status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:version/route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|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grep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'^?'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234641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5799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design.spef.gz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mv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constraint.sdc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report/apr.log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</a:t>
            </a:r>
            <a:r>
              <a:rPr sz="1150">
                <a:solidFill>
                  <a:srgbClr val="D8A65E"/>
                </a:solidFill>
                <a:latin typeface="Consolas"/>
              </a:rPr>
              <a:t>/cpu.v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</a:t>
            </a:r>
            <a:r>
              <a:rPr sz="1150">
                <a:solidFill>
                  <a:srgbClr val="D8A65E"/>
                </a:solidFill>
                <a:latin typeface="Consolas"/>
              </a:rPr>
              <a:t>/design.sdc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</a:t>
            </a:r>
            <a:r>
              <a:rPr sz="1150">
                <a:solidFill>
                  <a:srgbClr val="D8A65E"/>
                </a:solidFill>
                <a:latin typeface="Consolas"/>
              </a:rPr>
              <a:t>/design.spef.gz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</a:t>
            </a:r>
            <a:r>
              <a:rPr sz="1150">
                <a:solidFill>
                  <a:srgbClr val="D8A65E"/>
                </a:solidFill>
                <a:latin typeface="Consolas"/>
              </a:rPr>
              <a:t>/report/sta.rpt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090949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328693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A / D 各代表什么动作？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这些条目此刻在服务器上吗？（还没 —— 下一步 checkin）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38928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572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提示   </a:t>
            </a:r>
            <a:r>
              <a:rPr sz="1200">
                <a:solidFill>
                  <a:srgbClr val="8A97A6"/>
                </a:solidFill>
                <a:latin typeface="Arial"/>
              </a:rPr>
              <a:t>让学员用 svn status 自查，比让讲师说更有效：这是「交付前最后一道」的习惯。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M4 · lab05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5-6 · checkin 前 vs 后：可见性分界线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课程里最重要的一次对比 —— 团队可见性发生在这条命令上。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1356969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lab05_objects.csh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7022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dvc_list_container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route</a:t>
            </a:r>
            <a:r>
              <a:rPr sz="1200">
                <a:solidFill>
                  <a:srgbClr val="C6D0DA"/>
                </a:solidFill>
                <a:latin typeface="Consolas"/>
              </a:rPr>
              <a:t>        </a:t>
            </a:r>
            <a:r>
              <a:rPr sz="1200">
                <a:solidFill>
                  <a:srgbClr val="7C8998"/>
                </a:solidFill>
                <a:latin typeface="Consolas"/>
              </a:rPr>
              <a:t># 提交之前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dvc_checkin_container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route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dvc_list_container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route</a:t>
            </a:r>
            <a:r>
              <a:rPr sz="1200">
                <a:solidFill>
                  <a:srgbClr val="C6D0DA"/>
                </a:solidFill>
                <a:latin typeface="Consolas"/>
              </a:rPr>
              <a:t>        </a:t>
            </a:r>
            <a:r>
              <a:rPr sz="1200">
                <a:solidFill>
                  <a:srgbClr val="7C8998"/>
                </a:solidFill>
                <a:latin typeface="Consolas"/>
              </a:rPr>
              <a:t># 提交之后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653131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9984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---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仓库里现在有什么（尚未提交）：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（无输出）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Adding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cpu.v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Adding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design.sdc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Adding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design.spef.gz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Adding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report/sta.rpt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476.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checkin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之后：design.spef.gz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cpu.v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design.sdc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report/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433163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670907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同一命令两次结果不同，说明什么？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如果对方说拿不到文件，你会先让他跑哪一条？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DECISION · 收纳方式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copy 还是 link：三问判断法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039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359009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判断问题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8771" y="1696466"/>
            <a:ext cx="179977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答「是」→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9713" y="1696466"/>
            <a:ext cx="190508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答「否」→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5968" y="1696466"/>
            <a:ext cx="295821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例子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61642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98218"/>
            <a:ext cx="359009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别人 / 以后还能重新生成吗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8771" y="1998218"/>
            <a:ext cx="179977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link 可用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9713" y="1998218"/>
            <a:ext cx="190508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copy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5968" y="1998218"/>
            <a:ext cx="29582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SPEF 可重跑 → link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73998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310574"/>
            <a:ext cx="359009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跨机器或跨挂载点要能读吗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8771" y="2310574"/>
            <a:ext cx="179977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必须 copy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9713" y="2310574"/>
            <a:ext cx="190508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link 可考虑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5968" y="2310574"/>
            <a:ext cx="29582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交付 GDS → copy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86355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622931"/>
            <a:ext cx="359009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它是不是签核结论的依据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8771" y="2622931"/>
            <a:ext cx="179977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必须 copy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9713" y="2622931"/>
            <a:ext cx="190508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视情况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5968" y="2622931"/>
            <a:ext cx="295821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网表 / SDC → copy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898711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173031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191319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一句规则：能被重新生成的，才允许留链接；作为证据的，一律实体。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SUMMARY · 本模块小结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M4 · 带走这四句话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69034"/>
            <a:ext cx="530352" cy="274320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2389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68732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容器不是目录习惯，而是评审粒度：corner / step / testbench。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16861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71725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335149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copy 与 link 的区别不在体积，而在「谁、何时、在哪还能读到」。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64687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19551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2982975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A / D / M 只描述本地工作副本，checkin / commit 才改变团队视野。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12514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66737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3080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用 dvc_list_container 自查提交结果，用 svn status 自查未提交内容。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351781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534661"/>
            <a:ext cx="1105783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9A63C"/>
                </a:solidFill>
                <a:latin typeface="Arial"/>
              </a:rPr>
              <a:t>下一模块：M5 · 提交与复核：把本地状态清理干净。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4630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194560" cy="29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97A6"/>
                </a:solidFill>
                <a:latin typeface="Consolas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2194560" cy="118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E9A63C"/>
                </a:solidFill>
                <a:latin typeface="Arial"/>
              </a:rPr>
              <a:t>M05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051560"/>
            <a:ext cx="8046720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M05 · 不漏文件、也不带垃圾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8138160" cy="636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4F7FA"/>
                </a:solidFill>
                <a:latin typeface="Arial"/>
              </a:rPr>
              <a:t>提交与复核：四种粒度的取舍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468880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2523744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52928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比较 commit / checkin_container / checkin_version / checkin_folder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578098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3632962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看得见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2146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被清理的临时文件与最终仓库内容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687316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4742180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带得走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071364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团队的提交前检查清单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6309360"/>
            <a:ext cx="8138160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本页是本模块的地图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dvc_commit_container — 只提交已跟踪的变更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dvc_commit_container [&lt;DESIGN_CONTR&gt;]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&lt;DESIGN_CONTR&gt;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省略时用当前容器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813177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你已经精确 add / copy / link / rename / delete 过，想控制这次进门的内容。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1614170"/>
            <a:ext cx="4937760" cy="1331823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7" y="2107946"/>
            <a:ext cx="4535424" cy="6771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dvc_commit_container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route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Deleting</a:t>
            </a:r>
            <a:r>
              <a:rPr sz="1150">
                <a:solidFill>
                  <a:srgbClr val="C6D0DA"/>
                </a:solidFill>
                <a:latin typeface="Consolas"/>
              </a:rPr>
              <a:t>       </a:t>
            </a:r>
            <a:r>
              <a:rPr sz="1150">
                <a:solidFill>
                  <a:srgbClr val="F4F7FA"/>
                </a:solidFill>
                <a:latin typeface="Consolas"/>
              </a:rPr>
              <a:t>:version/keepme.sdc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477.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它不执行 svn add：新出现但没被 add 的文件不会被提交（这是它与 checkin 的唯二区别）。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dvc_checkin_container / _version / _folder — 逐级加力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dvc_checkin_container [容器] | dvc_checkin_version [版本] | dvc_checkin_folder [DVC_PATH]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93112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33883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33883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04007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640584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checkin_container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640584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容器内全部对象 add --force + commit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896615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93319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checkin_version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93319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版本目录 + .dvc / .dqc / .htm 依次提交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189224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22580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checkin_folder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3225800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沿 phase→block→stage→version→容器逐级提交（父层先入库）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481832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628136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「先 add 再 commit」的一键版本；三者的差别只是作用范围。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1614170"/>
            <a:ext cx="4937760" cy="2620213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7" y="2107946"/>
            <a:ext cx="4535424" cy="19655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dvc_checkin_version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2021_0519-eco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Checkin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2021_0519-eco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Adding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.dqc/WNS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478.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dvc_checkin_folder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P2-stable/cpu/400-APR/2021_0519-eco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|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grep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INFO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Checkin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Phase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P2-stable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Checkin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Block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cpu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checkin 会把容器里的新文件一并加入 —— 未清理的 cache 与工具临时档会跟着进门。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M5 · lab06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1-2 · 故意制造脏状态，再干净提交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先演示错误，再演示纪律 —— 这页是全课「提交习惯」的样板。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226039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lab06_checkin.csh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6056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$LAB_DATA/cpu.v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cpu.v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mkdir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-p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$TRAIN_ROOT/scratch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&amp;&amp;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touch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scratch/log.0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core.1234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$TRAIN_ROOT/scratch/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cache/</a:t>
            </a:r>
            <a:r>
              <a:rPr sz="1200">
                <a:solidFill>
                  <a:srgbClr val="C6D0DA"/>
                </a:solidFill>
                <a:latin typeface="Consolas"/>
              </a:rPr>
              <a:t>   </a:t>
            </a:r>
            <a:r>
              <a:rPr sz="1200">
                <a:solidFill>
                  <a:srgbClr val="7C8998"/>
                </a:solidFill>
                <a:latin typeface="Consolas"/>
              </a:rPr>
              <a:t># 垃圾进来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status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|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grep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'^?'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dvc_delete_object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cache/</a:t>
            </a:r>
            <a:r>
              <a:rPr sz="1200">
                <a:solidFill>
                  <a:srgbClr val="C6D0DA"/>
                </a:solidFill>
                <a:latin typeface="Consolas"/>
              </a:rPr>
              <a:t>                      </a:t>
            </a:r>
            <a:r>
              <a:rPr sz="1200">
                <a:solidFill>
                  <a:srgbClr val="7C8998"/>
                </a:solidFill>
                <a:latin typeface="Consolas"/>
              </a:rPr>
              <a:t># 清掉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dvc_commit_container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178323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1285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cpu.v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cache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480.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---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提交后服务器内容：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cpu.v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constraint.sdc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sta.rpt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325035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562779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cache/ 进了仓库吗？（应该没有）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为什么先 delete 再 commit，而不是 checkin_container？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dvc_clean_container — 清空容器（历史仍在）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dvc_clean_container [&lt;DESIGN_CONTR&gt;]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&lt;DESIGN_CONTR&gt;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省略时用当前容器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0344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（注意）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70344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提交说明是 “Empty all data in the version”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59481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105785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要让容器回到空白：内部依次 svn remove * → commit → svn update。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614170"/>
            <a:ext cx="4937760" cy="175031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7" y="2107946"/>
            <a:ext cx="4535424" cy="1095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dvc_clean_container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481.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dvc_list_container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.</a:t>
            </a:r>
            <a:r>
              <a:rPr sz="1150">
                <a:solidFill>
                  <a:srgbClr val="C6D0DA"/>
                </a:solidFill>
                <a:latin typeface="Consolas"/>
              </a:rPr>
              <a:t>        </a:t>
            </a:r>
            <a:r>
              <a:rPr sz="1150">
                <a:solidFill>
                  <a:srgbClr val="7C8998"/>
                </a:solidFill>
                <a:latin typeface="Consolas"/>
              </a:rPr>
              <a:t># 现在为空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ls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.../2021_0610-rc1/.dqc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7C8998"/>
                </a:solidFill>
                <a:latin typeface="Consolas"/>
              </a:rPr>
              <a:t># 上一版内容还在历史里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它清的是工作视图，不是历史；但别人正在用的容器被清，等同于线上事故 —— 先打招呼。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M5 · lab06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3-4 · 版本级与路径级提交：让元数据一起进门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指标与配置属于版本的一部分 —— 只有 checkin_* 会替你带上它们。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199339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lab06_checkin.csh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3386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WNS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-0.412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dvc_checkin_version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2021_0519-eco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list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file://$SVN_ROOT/N7A/P2-stable/cpu/400-APR/2021_0519-eco/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dvc_checkin_folder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P2-stable/cpu/400-APR/2021_0519-eco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|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grep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INFO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197601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3213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DQI: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-0.412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482.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.dqc/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.dvc/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.htm/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design.sdc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Checkin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Stage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400-APR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Checkin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2021_0519-eco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058031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295775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.dqc / .dqc / .htm 是否都出现在服务器列表里？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若只 dvc_commit_container，这些目录会在吗？（不会）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38928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572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提示   </a:t>
            </a:r>
            <a:r>
              <a:rPr sz="1200">
                <a:solidFill>
                  <a:srgbClr val="8A97A6"/>
                </a:solidFill>
                <a:latin typeface="Arial"/>
              </a:rPr>
              <a:t>这就是团队推荐 checkin_* 而非裸 commit 的原因：语义与数据一起进门。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DECISION · 提交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提交姿势选择表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047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426449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3177" y="1696466"/>
            <a:ext cx="298859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命令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2939" y="1696466"/>
            <a:ext cx="32012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为什么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61642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998218"/>
            <a:ext cx="426449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精确控制进门内容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3177" y="1998218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dvc_commit_container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2939" y="1998218"/>
            <a:ext cx="320124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只提交已跟踪变更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73998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310574"/>
            <a:ext cx="426449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跑批收官（推荐默认）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3177" y="2310574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dvc_checkin_container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2939" y="2310574"/>
            <a:ext cx="320124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不漏文件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86355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622931"/>
            <a:ext cx="426449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改了指标 / README / 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3177" y="2622931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dvc_checkin_version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2939" y="2622931"/>
            <a:ext cx="320124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带上 .dqc/.dvc/.htm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898711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935287"/>
            <a:ext cx="426449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首次建立整条路径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3177" y="2935287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dvc_checkin_folder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2939" y="2935287"/>
            <a:ext cx="320124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父子层依次入库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11068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247644"/>
            <a:ext cx="426449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容器要重用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3177" y="3247644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dvc_clean_container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2939" y="3247644"/>
            <a:ext cx="320124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清空但保留历史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523424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797744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3816032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流程脚本里固定用一条，别混用：规则一致比规则精巧更重要。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SUMMARY · 本模块小结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M5 · 带走这四句话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048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69034"/>
            <a:ext cx="530352" cy="274320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2389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68732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本地状态（A/D/M）不等于仓库状态；提交是分界线。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16861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71725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335149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checkin_* 带元数据、commit_* 不带 —— 指标与配置常因此「失踪」。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64687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19551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2982975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提交前先清临时文件，比提交后再 clean 便宜得多。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12514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66737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3080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全项目统一一条：copy → set_dqi → checkin_container → list_container。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351781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534661"/>
            <a:ext cx="1105783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9A63C"/>
                </a:solidFill>
                <a:latin typeface="Arial"/>
              </a:rPr>
              <a:t>下一模块：M6 · DQI：把质量结论变成可查询的数据。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4630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194560" cy="29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97A6"/>
                </a:solidFill>
                <a:latin typeface="Consolas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2194560" cy="118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E9A63C"/>
                </a:solidFill>
                <a:latin typeface="Arial"/>
              </a:rPr>
              <a:t>M06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051560"/>
            <a:ext cx="8046720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M06 · 从文件柜到数据库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8138160" cy="636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4F7FA"/>
                </a:solidFill>
                <a:latin typeface="Arial"/>
              </a:rPr>
              <a:t>DQI 质量指标：让版本带着结论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468880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2523744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52928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写指标、分组、出趋势、产 HTML 质量表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578098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3632962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看得见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2146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.dqc/WNS = -0.152 已随版本入库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687316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4742180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带得走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071364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一套指标命名规范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6309360"/>
            <a:ext cx="8138160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本页是本模块的地图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dvc_set_dqi — 一个指标一个纯文本文件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dvc_set_dqi [--root &lt;目录&gt;] [--group &lt;g&gt;] [-q|--quiet] [--reset] &lt;名&gt; [&lt;值&gt;]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93112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33883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33883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04007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640584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640584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挂载点：:version / :container / 任意路径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896615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93319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--group &lt;g&gt;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93319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写进 &lt;root&gt;/.dqc/&lt;g&gt;/&lt;名&gt;，用于 path group 分组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189224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22580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只给名字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3225800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用 tree 打印本层已有指标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481831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518407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--reset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2" y="3518407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删除该指标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774440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920744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跑完工具顺手写指标；评审看数值而不是看截图时，就靠它。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614170"/>
            <a:ext cx="4937760" cy="329732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7" y="2107946"/>
            <a:ext cx="4535424" cy="2642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dvc_set_dqi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-0.152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DQI: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-0.152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dvc_set_dqi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--group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REG2REG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-0.098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DQI: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-0.098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dvc_set_dqi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</a:t>
            </a:r>
            <a:r>
              <a:rPr sz="1150">
                <a:solidFill>
                  <a:srgbClr val="C6D0DA"/>
                </a:solidFill>
                <a:latin typeface="Consolas"/>
              </a:rPr>
              <a:t>            </a:t>
            </a:r>
            <a:r>
              <a:rPr sz="1150">
                <a:solidFill>
                  <a:srgbClr val="7C8998"/>
                </a:solidFill>
                <a:latin typeface="Consolas"/>
              </a:rPr>
              <a:t># 看这层都有什么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:version/.dqc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├──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DRC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├──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REG2REG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│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└──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└──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写完不 checkin，指标只是你本机的文件；回显前缀 DQI: 是原版行为，可被脚本直接解析。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dvc_get_dqi — 读取、导出、喂给报表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dvc_get_dqi [--root &lt;目录&gt;] [--group &lt;g&gt;] [--script|--csv|--tcl|--html] [--all] &lt;名...&gt;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93112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33883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33883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04007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640584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640584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列全部；配合 --group 只列某组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896615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93319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--csv / --script / --tcl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93319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喂给表格、shell、tcl 脚本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189224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22580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--html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3225800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输出 &lt;table id=dqitable&gt;，可嵌页面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481831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518407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顺序要求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2" y="3518407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格式选项要写在 --all 之前，否则解析不到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774440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920744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单值取数、批量导出、直接产出评审用的 HTML 表。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614170"/>
            <a:ext cx="4937760" cy="349011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7" y="2107946"/>
            <a:ext cx="4535424" cy="28354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dvc_get_dqi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-0.152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dvc_get_dqi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--group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REG2REG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--csv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--all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D8A65E"/>
                </a:solidFill>
                <a:latin typeface="Consolas"/>
              </a:rPr>
              <a:t>/DRC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12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D8A65E"/>
                </a:solidFill>
                <a:latin typeface="Consolas"/>
              </a:rPr>
              <a:t>/TNS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-3.418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D8A65E"/>
                </a:solidFill>
                <a:latin typeface="Consolas"/>
              </a:rPr>
              <a:t>/WNS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-0.152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dvc_get_dqi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.../2021_0601-rc0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--group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REG2REG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--html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--all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8A97A6"/>
                </a:solidFill>
                <a:latin typeface="Consolas"/>
              </a:rPr>
              <a:t>&lt;table id=dqitable&gt;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8A97A6"/>
                </a:solidFill>
                <a:latin typeface="Consolas"/>
              </a:rPr>
              <a:t>&lt;tr&gt;</a:t>
            </a:r>
            <a:r>
              <a:rPr sz="1150">
                <a:solidFill>
                  <a:srgbClr val="8A97A6"/>
                </a:solidFill>
                <a:latin typeface="Consolas"/>
              </a:rPr>
              <a:t>&lt;td colspan=3 class=header&gt;</a:t>
            </a:r>
            <a:r>
              <a:rPr sz="1150">
                <a:solidFill>
                  <a:srgbClr val="F4F7FA"/>
                </a:solidFill>
                <a:latin typeface="Consolas"/>
              </a:rPr>
              <a:t>REG2REG</a:t>
            </a:r>
            <a:r>
              <a:rPr sz="1150">
                <a:solidFill>
                  <a:srgbClr val="8A97A6"/>
                </a:solidFill>
                <a:latin typeface="Consolas"/>
              </a:rPr>
              <a:t>&lt;/td&gt;</a:t>
            </a:r>
            <a:r>
              <a:rPr sz="1150">
                <a:solidFill>
                  <a:srgbClr val="8A97A6"/>
                </a:solidFill>
                <a:latin typeface="Consolas"/>
              </a:rPr>
              <a:t>&lt;/tr&gt;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8A97A6"/>
                </a:solidFill>
                <a:latin typeface="Consolas"/>
              </a:rPr>
              <a:t>&lt;tr class=data&gt;</a:t>
            </a:r>
            <a:r>
              <a:rPr sz="1150">
                <a:solidFill>
                  <a:srgbClr val="8A97A6"/>
                </a:solidFill>
                <a:latin typeface="Consolas"/>
              </a:rPr>
              <a:t>&lt;td class=col1&gt;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8A97A6"/>
                </a:solidFill>
                <a:latin typeface="Consolas"/>
              </a:rPr>
              <a:t>&lt;/td&gt;</a:t>
            </a:r>
            <a:r>
              <a:rPr sz="1150">
                <a:solidFill>
                  <a:srgbClr val="8A97A6"/>
                </a:solidFill>
                <a:latin typeface="Consolas"/>
              </a:rPr>
              <a:t>&lt;td class=col2&gt;</a:t>
            </a:r>
            <a:r>
              <a:rPr sz="1150">
                <a:solidFill>
                  <a:srgbClr val="F4F7FA"/>
                </a:solidFill>
                <a:latin typeface="Consolas"/>
              </a:rPr>
              <a:t>-0.098</a:t>
            </a:r>
            <a:r>
              <a:rPr sz="1150">
                <a:solidFill>
                  <a:srgbClr val="8A97A6"/>
                </a:solidFill>
                <a:latin typeface="Consolas"/>
              </a:rPr>
              <a:t>&lt;/td&gt;</a:t>
            </a:r>
            <a:r>
              <a:rPr sz="1150">
                <a:solidFill>
                  <a:srgbClr val="8A97A6"/>
                </a:solidFill>
                <a:latin typeface="Consolas"/>
              </a:rPr>
              <a:t>&lt;/tr&gt;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没有任何指标时输出 “NO DQI extracted.” 并返回非零：脚本里别当成致命错误。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M6 · lab07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1-3 · 写指标、分组、读回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先写版本级结论，再按 path group 拆分，最后交叉读回验证。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182514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lab07_dqi.csh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WNS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-0.412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TNS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-8.20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CELLS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1.8M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--group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REG2REG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WNS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-0.098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dvc_get_dqi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--csv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460345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805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DQI: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-0.412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DQI: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TNS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-8.20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DQI: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CELLS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1.8M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DQI: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-0.098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D8A65E"/>
                </a:solidFill>
                <a:latin typeface="Consolas"/>
              </a:rPr>
              <a:t>/DRC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12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D8A65E"/>
                </a:solidFill>
                <a:latin typeface="Consolas"/>
              </a:rPr>
              <a:t>/TNS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-3.418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D8A65E"/>
                </a:solidFill>
                <a:latin typeface="Consolas"/>
              </a:rPr>
              <a:t>/UTIL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0.86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D8A65E"/>
                </a:solidFill>
                <a:latin typeface="Consolas"/>
              </a:rPr>
              <a:t>/WNS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-0.152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240377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478121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指标名是否与团队约定一致？（不一致就无法横向比）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分组与不分组的取舍是什么？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M6 · lab07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4-6 · 跨版本趋势与「入库」确认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指标的价值在比较；确认入库的价值在共享。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159105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lab07_dqi.csh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936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dvc_checkin_version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2021_0601-rc0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|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grep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Committed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foreach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(</a:t>
            </a:r>
            <a:r>
              <a:rPr sz="1200">
                <a:solidFill>
                  <a:srgbClr val="F4F7FA"/>
                </a:solidFill>
                <a:latin typeface="Consolas"/>
              </a:rPr>
              <a:t>rc0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rc1</a:t>
            </a:r>
            <a:r>
              <a:rPr sz="1200">
                <a:solidFill>
                  <a:srgbClr val="F4F7FA"/>
                </a:solidFill>
                <a:latin typeface="Consolas"/>
              </a:rPr>
              <a:t>)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dvc_get_dqi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_/.../$v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WNS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end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cat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file://$SVN_ROOT/N7A/P2-stable/cpu/400-\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    </a:t>
            </a:r>
            <a:r>
              <a:rPr sz="1200">
                <a:solidFill>
                  <a:srgbClr val="F4F7FA"/>
                </a:solidFill>
                <a:latin typeface="Consolas"/>
              </a:rPr>
              <a:t>TIMING/2021_0601-rc0/.dqc/WNS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155752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902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483.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服务端的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.dqc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目录：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TNS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CELLS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REG2REG/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服务器上的指标（这才是团队资产）：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-0.152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3655695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893439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服务器能读到 -0.152 与本机读到，含义有何不同？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趋势脚本里为何要避免硬编码完整路径（用 :/占位）？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38928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572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提示   </a:t>
            </a:r>
            <a:r>
              <a:rPr sz="1200">
                <a:solidFill>
                  <a:srgbClr val="8A97A6"/>
                </a:solidFill>
                <a:latin typeface="Arial"/>
              </a:rPr>
              <a:t>交付评审的凭据是「服务器上的 .dqc」，不是某人终端上的一次输出。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CONCEPT · 指标规范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建议统一的指标命名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054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139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流程节点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2392" y="1696466"/>
            <a:ext cx="298859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指标名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2153" y="1696466"/>
            <a:ext cx="266961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单位 / 取值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2939" y="1696466"/>
            <a:ext cx="32012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备注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61642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98218"/>
            <a:ext cx="13937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综合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2392" y="1998218"/>
            <a:ext cx="298859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WNS / TNS / CELLS / 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2153" y="1998218"/>
            <a:ext cx="266961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ns / ns / 千个 / mm²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2939" y="1998218"/>
            <a:ext cx="32012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先定 signoff corner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72538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309114"/>
            <a:ext cx="13937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2392" y="2309114"/>
            <a:ext cx="298859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FAIL / COV / PASS_RATE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2153" y="2309114"/>
            <a:ext cx="266961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个数 /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2939" y="2309114"/>
            <a:ext cx="32012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按容器（testbench）写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83434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620010"/>
            <a:ext cx="13937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DFT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62392" y="2620010"/>
            <a:ext cx="298859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SCAN_COV / ATVG_FAIL / LEC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2153" y="2620010"/>
            <a:ext cx="266961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% / 个数 / 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2939" y="2620010"/>
            <a:ext cx="32012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LEC 结果建议字符串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894330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2930906"/>
            <a:ext cx="13937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APR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62392" y="2930906"/>
            <a:ext cx="298859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DRC / UTIL / CONGESTION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2153" y="2930906"/>
            <a:ext cx="266961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个数 / 比例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2939" y="2930906"/>
            <a:ext cx="32012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step 容器各写一份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205226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3241802"/>
            <a:ext cx="13937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签核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2392" y="3241802"/>
            <a:ext cx="298859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WNS / TNS / NVP（+分组）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52153" y="3241802"/>
            <a:ext cx="266961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ns / ns / 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2939" y="3241802"/>
            <a:ext cx="32012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用 --group 分 path group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516122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3552698"/>
            <a:ext cx="13937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功耗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62392" y="3552698"/>
            <a:ext cx="298859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LEAKAGE / DYN_POWER / IR_DROP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52153" y="3552698"/>
            <a:ext cx="266961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mW / mV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2939" y="3552698"/>
            <a:ext cx="32012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场景容器各一份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827017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3863593"/>
            <a:ext cx="13937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交付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62392" y="3863593"/>
            <a:ext cx="298859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GDS_MD5 / NETLIST_STATE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52153" y="3863593"/>
            <a:ext cx="266961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摘要串 / 状态串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2939" y="3863593"/>
            <a:ext cx="32012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与 manifest 并存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137914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4412234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4430522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名字统一才能一条命令跨版本取数；写指标的成本是 1 秒，省下的核对是几小时。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SUMMARY · 本模块小结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M6 · 带走这四句话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055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69034"/>
            <a:ext cx="530352" cy="274320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2389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68732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DQI 是随版本入库的结构化事实，不是报表截图。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16861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71725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335149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写入记得 checkin，否则只是本机文件。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64687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19551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2982975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分组（path group / corner / step）决定后面能不能自动化比较。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12514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66737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3080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统一指标命名，是这套机制产生复利的唯一前提。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351781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534661"/>
            <a:ext cx="1105783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9A63C"/>
                </a:solidFill>
                <a:latin typeface="Arial"/>
              </a:rPr>
              <a:t>下一模块：M7 · 跨团队共享：让另一群人也能读到同一套语义。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4630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194560" cy="29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97A6"/>
                </a:solidFill>
                <a:latin typeface="Consolas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2194560" cy="118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E9A63C"/>
                </a:solidFill>
                <a:latin typeface="Arial"/>
              </a:rPr>
              <a:t>M07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051560"/>
            <a:ext cx="8046720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M07 · 本课程的落点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8138160" cy="636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4F7FA"/>
                </a:solidFill>
                <a:latin typeface="Arial"/>
              </a:rPr>
              <a:t>跨团队共享：把数据交给另一群人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468880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2523744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52928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准备交付三件套，让对方一条命令接手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578098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3632962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看得见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2146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manifest 条目、只授权路径、对方工作区取到文件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687316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4742180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带得走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071364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共享通道选择表与红线清单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6309360"/>
            <a:ext cx="8138160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本页是本模块的地图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GOAL · 本模块要达成的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33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4F7FA"/>
                </a:solidFill>
                <a:latin typeface="Arial"/>
              </a:rPr>
              <a:t>本模块结束时，你能组织一次无争议的对外交付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7764"/>
            <a:ext cx="6400800" cy="177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分清「共享仓库」与「拷贝目录」，并解释前者为何可审计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用 authz 按 DVC 层级授权：只读区 / 回灌区 / 禁区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为交付包准备三件套：实体数据 + 清单 + 质量快照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带外部团队完成首次接手（含只取一个 corner 的省流做法）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667764"/>
            <a:ext cx="4023360" cy="411480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667764"/>
            <a:ext cx="402336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1740916"/>
            <a:ext cx="365760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本模块实验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43252"/>
            <a:ext cx="3657600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A38"/>
                </a:solidFill>
                <a:latin typeface="Consolas"/>
              </a:rPr>
              <a:t>lab08_share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719324"/>
            <a:ext cx="3657600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2181F"/>
                </a:solidFill>
                <a:latin typeface="Arial"/>
              </a:rPr>
              <a:t>交付方 + 接收方双视角，lab 在一台机器上模拟两个团队。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4502404"/>
            <a:ext cx="329184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4575556"/>
            <a:ext cx="3200400" cy="278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onsolas"/>
              </a:rPr>
              <a:t>□ 做完请跑 csh verify.csh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CONCEPT · 共享层次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共享的三个层次（多数事故源于混用）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058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162657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层次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5254" y="1696466"/>
            <a:ext cx="34543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38" y="1696466"/>
            <a:ext cx="21748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能不能给别人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6802" y="1696466"/>
            <a:ext cx="29973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判断法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61642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98218"/>
            <a:ext cx="162657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本地工作副本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5254" y="1998218"/>
            <a:ext cx="3454316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_ 目录、:xxx 链接、未提交文件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0738" y="1998218"/>
            <a:ext cx="2174896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不能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6802" y="1998218"/>
            <a:ext cx="299738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它在你的磁盘上，不在仓库里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73998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310574"/>
            <a:ext cx="162657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本地已 add 未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5254" y="2310574"/>
            <a:ext cx="3454316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 状态里的 A /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0738" y="2310574"/>
            <a:ext cx="2174896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不能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6802" y="2310574"/>
            <a:ext cx="299738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 status 有字母 = 还没共享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86355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622931"/>
            <a:ext cx="162657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仓库内的版本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5254" y="2622931"/>
            <a:ext cx="3454316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数据 + .dvc/.dqc/.htm + 修订号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0738" y="2622931"/>
            <a:ext cx="2174896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能，checkout 即还原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98711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2935287"/>
            <a:ext cx="1626574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交付快照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5254" y="2935287"/>
            <a:ext cx="3454316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golden 版本 + manifest + 质量表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38" y="2935287"/>
            <a:ext cx="2174896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能，且可核对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211068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485388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3503676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交接前只问两句：进仓库了吗？是实体还是链接？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dvc_link_object 的跨机真相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dvc_link_object &lt;SRC_FILE&gt; [&lt;DEST_NAME&gt;]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&lt;SRC_FILE&gt;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会被 realpath 化成绝对路径写入链接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70344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&lt;DEST_NAME&gt;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70344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若目标已是目录，链接建在该目录内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59481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105785"/>
            <a:ext cx="58978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把大文件以软链接方式收录，节省仓库空间 —— 但对方拿到的是路径字符串，不是数据。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614170"/>
            <a:ext cx="4937760" cy="216880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7" y="2107946"/>
            <a:ext cx="4535424" cy="15140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dvc_link_object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.../bigfile.spef.gz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design.spef.gz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design.spef.gz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ls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-l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.../route/design.spef.gz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design.spef.gz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-&gt;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/tmp/qwenwork/train/dvc-labs/train/bigfile.spef.gz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（对方机器上没有这个路径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→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链接为空）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交付、跨机、对客户三条场景一律禁止 link；lab08 的 golden 版本因此全部用 copy。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M7 · lab08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1 · 交付方铺 golden 版本并入库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golden 是「快照」不是「最新」：一旦建立就不再改。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246156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lab08_share.csh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8068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P3-final/chip/700-TAPEOUT/2021_0818-golden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dvc_checkout_folder</a:t>
            </a: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F4F7FA"/>
                </a:solidFill>
                <a:latin typeface="Consolas"/>
              </a:rPr>
              <a:t>P3-final/chip/700-TAPEOUT/2021_0818-golden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$LAB_DATA/cpu.v</a:t>
            </a: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F4F7FA"/>
                </a:solidFill>
                <a:latin typeface="Consolas"/>
              </a:rPr>
              <a:t>chip.v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$LAB_DATA/cpu.sdc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constraint.sdc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$LAB_DATA/reports/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report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dvc_checkin_version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2021_0818-golden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460345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805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chip.v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constraint.sdc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report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Adding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chip.v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Adding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constraint.sdc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Adding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report/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Adding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report/sta.rpt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466.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526203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763947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checkin 之前 `svn list` 看得到 chip.v 吗？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checkin 之后呢？（这一步完成了「团队可见」）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M7 · lab08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2 · 交付三件套：清单 / 指标 / 状态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对方要的不是文件夹，而是能核对的东西。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2026310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lab08_share.csh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list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$SVN_URL/$PRJ_ID/P3-final/chip/700-TAPEOUT/\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      </a:t>
            </a:r>
            <a:r>
              <a:rPr sz="1200">
                <a:solidFill>
                  <a:srgbClr val="F4F7FA"/>
                </a:solidFill>
                <a:latin typeface="Consolas"/>
              </a:rPr>
              <a:t>2021_0818-golden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&gt;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out/lab08_manifest.txt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dvc_get_dqi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--csv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--all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&gt;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out/lab08_signoff.csv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dvc_set_env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--server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NETLIST_STATE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FROZEN_2021_0818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dvc_get_env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--server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NETLIST_STATE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234641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5799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manifest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条目数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11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chip.v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constraint.sdc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report/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report/README.txt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NETLIST_STATE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FROZEN_2021_0818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FROZEN_2021_0818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090949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328693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清单能回答「到底给了哪些文件」吗？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状态变量写在 --server：换人的机器读得到吗？（读得到，因为随仓库）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38928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572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提示   </a:t>
            </a:r>
            <a:r>
              <a:rPr sz="1200">
                <a:solidFill>
                  <a:srgbClr val="8A97A6"/>
                </a:solidFill>
                <a:latin typeface="Arial"/>
              </a:rPr>
              <a:t>把 manifest 与 signoff 当作邮件附件：交付沟通从「我发你了」变成「请核对」。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M7 · lab08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3 · 接收方接手：只要地址 + 两条命令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接收方不复制任何目录，而是建立自己的上下文。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226039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lab08_share.csh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6056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#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接收方工作区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work/pkgA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dvc_set_project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dvc_checkout_project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N7A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_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dvc_list_project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dvc_checkout_folder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P3-final/chip/700-TAPEOUT/2021_0818-golden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dvc_get_folder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--info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427427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7727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Checkout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Respository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P1-trial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P2-stable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P3-final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Checkout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2021_0818-golden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DESIGN_PHASE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P3-final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DESIGN_BLOCK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chip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DESIGN_STAGE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700-TAPEOUT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DESIGN_VERSN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2021_0818-golden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325035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562779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本地出现 .dqc/.dvc/.htm → 语义可复原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对方的 DESIGN_* 与交付方互不影响，说明什么？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M7 · lab08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4 · 省流取数：深度与单文件两种姿势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仓库大不是问题，全量拉才是问题。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159105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lab08_share.csh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936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ls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                      </a:t>
            </a:r>
            <a:r>
              <a:rPr sz="1200">
                <a:solidFill>
                  <a:srgbClr val="7C8998"/>
                </a:solidFill>
                <a:latin typeface="Consolas"/>
              </a:rPr>
              <a:t># 默认 files 深度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dvc_checkout_version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--depth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infinity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2021_0818-golden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ls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cat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$SVN_URL/.../golden/chip.v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&gt;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chip_copy.v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197601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3213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chip.v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constraint.sdc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report/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（默认深度下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report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目录内文件尚未拉取）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--depth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infinity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之后：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chip.v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constraint.sdc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report/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（report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内文件已到本地）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</a:t>
            </a:r>
            <a:r>
              <a:rPr sz="1150">
                <a:solidFill>
                  <a:srgbClr val="F4F7FA"/>
                </a:solidFill>
                <a:latin typeface="Consolas"/>
              </a:rPr>
              <a:t>取回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319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bytes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-&gt;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chip_copy.v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3756050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993794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只要一个文件时，为什么 svn cat 比 checkout 更合适？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--depth infinity 的代价是什么（流量 / 磁盘 / 时间）？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M7 · lab08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5 · 接收方回写：新 Version，绝不动 golden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双向协作的关键纪律：golden 只读，讨论用新版本。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205922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lab08_share.csh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4045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2021_0820-pkgchk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dvc_checkout_version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2021_0820-pkgchk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$LAB_DATA/ip_list.csv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pkg_notes.csv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PKG_CHECK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PASS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dvc_checkin_version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2021_0820-pkgchk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dvc_list_stage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700-TAPEOUT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427427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7727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Create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2021_0820-pkgchk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pkg_notes.csv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DQI: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PKG_CHECK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PASS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469.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---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stage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下的版本：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2021_0818-golden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2021_0820-pkgchk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207459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445203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golden 是否仍与交付时一字不差？（这是审计要问的）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对方结论是否已变成团队资产（在仓库里）？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DECISION · 通道选择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三条共享通道的选择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7866"/>
            <a:ext cx="986911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97A6"/>
                </a:solidFill>
                <a:latin typeface="Arial"/>
              </a:rPr>
              <a:t>先选通道，再谈命令 —— 通道错了，命令再对也没用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8012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73732"/>
            <a:ext cx="137852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通道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7203" y="2173732"/>
            <a:ext cx="364932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做法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7700" y="2173732"/>
            <a:ext cx="246456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适合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429" y="2173732"/>
            <a:ext cx="276075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代价 / 风险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38908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475484"/>
            <a:ext cx="137852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① 同仓直连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7203" y="2475484"/>
            <a:ext cx="3649329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同一 SVN 仓库内按路径授权，对方 checkout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7700" y="2475484"/>
            <a:ext cx="246456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公司内跨部门、长期协作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429" y="2475484"/>
            <a:ext cx="276075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依赖访问同一服务；写权限要收窄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751264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2787840"/>
            <a:ext cx="137852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② 交付快照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7203" y="2787840"/>
            <a:ext cx="3649329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golden 版本全量 copy + 清单 + 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7700" y="2787840"/>
            <a:ext cx="246456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封装 / 测试 / 客户 / 阶段交付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429" y="2787840"/>
            <a:ext cx="276075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仓库变大；必须禁 link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063621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3100197"/>
            <a:ext cx="137852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③ 仓库镜像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7203" y="3100197"/>
            <a:ext cx="3649329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svnadmin dump/load 或 svnsync 同步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7700" y="3100197"/>
            <a:ext cx="246456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跨网段、无 VPN、外部合作方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3429" y="3100197"/>
            <a:ext cx="276075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含全部历史（保密评估）；体积大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75977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650297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668585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内部长期协作走①；有交付动作走②；对方接不进网络才走③。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dvc_remove_container — 撤掉一个不再需要的容器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dvc_remove_container &lt;DESIGN_CONTR&gt;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3369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09089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109089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74265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1084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&lt;DESIGN_CONTR&gt;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41084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先 dvc_set_container 指定，或用当前容器上下文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66873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813177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对方只要 tt / ss 两个角？把没用的容器从仓库删掉，省他们一次无用下载。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1614170"/>
            <a:ext cx="4937760" cy="197601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7" y="2107946"/>
            <a:ext cx="4535424" cy="13213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dvc_set_container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mc_mmcc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dvc_remove_container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Remove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'P2-stable/cpu/500-TIMING/\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</a:t>
            </a:r>
            <a:r>
              <a:rPr sz="1150">
                <a:solidFill>
                  <a:srgbClr val="F4F7FA"/>
                </a:solidFill>
                <a:latin typeface="Consolas"/>
              </a:rPr>
              <a:t>2021_0610-rc1/mc_mmcc'.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471.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删除是「一次提交」，会立刻影响所有人；先与接收方确认，再删，并保留修订号以便回退。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GUARD · 红线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共享红线八条（贴在看板边上）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067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348477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红线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1696466"/>
            <a:ext cx="326795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后果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2584" y="1696466"/>
            <a:ext cx="370159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正确做法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61642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998218"/>
            <a:ext cx="348477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dvc_link_object 的对象交给对方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3458" y="1998218"/>
            <a:ext cx="326795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对方链接指向空路径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2584" y="1998218"/>
            <a:ext cx="370159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跨边界一律 copy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72538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309114"/>
            <a:ext cx="348477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打包 _ 或 :version 发给对方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3458" y="2309114"/>
            <a:ext cx="326795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无历史、无上下文、易过期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2584" y="2309114"/>
            <a:ext cx="370159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给对方一句 checkout 命令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83434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620010"/>
            <a:ext cx="348477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写完不 checkin 就说「已上传」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3458" y="2620010"/>
            <a:ext cx="326795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对方查不到，互相甩锅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2584" y="2620010"/>
            <a:ext cx="370159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dvc_list_container 当证据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894330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930906"/>
            <a:ext cx="348477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golden 版本上直接改文件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3458" y="2930906"/>
            <a:ext cx="326795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交付物与审计不一致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2584" y="2930906"/>
            <a:ext cx="370159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新 Version 承载改动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05226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241802"/>
            <a:ext cx="348477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authz 全开 / 匿名可写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3458" y="3241802"/>
            <a:ext cx="326795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误删查不到责任人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2584" y="3241802"/>
            <a:ext cx="370159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按 phase 收权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516122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3552698"/>
            <a:ext cx="348477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把整个项目 --depth infinity 拉给新人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3458" y="3552698"/>
            <a:ext cx="326795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网络与磁盘双爆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2584" y="3552698"/>
            <a:ext cx="370159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先 list 再按需取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27017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863593"/>
            <a:ext cx="348477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用 --force 覆盖别人工作区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53458" y="3863593"/>
            <a:ext cx="326795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丢别人未提交成果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2584" y="3863593"/>
            <a:ext cx="370159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一人一个检出根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37914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4174490"/>
            <a:ext cx="348477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remove_project 清测试数据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53458" y="4174490"/>
            <a:ext cx="326795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连 SVN 历史一起消失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2584" y="4174490"/>
            <a:ext cx="370159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dump 备份后再操作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448810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723130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4741418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前四条几乎每周都会发生一次；它们的共同点是「本机视角正确、团队视角错误」。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SUMMARY · 本模块小结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M7 · 带走这四句话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068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69034"/>
            <a:ext cx="530352" cy="274320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2389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68732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共享单位是仓库里的版本 + 元数据，不是你磁盘上的目录。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16861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71725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335149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交付三件套（实体数据 / manifest / 质量快照）+ 一个状态变量，才算一次交付。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64687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19551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2982975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对方接手只用两条命令：checkout_project + checkout_folder；要省流就控深度。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12514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66737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3080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golden 只读、回写走新 Version；边界两侧都不出现 link。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351781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534661"/>
            <a:ext cx="1105783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9A63C"/>
                </a:solidFill>
                <a:latin typeface="Arial"/>
              </a:rPr>
              <a:t>下一模块：M8 · 综合剧本：把 M1-M7 串成一颗 SoC 的完整数据管理。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4630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194560" cy="29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97A6"/>
                </a:solidFill>
                <a:latin typeface="Consolas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2194560" cy="118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E9A63C"/>
                </a:solidFill>
                <a:latin typeface="Arial"/>
              </a:rPr>
              <a:t>M08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051560"/>
            <a:ext cx="8046720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M08 · 把七个模块接起来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8138160" cy="636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4F7FA"/>
                </a:solidFill>
                <a:latin typeface="Arial"/>
              </a:rPr>
              <a:t>综合剧本：N7A SoC 全流程数据管理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468880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2523744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52928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六条流程节点、四模块、四 corner、五 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578098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3632962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看得见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2146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486 条仓库条目、四阶段、一份 manifest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687316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4742180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带得走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071364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可直接迁到自己项目的剧本脚本 lab09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6309360"/>
            <a:ext cx="8138160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本页是本模块的地图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GOAL · 本模块要达成的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33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4F7FA"/>
                </a:solidFill>
                <a:latin typeface="Arial"/>
              </a:rPr>
              <a:t>本模块是一次演练，而不是新命令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7764"/>
            <a:ext cx="6400800" cy="177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按流程顺序把 lab01-08 的动作串成一条剧本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在剧本中练习多模块循环（foreach）与指标写入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为管理动作产生可复查的清单、趋势与状态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E9A63C"/>
                </a:solidFill>
                <a:latin typeface="Consolas"/>
              </a:rPr>
              <a:t>·  </a:t>
            </a:r>
            <a:r>
              <a:rPr sz="1500">
                <a:solidFill>
                  <a:srgbClr val="C6D0DA"/>
                </a:solidFill>
                <a:latin typeface="Arial"/>
              </a:rPr>
              <a:t>在结束时通过 verify.csh 的全部门检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667764"/>
            <a:ext cx="4023360" cy="411480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667764"/>
            <a:ext cx="402336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1740916"/>
            <a:ext cx="365760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本模块实验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43252"/>
            <a:ext cx="3657600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A38"/>
                </a:solidFill>
                <a:latin typeface="Consolas"/>
              </a:rPr>
              <a:t>lab09_scenario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719324"/>
            <a:ext cx="3657600" cy="3041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2181F"/>
                </a:solidFill>
                <a:latin typeface="Arial"/>
              </a:rPr>
              <a:t>剧本脚本 130 行：把你们的流程映射进去即可复用。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4502404"/>
            <a:ext cx="329184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4575556"/>
            <a:ext cx="3200400" cy="278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  <a:latin typeface="Consolas"/>
              </a:rPr>
              <a:t>□ 做完请跑 csh verify.csh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SCENARIO · 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剧本设定：一条时间轴上的六个节点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071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183862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7307" y="1696466"/>
            <a:ext cx="183862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角色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7103" y="1696466"/>
            <a:ext cx="366370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版本 / 容器粒度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1978" y="1696466"/>
            <a:ext cx="29122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写入的 DQI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61642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98218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000-DATA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7307" y="1998218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技术主管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7103" y="1998218"/>
            <a:ext cx="366370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一个 foundation 版本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1978" y="1998218"/>
            <a:ext cx="29122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72538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309114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100-CIRCUIT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7307" y="2309114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综合工程师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7103" y="2309114"/>
            <a:ext cx="366370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每晚一个 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1978" y="2309114"/>
            <a:ext cx="29122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WNS / TNS / CELLS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83434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620010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200-FUNCTION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7307" y="2620010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验证工程师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7103" y="2620010"/>
            <a:ext cx="366370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每个 testbench 一个容器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1978" y="2620010"/>
            <a:ext cx="29122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FAIL / COV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894330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2930906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300-DFT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7307" y="2930906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DFT 工程师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47103" y="2930906"/>
            <a:ext cx="366370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每次 scan 插入一个版本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1978" y="2930906"/>
            <a:ext cx="29122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SCAN_COV / LEC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205226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3241802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400-APR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07307" y="3241802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后端工程师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7103" y="3241802"/>
            <a:ext cx="366370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五个 step 各一容器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1978" y="3241802"/>
            <a:ext cx="29122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DRC / UTIL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516122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3552698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500-TIMING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7307" y="3552698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签核工程师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47103" y="3552698"/>
            <a:ext cx="366370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四个 corner 各一容器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11978" y="3552698"/>
            <a:ext cx="29122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WNS / TNS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827017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3863593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600-POWER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07307" y="3863593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功耗工程师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47103" y="3863593"/>
            <a:ext cx="366370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三个场景各一容器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11978" y="3863593"/>
            <a:ext cx="29122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DYN_POWER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137914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4174490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700-TAPEOUT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7307" y="4174490"/>
            <a:ext cx="18386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项目经理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47103" y="4174490"/>
            <a:ext cx="366370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golden 版本 + 分区容器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11978" y="4174490"/>
            <a:ext cx="29122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WNS / DRC / LVS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448810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6928" y="4723130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8" y="4741418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容器只在「会被单独评审」的粒度上建立：corner、step、testbench —— 这是本剧本最重要的设计决定。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M8 · lab09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M0-M1 · 数据准备与综合迭代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第一层数据是「输入契约」；之后每次跑批落成不可覆盖的版本。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356036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lab09_scenario.csh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29056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P1-trial/chip/000-DATA/2021_0301-foundation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$LAB_DATA/cpu.v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top.v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$LAB_DATA/ip_list.csv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ip_list.csv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dvc_checkin_folder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P1-trial/chip/000-DATA/2021_0301-foundation</a:t>
            </a:r>
          </a:p>
          <a:p>
            <a:pPr>
              <a:spcAft>
                <a:spcPts val="24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F4F7FA"/>
                </a:solidFill>
                <a:latin typeface="Consolas"/>
              </a:rPr>
              <a:t>foreach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row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(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syn001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syn002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syn003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)</a:t>
            </a: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7C8998"/>
                </a:solidFill>
                <a:latin typeface="Consolas"/>
              </a:rPr>
              <a:t># 每晚一版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P1-trial/chip/100-CIRCUIT/$v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$LAB_DATA/cpu.v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cpu.v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dvc_set_dqi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WNS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$w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dvc_checkin_version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F4F7FA"/>
                </a:solidFill>
                <a:latin typeface="Consolas"/>
              </a:rPr>
              <a:t>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427427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7727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top.v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ip_list.csv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476.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Create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2021_0315-syn001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2021_0315-syn001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-0.842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2021_0322-syn002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-0.412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2021_0329-syn003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-0.207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5167884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5405628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三版指标是否已随版本入库（不是只在屏幕上）？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为什么这里用 create_folder 而不是 create_version？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M8 · lab09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M2-M3 · 验证与 DFT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验证按 testbench 分容器；DFT 用指标声明「LEC 通过」。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2929737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lab09_scenario.csh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2275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P1-trial/cpu/200-FUNCTION/2021_0412-fv003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dvc_checkout_folder</a:t>
            </a: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F4F7FA"/>
                </a:solidFill>
                <a:latin typeface="Consolas"/>
              </a:rPr>
              <a:t>P1-trial/cpu/200-FUNCTION/2021_0412-fv003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F4F7FA"/>
                </a:solidFill>
                <a:latin typeface="Consolas"/>
              </a:rPr>
              <a:t>foreach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tb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(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base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dft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stress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boot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)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$tb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$LAB_DATA/reports/drc.rpt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summary.rpt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dvc_set_dqi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FAIL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dvc_checkin_container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$tb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F4F7FA"/>
                </a:solidFill>
                <a:latin typeface="Consolas"/>
              </a:rPr>
              <a:t>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197601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3213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Create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2021_0412-fv003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SETP: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DESIGN_CONTR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base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SETP: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DESIGN_CONTR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dft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480.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容器清单：base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boot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dft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stress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994376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5232120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四个 tb 是否都能被 dvc_list_version 看到？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:container 在循环里如何自动跟着切换？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38928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572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提示   </a:t>
            </a:r>
            <a:r>
              <a:rPr sz="1200">
                <a:solidFill>
                  <a:srgbClr val="8A97A6"/>
                </a:solidFill>
                <a:latin typeface="Arial"/>
              </a:rPr>
              <a:t>'--root :container' 让指标写进「当前容器」，循环里不必拼长路径 —— 这是剧本脚本简化的关键。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M8 · lab09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M4-M5 · APR 五 step 与四 corner 签核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同一版本下，step 与 corner 是两种正交容器维度。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343082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lab09_scenario.csh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27761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F4F7FA"/>
                </a:solidFill>
                <a:latin typeface="Consolas"/>
              </a:rPr>
              <a:t>foreach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(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floorplan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place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cts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route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postroute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)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$st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$LAB_DATA/reports/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report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dvc_set_dqi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DRC</a:t>
            </a: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F4F7FA"/>
                </a:solidFill>
                <a:latin typeface="Consolas"/>
              </a:rPr>
              <a:t>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dvc_checkin_container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$st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F4F7FA"/>
                </a:solidFill>
                <a:latin typeface="Consolas"/>
              </a:rPr>
              <a:t>end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F4F7FA"/>
                </a:solidFill>
                <a:latin typeface="Consolas"/>
              </a:rPr>
              <a:t>foreach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(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tt_0p80V_25C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ss_0p72V_125C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ff_0p88V_m40C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mc_mmcc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)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$c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dvc_set_dqi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WNS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dvc_checkin_container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$c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F4F7FA"/>
                </a:solidFill>
                <a:latin typeface="Consolas"/>
              </a:rPr>
              <a:t>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427427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7727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484.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step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容器：floorplan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place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cts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route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postroute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签核汇总（WNS）：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</a:t>
            </a:r>
            <a:r>
              <a:rPr sz="1150">
                <a:solidFill>
                  <a:srgbClr val="F4F7FA"/>
                </a:solidFill>
                <a:latin typeface="Consolas"/>
              </a:rPr>
              <a:t>tt_0p80V_25C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-0.021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</a:t>
            </a:r>
            <a:r>
              <a:rPr sz="1150">
                <a:solidFill>
                  <a:srgbClr val="F4F7FA"/>
                </a:solidFill>
                <a:latin typeface="Consolas"/>
              </a:rPr>
              <a:t>ss_0p72V_125C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-0.152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</a:t>
            </a:r>
            <a:r>
              <a:rPr sz="1150">
                <a:solidFill>
                  <a:srgbClr val="F4F7FA"/>
                </a:solidFill>
                <a:latin typeface="Consolas"/>
              </a:rPr>
              <a:t>ff_0p88V_m40C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-0.004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</a:t>
            </a:r>
            <a:r>
              <a:rPr sz="1150">
                <a:solidFill>
                  <a:srgbClr val="F4F7FA"/>
                </a:solidFill>
                <a:latin typeface="Consolas"/>
              </a:rPr>
              <a:t>mc_mmcc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-0.087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5167884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5405628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两个 foreach 用了同一套命令 —— 说明容器粒度是自由的吗？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评审时你会先看哪个 corner？为什么（最差角驱动结论）？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M8 · lab09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M6-M7 · 功耗签核与 golden 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最后一步：把交付凭据一次生齐。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2728569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lab09_scenario.csh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20738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dvc_create_folder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P3-final/chip/700-TAPEOUT/2021_0818-golden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$LAB_DATA/cpu.v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chip.v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WNS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-0.008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DRC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0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dvc_set_dqi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:version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LVS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PASS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dvc_checkin_version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2021_0818-golden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dvc_list_project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N7A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--recursive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&gt;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out/lab09_manifest.txt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dvc_set_env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--server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NETLIST_STATE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FROZEN_2021_0818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178323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1285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488.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manifest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条目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9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状态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FROZEN_2021_0818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全项目条目数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486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修订号进度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427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(</a:t>
            </a:r>
            <a:r>
              <a:rPr sz="1150">
                <a:solidFill>
                  <a:srgbClr val="F4F7FA"/>
                </a:solidFill>
                <a:latin typeface="Consolas"/>
              </a:rPr>
              <a:t>verify.csh</a:t>
            </a:r>
            <a:r>
              <a:rPr sz="1150">
                <a:solidFill>
                  <a:srgbClr val="F4F7FA"/>
                </a:solidFill>
                <a:latin typeface="Consolas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793208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5030952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manifest 是否覆盖每个容器？抽查两行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状态变量是否随 checkin_project 入库？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收尾 · 用一条命令验收整个剧本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verify.csh 不看屏幕、只问仓库，是本课程的「交活标准」。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88879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verify.csh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234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csh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verify.csh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326440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26096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OK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phase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P1-trial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OK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phase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P2-stable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OK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phase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P3-final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OK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P2-stable/cpu/400-APR/2021_0512-impl005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OK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P2-stable/cpu/500-TIMING/2021_0610-rc1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OK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P3-final/chip/700-TAPEOUT/2021_0818-golden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OK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golden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的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已入库，WNS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-0.008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OK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F4F7FA"/>
                </a:solidFill>
                <a:latin typeface="Consolas"/>
              </a:rPr>
              <a:t>接收方可列出：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P1-trial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P2-stable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P3-final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全项目条目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486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,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修订号进度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5044440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5282184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你的项目该验哪几层？（把断言改成自己的路径）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把 verify 接进 CI / 周会前脚本，谁来做？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SUMMARY · 本模块小结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M8 · 带走这四句话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077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69034"/>
            <a:ext cx="530352" cy="274320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2389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68732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整条剧本只用过 14 支命令 —— DVC 的复杂度在规范，不在命令数量。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16861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71725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335149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循环 + 占位符 + :container 让流程脚本短到可以放进 EDA wrapper。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64687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19551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2982975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结课标准是 verify.csh 全 OK，而不是「我都操作过了」。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12514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66737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3080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把 lab09 换成你们的模块名与 corner 表，就是你们的项目剧本。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351781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534661"/>
            <a:ext cx="1105783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9A63C"/>
                </a:solidFill>
                <a:latin typeface="Arial"/>
              </a:rPr>
              <a:t>下一模块：M9 · 运维：清理、恢复、迁移与权限审计。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834640" cy="14630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194560" cy="29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97A6"/>
                </a:solidFill>
                <a:latin typeface="Consolas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2194560" cy="118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E9A63C"/>
                </a:solidFill>
                <a:latin typeface="Arial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051560"/>
            <a:ext cx="8046720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M09 · 让仓库活得比项目久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8138160" cy="636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4F7FA"/>
                </a:solidFill>
                <a:latin typeface="Arial"/>
              </a:rPr>
              <a:t>运维：备份、迁移、恢复与权限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468880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2523744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52928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cleanup 恢复、peg 找回、dump/load 迁移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578098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3632962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看得见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62146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migrated/svn 可被同样的 dvc 命令读取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687316"/>
            <a:ext cx="84536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4742180"/>
            <a:ext cx="84536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带得走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071364"/>
            <a:ext cx="8138160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6D0DA"/>
                </a:solidFill>
                <a:latin typeface="Arial"/>
              </a:rPr>
              <a:t>备份节奏与权限矩阵模板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6309360"/>
            <a:ext cx="8138160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本页是本模块的地图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COMMAND ·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dvc_remove_* 家族：删除的三种范围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4170"/>
            <a:ext cx="58978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9A63C"/>
                </a:solidFill>
                <a:latin typeface="Consolas"/>
              </a:rPr>
              <a:t>dvc_remove_version &lt;版本&gt;  |  dvc_remove_container &lt;容器&gt;  |  dvc_remove_folder &lt;DVC_PATH&gt;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93112"/>
            <a:ext cx="5897880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33883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参数 / 选项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33883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04007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640584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remove_version / remove_folder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640584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删除版本层及以下（服务器提交）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896615"/>
            <a:ext cx="5897880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933191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remove_container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933191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同时 rm -fr 本地目录 + svn remove 服务器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189224"/>
            <a:ext cx="5897880" cy="292608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225800"/>
            <a:ext cx="181051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remove_project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3225800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5FC8BC"/>
                </a:solidFill>
                <a:latin typeface="Consolas"/>
              </a:rPr>
              <a:t>rm -rf &lt;SVN_ROOT&gt;/&lt;项目&gt; —— 连历史一起毁掉！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481832"/>
            <a:ext cx="5897880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628136"/>
            <a:ext cx="5897880" cy="371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200">
                <a:solidFill>
                  <a:srgbClr val="C6D0DA"/>
                </a:solidFill>
                <a:latin typeface="Arial"/>
              </a:rPr>
              <a:t>废弃试验版本、下线旧阶段时用；前两种是 svn remove（提交删除，历史保留）。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1614170"/>
            <a:ext cx="4937760" cy="2201722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2007" y="181076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5744" y="1769618"/>
            <a:ext cx="438912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真实回显（ lab 运行结果 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7" y="2107946"/>
            <a:ext cx="4535424" cy="1547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dvc_remove_version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2021_0310-lab10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Remove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Project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Design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Version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-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N7A/P1-trial/chip/000-DATA/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</a:t>
            </a:r>
            <a:r>
              <a:rPr sz="1150">
                <a:solidFill>
                  <a:srgbClr val="F4F7FA"/>
                </a:solidFill>
                <a:latin typeface="Consolas"/>
              </a:rPr>
              <a:t>2021_0310-lab10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472.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%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5FC8BC"/>
                </a:solidFill>
                <a:latin typeface="Consolas"/>
              </a:rPr>
              <a:t>dvc_list_stage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000-DATA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2021_0301-foundation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754880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773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坑   </a:t>
            </a:r>
            <a:r>
              <a:rPr sz="1200">
                <a:solidFill>
                  <a:srgbClr val="8A97A6"/>
                </a:solidFill>
                <a:latin typeface="Arial"/>
              </a:rPr>
              <a:t>remove_project 是不可回退操作，仅限 CAD/IT；lab 包故意不去执行它。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M9 · lab10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0-1 · 工作副本卡住与锁残留的处置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现代 SVN 是单一 .svn 布局；DVC 为早期每目录 .svn 而写，两者偶发冲突。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205922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lab10_recovery.csh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4045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F4F7FA"/>
                </a:solidFill>
                <a:latin typeface="Consolas"/>
              </a:rPr>
              <a:t>（症状）svn: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E155037: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Previous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operation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has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finished;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C6D0DA"/>
                </a:solidFill>
                <a:latin typeface="Consolas"/>
              </a:rPr>
              <a:t>              </a:t>
            </a:r>
            <a:r>
              <a:rPr sz="1200">
                <a:solidFill>
                  <a:srgbClr val="F4F7FA"/>
                </a:solidFill>
                <a:latin typeface="Consolas"/>
              </a:rPr>
              <a:t>run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'cleanup'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if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it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was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interrupted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cleanup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_</a:t>
            </a:r>
            <a:r>
              <a:rPr sz="1200">
                <a:solidFill>
                  <a:srgbClr val="C6D0DA"/>
                </a:solidFill>
                <a:latin typeface="Consolas"/>
              </a:rPr>
              <a:t>                    </a:t>
            </a:r>
            <a:r>
              <a:rPr sz="1200">
                <a:solidFill>
                  <a:srgbClr val="7C8998"/>
                </a:solidFill>
                <a:latin typeface="Consolas"/>
              </a:rPr>
              <a:t># 从检出根递归清理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status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_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|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head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$LAB_DATA/cpu.v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keepme.v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dvc_checkin_version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2021_0310-lab10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|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grep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Committed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175031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095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#</a:t>
            </a:r>
            <a:r>
              <a:rPr sz="1150">
                <a:solidFill>
                  <a:srgbClr val="7C8998"/>
                </a:solidFill>
                <a:latin typeface="Consolas"/>
              </a:rPr>
              <a:t>#### STEP 0  现代 SVN 只有一个 .svn：卡住时第一招是 svn cleanup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已对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_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执行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cleanup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keepme.v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两个文件的入库修订号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123867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361611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遇到 E155037 时，你的第一反应是不是「删了重检出」？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为什么在流程脚本里预先 cleanup 是便宜的保险？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38928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572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提示   </a:t>
            </a:r>
            <a:r>
              <a:rPr sz="1200">
                <a:solidFill>
                  <a:srgbClr val="8A97A6"/>
                </a:solidFill>
                <a:latin typeface="Arial"/>
              </a:rPr>
              <a:t>结论：先 svn cleanup，再考虑重建工作区；不要在项目仓库上做 rm -rf。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M9 · lab10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2 · peg revision：不回滚也能找回被删文件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删除历史仍在。找回单个文件，比回滚整个目录安全得多。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2260396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lab10_recovery.csh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6056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dvc_delete_object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keepme.sdc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dvc_commit_container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.</a:t>
            </a:r>
            <a:r>
              <a:rPr sz="1200">
                <a:solidFill>
                  <a:srgbClr val="C6D0DA"/>
                </a:solidFill>
                <a:latin typeface="Consolas"/>
              </a:rPr>
              <a:t>       </a:t>
            </a:r>
            <a:r>
              <a:rPr sz="1200">
                <a:solidFill>
                  <a:srgbClr val="7C8998"/>
                </a:solidFill>
                <a:latin typeface="Consolas"/>
              </a:rPr>
              <a:t># 删除已生效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info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--show-item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last-changed-revision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$SVN_URL/N7A/.../keepme.v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cat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$SVN_URL/.../keepme.sdc@449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&gt;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recovered.sdc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copy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$SVN_URL/.../keepme.sdc@449</a:t>
            </a:r>
            <a:r>
              <a:rPr sz="1200">
                <a:solidFill>
                  <a:srgbClr val="C6D0DA"/>
                </a:solidFill>
                <a:latin typeface="Consolas"/>
              </a:rPr>
              <a:t>  </a:t>
            </a:r>
            <a:r>
              <a:rPr sz="1200">
                <a:solidFill>
                  <a:srgbClr val="F4F7FA"/>
                </a:solidFill>
                <a:latin typeface="Consolas"/>
              </a:rPr>
              <a:t>./keepme.sdc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commit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-m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restore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427427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7727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keepme.sdc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Deleting</a:t>
            </a:r>
            <a:r>
              <a:rPr sz="1150">
                <a:solidFill>
                  <a:srgbClr val="C6D0DA"/>
                </a:solidFill>
                <a:latin typeface="Consolas"/>
              </a:rPr>
              <a:t>       </a:t>
            </a:r>
            <a:r>
              <a:rPr sz="1150">
                <a:solidFill>
                  <a:srgbClr val="F4F7FA"/>
                </a:solidFill>
                <a:latin typeface="Consolas"/>
              </a:rPr>
              <a:t>:version/keepme.sdc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Committed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450.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---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服务器现在还有几个文件：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</a:t>
            </a:r>
            <a:r>
              <a:rPr sz="1150">
                <a:solidFill>
                  <a:srgbClr val="F4F7FA"/>
                </a:solidFill>
                <a:latin typeface="Consolas"/>
              </a:rPr>
              <a:t>恢复字节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221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A</a:t>
            </a:r>
            <a:r>
              <a:rPr sz="1150">
                <a:solidFill>
                  <a:srgbClr val="C6D0DA"/>
                </a:solidFill>
                <a:latin typeface="Consolas"/>
              </a:rPr>
              <a:t>         </a:t>
            </a:r>
            <a:r>
              <a:rPr sz="1150">
                <a:solidFill>
                  <a:srgbClr val="F4F7FA"/>
                </a:solidFill>
                <a:latin typeface="Consolas"/>
              </a:rPr>
              <a:t>_/P1-trial/chip/000-DATA/2021_0310-lab10/keepme.sdc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恢复后文件数：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325035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562779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URL@REV 与 -r REV 何时不等价？（peg 决定路径历史起点）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恢复之后要不要再 checkin？（要，别人才能看到）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STEP · M9 · lab10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F7FA"/>
                </a:solidFill>
                <a:latin typeface="Arial"/>
              </a:rPr>
              <a:t>STEP 3 · 整库备份与迁移（dump / load）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7152"/>
            <a:ext cx="5852160" cy="321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6D0DA"/>
                </a:solidFill>
                <a:latin typeface="Arial"/>
              </a:rPr>
              <a:t>换服务器、给合作方离线包、容灾存档，都用这一条路。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64639"/>
            <a:ext cx="5989320" cy="2059228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261235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220087"/>
            <a:ext cx="54406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 · lab10_recovery.csh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58415"/>
            <a:ext cx="5586983" cy="14045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svnadmin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dump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$SVN_ROOT/N7A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&gt;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N7A.dump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gzip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-1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N7A.dump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svnadmin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create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$TRAIN_ROOT/migrated/svn/N7A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gunzip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-c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N7A.dump.gz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|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svnadmin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load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migrated/svn/N7A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dvc_set_env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SVN_ROOT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D8A65E"/>
                </a:solidFill>
                <a:latin typeface="Consolas"/>
              </a:rPr>
              <a:t>$TRAIN_ROOT/migrated/svn</a:t>
            </a:r>
          </a:p>
          <a:p>
            <a:pPr>
              <a:spcAft>
                <a:spcPts val="240"/>
              </a:spcAft>
            </a:pPr>
            <a:r>
              <a:rPr sz="1200">
                <a:solidFill>
                  <a:srgbClr val="7C8998"/>
                </a:solidFill>
                <a:latin typeface="Consolas"/>
              </a:rPr>
              <a:t>%</a:t>
            </a:r>
            <a:r>
              <a:rPr sz="1200">
                <a:solidFill>
                  <a:srgbClr val="7C8998"/>
                </a:solidFill>
                <a:latin typeface="Consolas"/>
              </a:rPr>
              <a:t> </a:t>
            </a:r>
            <a:r>
              <a:rPr sz="1200">
                <a:solidFill>
                  <a:srgbClr val="5FC8BC"/>
                </a:solidFill>
                <a:latin typeface="Consolas"/>
              </a:rPr>
              <a:t>dvc_list_project</a:t>
            </a:r>
            <a:r>
              <a:rPr sz="1200">
                <a:solidFill>
                  <a:srgbClr val="C6D0DA"/>
                </a:solidFill>
                <a:latin typeface="Consolas"/>
              </a:rPr>
              <a:t> </a:t>
            </a:r>
            <a:r>
              <a:rPr sz="1200">
                <a:solidFill>
                  <a:srgbClr val="F4F7FA"/>
                </a:solidFill>
                <a:latin typeface="Consolas"/>
              </a:rPr>
              <a:t>N7A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1597152"/>
            <a:ext cx="4864608" cy="216880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1793748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752600"/>
            <a:ext cx="4315968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执行回显（沙箱实录）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090928"/>
            <a:ext cx="4462272" cy="15140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*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Dumped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revision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470.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dump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压缩后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6884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KB，修订总数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471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---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迁移后的仓库直接可被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dvc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读取（换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SVN_ROOT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而已）：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INFO: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SVN_URL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file:///tmp/qwenwork/train/dvc-labs/train/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C6D0DA"/>
                </a:solidFill>
                <a:latin typeface="Consolas"/>
              </a:rPr>
              <a:t>      </a:t>
            </a:r>
            <a:r>
              <a:rPr sz="1150">
                <a:solidFill>
                  <a:srgbClr val="F4F7FA"/>
                </a:solidFill>
                <a:latin typeface="Consolas"/>
              </a:rPr>
              <a:t>migrated/svn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-&gt;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F4F7FA"/>
                </a:solidFill>
                <a:latin typeface="Consolas"/>
              </a:rPr>
              <a:t>P1-trial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P2-stable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P3-final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123867"/>
            <a:ext cx="4846320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63C"/>
                </a:solidFill>
                <a:latin typeface="Consolas"/>
              </a:rPr>
              <a:t>检查点（学员自己回答）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361611"/>
            <a:ext cx="4864608" cy="592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迁移需要重建 authz / 重启 svnserve 吗？（要，conf 不在 dump 里）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FC8BC"/>
                </a:solidFill>
                <a:latin typeface="Consolas"/>
              </a:rPr>
              <a:t>□  </a:t>
            </a:r>
            <a:r>
              <a:rPr sz="1100">
                <a:solidFill>
                  <a:srgbClr val="C6D0DA"/>
                </a:solidFill>
                <a:latin typeface="Arial"/>
              </a:rPr>
              <a:t>你的团队 dump 的节奏与保留策略是什么？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38928"/>
            <a:ext cx="4114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572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提示   </a:t>
            </a:r>
            <a:r>
              <a:rPr sz="1200">
                <a:solidFill>
                  <a:srgbClr val="8A97A6"/>
                </a:solidFill>
                <a:latin typeface="Arial"/>
              </a:rPr>
              <a:t>dump 只含版本数据，不含 conf/ —— 迁移后权限必须重配，这是最常见的“迁完不能用”。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OPS · 例行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运维清单：谁、多久、做什么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083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298859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7273" y="1696466"/>
            <a:ext cx="150003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频率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8479" y="1696466"/>
            <a:ext cx="17126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负责人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2336" y="1696466"/>
            <a:ext cx="405184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验证方式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61642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98218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svnadmin dump + 异地存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7273" y="1998218"/>
            <a:ext cx="150003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每日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8479" y="1998218"/>
            <a:ext cx="171268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2336" y="1998218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dump 大小与修订数比对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73998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310574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authz 复核（离组人员清权）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7273" y="2310574"/>
            <a:ext cx="150003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每周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8479" y="2310574"/>
            <a:ext cx="171268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CAD + 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2336" y="2310574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 list 以该账号试读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86355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622931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版本清点（无用试验版）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7273" y="2622931"/>
            <a:ext cx="150003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每里程碑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8479" y="2622931"/>
            <a:ext cx="171268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设计经理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2336" y="2622931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dvc_list_stage -v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898711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2935287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工作副本 cleanup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7273" y="2935287"/>
            <a:ext cx="150003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卡顿时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8479" y="2935287"/>
            <a:ext cx="171268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使用者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2336" y="2935287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 status 无.lock 报错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211068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3247644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仓库升级 / SVN 版本变更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7273" y="3247644"/>
            <a:ext cx="150003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半年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8479" y="3247644"/>
            <a:ext cx="171268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2336" y="3247644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make bin + lab01~lab08 回归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523424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3560000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交接包（dump 或 golden 快照）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7273" y="3560000"/>
            <a:ext cx="150003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每次交付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8479" y="3560000"/>
            <a:ext cx="171268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PM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2336" y="3560000"/>
            <a:ext cx="405184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verify.csh + manifest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835781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4110100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4128388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运维动作也要「可验证」：每一条都配一个能跑的检查，而不是写进流程文档就完事。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SUMMARY · 本模块小结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M9 · 带走这四句话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084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69034"/>
            <a:ext cx="530352" cy="274320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2389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68732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E155037 先 svn cleanup；重建工作区是第二选择，不是第一选择。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16861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71725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335149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删除是提交，不是毁灭：URL@REV 能找回任何东西。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64687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19551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2982975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dump/load 换的是数据不动语义；conf/ 与权限必须重配。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12514"/>
            <a:ext cx="530352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667378"/>
            <a:ext cx="530352" cy="2701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F7FA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30802"/>
            <a:ext cx="9923983" cy="355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remove_project 是唯一不可回的操作，必须只握在 CAD 手里。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351781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534661"/>
            <a:ext cx="1105783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9A63C"/>
                </a:solidFill>
                <a:latin typeface="Arial"/>
              </a:rPr>
              <a:t>下一模块：附录 · 命令地图、错误对照、随堂测验。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APPENDIX · 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命令地图 ①：建与配置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085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44771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命令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5828" y="1696466"/>
            <a:ext cx="51151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2097" y="1696466"/>
            <a:ext cx="86208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模块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61642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998218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(‘dvc_init_server’,)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5828" y="1998218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服务器启停 / 模式切换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2097" y="1998218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72538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309114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(‘dvc_get_system’,)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5828" y="2309114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查版本与安装路径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2097" y="2309114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83434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620010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(‘dvc_set_env / dvc_get_env’,)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5828" y="2620010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上下文变量读写（local/global/server）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2097" y="2620010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894330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930906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(‘dvc_set_server / dvc_get_server’,)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5828" y="2930906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服务器配置与 SVN_URL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2097" y="2930906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05226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241802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(‘dvc_set_path’,)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5828" y="3241802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重设 DVC_HOME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62097" y="3241802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516122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3552698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(‘dvc_set_project / dvc_get_project’,)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5828" y="3552698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当前项目指针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2097" y="3552698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27017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863593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(‘dvc_set_folder / dvc_get_folder’,)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5828" y="3863593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四层路径（design 同义）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62097" y="3863593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37914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4174490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(‘dvc_set_container / dvc_get_container’,)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5828" y="4174490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当前容器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62097" y="4174490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448810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4485386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(‘dvc_create_project’,)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5828" y="4485386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建项目仓库（含 conf 与元数据）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62097" y="4485386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59706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4796282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(‘dvc_create_phase / block / stage / version’,)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45828" y="4796282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逐层建目录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62097" y="4796282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5070602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" y="5107178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(‘dvc_create_folder / create_design’,)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45828" y="5107178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一次铺四层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62097" y="5107178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5381498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" y="5418074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(‘dvc_create_container’,)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45828" y="5418074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建容器（并已检出）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62097" y="5418074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5692394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APPENDIX · 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命令地图 ②：检出与查询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086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44771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命令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5828" y="1696466"/>
            <a:ext cx="51151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2097" y="1696466"/>
            <a:ext cx="86208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模块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61642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998218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(‘dvc_checkout_project’,)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5828" y="1998218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挂项目到工作区（默认 files 深度）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2097" y="1998218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72538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309114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(‘dvc_checkout_phase / block / stage / version’,)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5828" y="2309114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逐层检出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2097" y="2309114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83434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620010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(‘dvc_checkout_folder / design’,)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5828" y="2620010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四层路径一次检出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2097" y="2620010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894330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930906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(‘dvc_checkout_container’,)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5828" y="2930906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只取一个容器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2097" y="2930906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05226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241802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(‘dvc_checkout_dvc_path’,)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5828" y="3241802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底层检出（重建链接）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62097" y="3241802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516122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3552698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(‘dvc_list_project / phase / block’,)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5828" y="3552698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问服务器：顶层结构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2097" y="3552698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27017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863593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(‘dvc_list_stage / version / container’,)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5828" y="3863593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看版本、容器与对象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62097" y="3863593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37914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4174490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(‘dvc_list_folder / design’,)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5828" y="4174490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本地目录树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62097" y="4174490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448810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4485386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(‘dvc_list_dvc_path’,)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5828" y="4485386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任意 DVC 路径的内容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62097" y="4485386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59706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APPENDIX · 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命令地图 ③：对象与提交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087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44771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命令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5828" y="1696466"/>
            <a:ext cx="51151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2097" y="1696466"/>
            <a:ext cx="86208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模块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61642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998218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(‘dvc_copy_object’,)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5828" y="1998218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实体收入容器（可改名）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2097" y="1998218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72538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309114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(‘dvc_link_object’,)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5828" y="2309114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以链接收录（仅本机有效）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2097" y="2309114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83434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620010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(‘dvc_rename_object’,)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5828" y="2620010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保留历史的重命名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2097" y="2620010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894330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930906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(‘dvc_delete_object’,)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5828" y="2930906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从容器删除（可多个）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2097" y="2930906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05226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241802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(‘dvc_update_container’,)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5828" y="3241802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拉取别人的变更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62097" y="3241802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516122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3552698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(‘dvc_commit_container’,)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5828" y="3552698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只提交已跟踪变更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2097" y="3552698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27017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863593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(‘dvc_checkin_container’,)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5828" y="3863593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add + commit 容器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62097" y="3863593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37914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4174490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(‘dvc_checkin_version’,)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5828" y="4174490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版本 + 元数据入库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62097" y="4174490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448810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4485386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(‘dvc_checkin_folder / design’,)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5828" y="4485386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逐级提交整条路径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62097" y="4485386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59706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4796282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(‘dvc_clean_container’,)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45828" y="4796282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清空容器（历史仍在）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62097" y="4796282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5070602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APPENDIX · 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命令地图 ④：指标与清理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088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44771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命令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5828" y="1696466"/>
            <a:ext cx="51151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2097" y="1696466"/>
            <a:ext cx="86208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模块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61642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998218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(‘dvc_set_dqi / dvc_get_dqi’,)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5828" y="1998218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写读质量指标（支持分组与导出）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2097" y="1998218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72538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309114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(‘dvc_remove_container’,)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5828" y="2309114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删容器（本地 + 服务器）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2097" y="2309114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83434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620010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(‘dvc_remove_version’,)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5828" y="2620010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删版本（历史保留）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2097" y="2620010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894330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930906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(‘dvc_remove_folder / design’,)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5828" y="2930906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按 DVC_PATH 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2097" y="2930906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05226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241802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(‘dvc_remove_phase / block / stage’,)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5828" y="3241802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删上层结构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62097" y="3241802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516122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3552698"/>
            <a:ext cx="44771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(‘dvc_remove_project’,)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5828" y="3552698"/>
            <a:ext cx="51151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物理删库（禁止随意使用）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2097" y="3552698"/>
            <a:ext cx="86208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M9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27017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APPENDIX · 排错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回显与报错对照表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089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390602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屏幕上看到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4709" y="1696466"/>
            <a:ext cx="337946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5343" y="1696466"/>
            <a:ext cx="31688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怎么办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61642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998218"/>
            <a:ext cx="390602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SETP: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4709" y="1998218"/>
            <a:ext cx="33794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写变量成功（原版拼写）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5343" y="1998218"/>
            <a:ext cx="3168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看值，不是报错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72538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309114"/>
            <a:ext cx="390602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DQI: 名 = 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4709" y="2309114"/>
            <a:ext cx="33794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指标写入成功回显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5343" y="2309114"/>
            <a:ext cx="3168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可被脚本解析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83434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620010"/>
            <a:ext cx="390602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INFO: Exist Project Design …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4709" y="2620010"/>
            <a:ext cx="33794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该层已存在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5343" y="2620010"/>
            <a:ext cx="3168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create 幂等，不是错误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894330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930906"/>
            <a:ext cx="390602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SVN_ROOT: Undefined variable.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4709" y="2930906"/>
            <a:ext cx="33794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没 source 环境档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5343" y="2930906"/>
            <a:ext cx="3168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csh 下 source env.csh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05226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241802"/>
            <a:ext cx="390602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ERROR: can not find container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4709" y="3241802"/>
            <a:ext cx="33794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容器不存在或上下文错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5343" y="3241802"/>
            <a:ext cx="3168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dvc_list_version 核对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516122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3552698"/>
            <a:ext cx="390602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ERROR: Cannot find Project Design Path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4709" y="3552698"/>
            <a:ext cx="33794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路径/上下文不一致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5343" y="3552698"/>
            <a:ext cx="3168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dvc_get_folder --info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27017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863593"/>
            <a:ext cx="390602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A 目录里的 : 链接不见了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4709" y="3863593"/>
            <a:ext cx="33794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非 checkout 目录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5343" y="3863593"/>
            <a:ext cx="3168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回到工作区根再操作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37914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4174490"/>
            <a:ext cx="390602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E155037 … run ‘cleanup’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4709" y="4174490"/>
            <a:ext cx="33794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工作副本锁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5343" y="4174490"/>
            <a:ext cx="3168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svn cleanup &lt;检出根&gt;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448810"/>
            <a:ext cx="11057839" cy="31089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4485386"/>
            <a:ext cx="390602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E220004: Access denied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74709" y="4485386"/>
            <a:ext cx="33794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authz 未按路径授权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5343" y="4485386"/>
            <a:ext cx="3168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改 conf/authz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59706"/>
            <a:ext cx="11057839" cy="31089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4796282"/>
            <a:ext cx="390602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E170001: Can’t get password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74709" y="4796282"/>
            <a:ext cx="33794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凭据未缓存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55343" y="4796282"/>
            <a:ext cx="3168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C6D0DA"/>
                </a:solidFill>
                <a:latin typeface="Arial"/>
              </a:rPr>
              <a:t>先 svn list --username 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5070602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5344922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5363209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把这张表打印贴在工位：DVC 的报错几乎都能在这里三分钟内对上。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QUIZ · 随堂测验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33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4F7FA"/>
                </a:solidFill>
                <a:latin typeface="Arial"/>
              </a:rPr>
              <a:t>十道题，答不出来就回对应 lab 重跑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4884"/>
            <a:ext cx="986911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97A6"/>
                </a:solidFill>
                <a:latin typeface="Arial"/>
              </a:rPr>
              <a:t>规则：先自己判断 20 秒，再举手；正确答案在右半页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36470"/>
            <a:ext cx="5120640" cy="1603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400">
                <a:solidFill>
                  <a:srgbClr val="C6D0DA"/>
                </a:solidFill>
                <a:latin typeface="Arial"/>
              </a:rPr>
              <a:t>Q1-Q3  环境、目录与检出（M1-M3）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400">
                <a:solidFill>
                  <a:srgbClr val="C6D0DA"/>
                </a:solidFill>
                <a:latin typeface="Arial"/>
              </a:rPr>
              <a:t>Q4-Q6  对象、容器与提交（M4-M5）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400">
                <a:solidFill>
                  <a:srgbClr val="C6D0DA"/>
                </a:solidFill>
                <a:latin typeface="Arial"/>
              </a:rPr>
              <a:t>Q7-Q8  指标与共享（M6-M7）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E9A63C"/>
                </a:solidFill>
                <a:latin typeface="Consolas"/>
              </a:rPr>
              <a:t>—  </a:t>
            </a:r>
            <a:r>
              <a:rPr sz="1400">
                <a:solidFill>
                  <a:srgbClr val="C6D0DA"/>
                </a:solidFill>
                <a:latin typeface="Arial"/>
              </a:rPr>
              <a:t>Q9-Q10 运维与红线（M9）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236470"/>
            <a:ext cx="5340096" cy="3977639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236470"/>
            <a:ext cx="5340096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09622"/>
            <a:ext cx="4974336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验收标准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39390"/>
            <a:ext cx="4974336" cy="14676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50" b="0" i="0">
                <a:solidFill>
                  <a:srgbClr val="12181F"/>
                </a:solidFill>
                <a:latin typeface="Arial"/>
              </a:rPr>
              <a:t>每个模块结束都有 verify 动作：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12181F"/>
                </a:solidFill>
                <a:latin typeface="Arial"/>
              </a:rPr>
              <a:t>仓库里出现该出现的目录 / 文件 / 指标；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12181F"/>
                </a:solidFill>
                <a:latin typeface="Arial"/>
              </a:rPr>
              <a:t>结课标准 = csh verify.csh 全 OK，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12181F"/>
                </a:solidFill>
                <a:latin typeface="Arial"/>
              </a:rPr>
              <a:t>并且每人能独立跑完 lab08 的接收方流程。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QUIZ · 随堂测验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65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4F7FA"/>
                </a:solidFill>
                <a:latin typeface="Arial"/>
              </a:rPr>
              <a:t>第 1 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9692"/>
            <a:ext cx="6583680" cy="6530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4F7FA"/>
                </a:solidFill>
                <a:latin typeface="Arial"/>
              </a:rPr>
              <a:t>同事在他机器上 dvc_list_container，看不到你刚 copy 的网表。最可能的原因是？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35606"/>
            <a:ext cx="6583680" cy="1416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A. dvc_copy_object 用错了，应该用 dvc_link_object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B. 你只做了 copy（svn add），还没 commit / checkin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C. 对方需要加 --recursive 才能看到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D. SVN 服务需要重启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691132"/>
            <a:ext cx="3703320" cy="356616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691132"/>
            <a:ext cx="370332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764284"/>
            <a:ext cx="333756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答案与理由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052"/>
            <a:ext cx="33832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8"/>
                </a:solidFill>
                <a:latin typeface="Arial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132"/>
            <a:ext cx="33832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2181F"/>
                </a:solidFill>
                <a:latin typeface="Arial"/>
              </a:rPr>
              <a:t>copy / link / rename / delete 只修改本地工作副本；list_container 读的是服务器内容 —— 中间缺一层 checkin。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QUIZ · 随堂测验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65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4F7FA"/>
                </a:solidFill>
                <a:latin typeface="Arial"/>
              </a:rPr>
              <a:t>第 2 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9692"/>
            <a:ext cx="6583680" cy="3722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4F7FA"/>
                </a:solidFill>
                <a:latin typeface="Arial"/>
              </a:rPr>
              <a:t>要给外部封装团队 GDS + 网表 + 签核结论。下面哪种做法一定错？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54809"/>
            <a:ext cx="6583680" cy="1416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A. 建 golden 版本，全部 dvc_copy_object 后 checkin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B. 用 dvc_link_object 收 GDS 以节省仓库空间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C. 用 dvc_get_dqi --html 一起给出质量快照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D. 用 authz 把该路径设为对方只读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691132"/>
            <a:ext cx="3703320" cy="356616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691132"/>
            <a:ext cx="370332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764284"/>
            <a:ext cx="333756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答案与理由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052"/>
            <a:ext cx="33832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8"/>
                </a:solidFill>
                <a:latin typeface="Arial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132"/>
            <a:ext cx="3383280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2181F"/>
                </a:solidFill>
                <a:latin typeface="Arial"/>
              </a:rPr>
              <a:t>link 存的是本机 realpath 绝对路径，对方 checkout 后链接指向空 —— 跨边界一律实体 copy。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QUIZ · 随堂测验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65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4F7FA"/>
                </a:solidFill>
                <a:latin typeface="Arial"/>
              </a:rPr>
              <a:t>第 3 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9692"/>
            <a:ext cx="6583680" cy="3722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4F7FA"/>
                </a:solidFill>
                <a:latin typeface="Arial"/>
              </a:rPr>
              <a:t>在 400-APR 下想为同一模块再建 3 个 corner 的结果集，最合理的是？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54809"/>
            <a:ext cx="6583680" cy="1416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A. 再建 3 个 Stage：400-APR-TT、400-APR-SS …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B. 再建 3 个 Version：2021_0610-tt、-ss …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C. 在同一 Version 下建 3 个 Container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D. 把三份结果分别放进 report/ 的子目录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691132"/>
            <a:ext cx="3703320" cy="356616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691132"/>
            <a:ext cx="370332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764284"/>
            <a:ext cx="333756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答案与理由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052"/>
            <a:ext cx="33832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8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132"/>
            <a:ext cx="3383280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2181F"/>
                </a:solidFill>
                <a:latin typeface="Arial"/>
              </a:rPr>
              <a:t>Stage = 工具流程节点，Version = 一次有意义的跑批，corner 属评审粒度 —— 容器最合适。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QUIZ · 随堂测验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65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4F7FA"/>
                </a:solidFill>
                <a:latin typeface="Arial"/>
              </a:rPr>
              <a:t>第 4 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9692"/>
            <a:ext cx="6583680" cy="3722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4F7FA"/>
                </a:solidFill>
                <a:latin typeface="Arial"/>
              </a:rPr>
              <a:t>要把签核 WNS = -0.008 作为团队资产留下，正确动作顺序是？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54809"/>
            <a:ext cx="6583680" cy="1416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A. dvc_set_dqi 就够了，指标自动入库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B. dvc_set_dqi → dvc_checkin_version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C. dvc_set_dqi → dvc_commit_container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D. 写进邮件，让 PM 存档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691132"/>
            <a:ext cx="3703320" cy="356616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691132"/>
            <a:ext cx="370332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764284"/>
            <a:ext cx="333756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答案与理由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052"/>
            <a:ext cx="33832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8"/>
                </a:solidFill>
                <a:latin typeface="Arial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132"/>
            <a:ext cx="3383280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2181F"/>
                </a:solidFill>
                <a:latin typeface="Arial"/>
              </a:rPr>
              <a:t>指标写在 .dqc/；只有 checkin_version / checkin_folder 会把 .dqc/.dvc/.htm 一起提交。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QUIZ · 随堂测验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65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4F7FA"/>
                </a:solidFill>
                <a:latin typeface="Arial"/>
              </a:rPr>
              <a:t>第 5 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9692"/>
            <a:ext cx="6583680" cy="3722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4F7FA"/>
                </a:solidFill>
                <a:latin typeface="Arial"/>
              </a:rPr>
              <a:t>误提交了几百 MB 的 cache/ 目录。开销最小、历史最干净的处理是？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54809"/>
            <a:ext cx="6583680" cy="1416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A. dvc_remove_version 整个版本作废重建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B. dvc_delete_object cache/ 然后 dvc_commit_container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C. rm -rf 本地 cache 目录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D. 等下次 checkin 自动覆盖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691132"/>
            <a:ext cx="3703320" cy="356616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691132"/>
            <a:ext cx="370332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764284"/>
            <a:ext cx="333756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答案与理由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052"/>
            <a:ext cx="33832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8"/>
                </a:solidFill>
                <a:latin typeface="Arial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132"/>
            <a:ext cx="3383280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2181F"/>
                </a:solidFill>
                <a:latin typeface="Arial"/>
              </a:rPr>
              <a:t>删除也是一次提交（历史仍可追溯）。别毁掉整版；也别只删本机 —— 那对仓库毫无影响。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QUIZ · 随堂测验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65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4F7FA"/>
                </a:solidFill>
                <a:latin typeface="Arial"/>
              </a:rPr>
              <a:t>第 6 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9692"/>
            <a:ext cx="6583680" cy="3722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4F7FA"/>
                </a:solidFill>
                <a:latin typeface="Arial"/>
              </a:rPr>
              <a:t>新人加入，只想拿 CPU 模块 ss 角那一个 corner 的数据。推荐做法是？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54809"/>
            <a:ext cx="6583680" cy="1416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A. checkout_project --recursive 后删掉不要的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B. checkout_folder 到版本，再 dvc_checkout_container ss_0p72V_125C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C. 让对方 svnadmin dump 一次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D. 把你的 _ 目录压缩发过去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691132"/>
            <a:ext cx="3703320" cy="356616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691132"/>
            <a:ext cx="370332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764284"/>
            <a:ext cx="333756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答案与理由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052"/>
            <a:ext cx="33832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8"/>
                </a:solidFill>
                <a:latin typeface="Arial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132"/>
            <a:ext cx="3383280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2181F"/>
                </a:solidFill>
                <a:latin typeface="Arial"/>
              </a:rPr>
              <a:t>DVC 的按需取数就是为这个场景设计：先浏览、再检到一个容器粒度；绝不整库拖取。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QUIZ · 随堂测验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65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4F7FA"/>
                </a:solidFill>
                <a:latin typeface="Arial"/>
              </a:rPr>
              <a:t>第 7 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9692"/>
            <a:ext cx="6583680" cy="3722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4F7FA"/>
                </a:solidFill>
                <a:latin typeface="Arial"/>
              </a:rPr>
              <a:t>关于 file 模式与 svn 模式，哪句是错的？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54809"/>
            <a:ext cx="6583680" cy="1416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A. file 模式要求双方都能读写同一目录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B. svn 模式只需网络可达 + 账号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C. 换模式后，旧的工作副本继续可用，只是 URL 变了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D. DVC 命令在两种模式下用法一致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691132"/>
            <a:ext cx="3703320" cy="356616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691132"/>
            <a:ext cx="370332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764284"/>
            <a:ext cx="333756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答案与理由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052"/>
            <a:ext cx="33832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8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132"/>
            <a:ext cx="3383280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2181F"/>
                </a:solidFill>
                <a:latin typeface="Arial"/>
              </a:rPr>
              <a:t>DVC 命令一致，但工作副本不会跟着改 URL；换模式要 svn cleanup 后重新检出，别复用旧工作树。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QUIZ · 随堂测验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65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4F7FA"/>
                </a:solidFill>
                <a:latin typeface="Arial"/>
              </a:rPr>
              <a:t>第 8 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9692"/>
            <a:ext cx="6583680" cy="3722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4F7FA"/>
                </a:solidFill>
                <a:latin typeface="Arial"/>
              </a:rPr>
              <a:t>Tapeout 两周后，封装组报「你的 GDS 好像有问题」。第一句该问什么？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54809"/>
            <a:ext cx="6583680" cy="1416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A. 你们用的是哪一版？DVC_PATH + 修订号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B. 你们 chmod 是什么权限？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C. 重新发一份给对方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D. 检查 svnserve 是否还在跑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691132"/>
            <a:ext cx="3703320" cy="356616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691132"/>
            <a:ext cx="370332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764284"/>
            <a:ext cx="333756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答案与理由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052"/>
            <a:ext cx="33832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8"/>
                </a:solidFill>
                <a:latin typeface="Arial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132"/>
            <a:ext cx="3383280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2181F"/>
                </a:solidFill>
                <a:latin typeface="Arial"/>
              </a:rPr>
              <a:t>有了 DVC_PATH 与修订号，复现、比对、审计全部有据；这正是把数据入库换来的能力。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QUIZ · 随堂测验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65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4F7FA"/>
                </a:solidFill>
                <a:latin typeface="Arial"/>
              </a:rPr>
              <a:t>第 9 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099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9692"/>
            <a:ext cx="6583680" cy="6530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4F7FA"/>
                </a:solidFill>
                <a:latin typeface="Arial"/>
              </a:rPr>
              <a:t>清理测试环境时执行了 dvc_remove_project，之后需要恢复历史。结论是？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35606"/>
            <a:ext cx="6583680" cy="1416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A. svn list -r &lt;旧修订&gt; 找回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B. 从 dump 备份 load 回来；无备份则无从恢复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C. dvc_checkout_project --force 可以复原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D. 联系 Gitee 支持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691132"/>
            <a:ext cx="3703320" cy="356616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691132"/>
            <a:ext cx="370332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764284"/>
            <a:ext cx="333756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答案与理由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052"/>
            <a:ext cx="33832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8"/>
                </a:solidFill>
                <a:latin typeface="Arial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132"/>
            <a:ext cx="3383280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2181F"/>
                </a:solidFill>
                <a:latin typeface="Arial"/>
              </a:rPr>
              <a:t>remove_project 是 rm -rf &lt;SVN_ROOT&gt;/&lt;项目&gt;，连 SVN 历史一起毁掉。删前必须先 svnadmin dump。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QUIZ · 随堂测验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465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4F7FA"/>
                </a:solidFill>
                <a:latin typeface="Arial"/>
              </a:rPr>
              <a:t>第 10 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9692"/>
            <a:ext cx="6583680" cy="3722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F4F7FA"/>
                </a:solidFill>
                <a:latin typeface="Arial"/>
              </a:rPr>
              <a:t>流程脚本里最推荐的一组收尾动作是？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54809"/>
            <a:ext cx="6583680" cy="16465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A. cp 产出到版本目录 → svn commit -m ok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B. copy/link 对象 → set_dqi 写指标 → checkin_container → list_container 自查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C. checkin_folder 一把梭，不检查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6D0DA"/>
                </a:solidFill>
                <a:latin typeface="Consolas"/>
              </a:rPr>
              <a:t>·  </a:t>
            </a:r>
            <a:r>
              <a:rPr sz="1350">
                <a:solidFill>
                  <a:srgbClr val="C6D0DA"/>
                </a:solidFill>
                <a:latin typeface="Arial"/>
              </a:rPr>
              <a:t>D. 邮件通知别人来拿数据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691132"/>
            <a:ext cx="3703320" cy="356616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691132"/>
            <a:ext cx="370332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764284"/>
            <a:ext cx="333756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答案与理由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052"/>
            <a:ext cx="3383280" cy="550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A38"/>
                </a:solidFill>
                <a:latin typeface="Arial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132"/>
            <a:ext cx="3383280" cy="499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2181F"/>
                </a:solidFill>
                <a:latin typeface="Arial"/>
              </a:rPr>
              <a:t>四步固定：收纳→记录→入库→自查。前一步保证内容，后一步保证可见性，最后一步留下证据。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HOMEWORK · 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十二课时的课后作业（每人一份）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96841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课时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7091" y="1696466"/>
            <a:ext cx="649733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5589" y="1696466"/>
            <a:ext cx="298859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验收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61642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998218"/>
            <a:ext cx="96841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7091" y="1998218"/>
            <a:ext cx="649733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把 env.csh 改成你们项目的真实路径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5589" y="1998218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组员能一次 source 成功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73998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310574"/>
            <a:ext cx="96841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37091" y="2310574"/>
            <a:ext cx="649733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建两个工作区，写出各自 DESIGN_* 差异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5589" y="2310574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dvc_get_env --all 截图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86355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622931"/>
            <a:ext cx="96841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7091" y="2622931"/>
            <a:ext cx="649733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为你们的项目定 4 阶段 / 6 stage 并建出来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5589" y="2622931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dvc_list_project 输出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898711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935287"/>
            <a:ext cx="96841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37091" y="2935287"/>
            <a:ext cx="649733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把一个真实 run 目录的结果收进 2 个容器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5589" y="2935287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dvc_list_container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11068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247644"/>
            <a:ext cx="96841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37091" y="3247644"/>
            <a:ext cx="649733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写 checkin_before.sh：自动清临时物 + 提交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5589" y="3247644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 status 干净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523424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3560000"/>
            <a:ext cx="96841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37091" y="3560000"/>
            <a:ext cx="649733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为你们的关键版本补 6 个指标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5589" y="3560000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dvc_get_dqi --csv 导出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35781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872357"/>
            <a:ext cx="96841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37091" y="3872357"/>
            <a:ext cx="649733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模拟一次对外交付并让对方接手取数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5589" y="3872357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manifest + 对方 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48137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4184713"/>
            <a:ext cx="96841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37091" y="4184713"/>
            <a:ext cx="649733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把 lab09 改造成你们项目的剧本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35589" y="4184713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verify.csh 全 OK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460494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4497070"/>
            <a:ext cx="96841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37091" y="4497070"/>
            <a:ext cx="6497330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做一次 dump/load 演练并核对权限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35589" y="4497070"/>
            <a:ext cx="298859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迁移库可 list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72850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5047170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5065458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建议按模块当场做完一半，剩下的一半作为跨周实践；两周内合并进团队流程文档。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CLOSE · 三条行动项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4F7FA"/>
                </a:solidFill>
                <a:latin typeface="Arial"/>
              </a:rPr>
              <a:t>回到工位后，先做这三件事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47520"/>
            <a:ext cx="1398117" cy="274320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02384"/>
            <a:ext cx="1398117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181F"/>
                </a:solidFill>
                <a:latin typeface="Arial"/>
              </a:rPr>
              <a:t>①  定规范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31568"/>
            <a:ext cx="8314639" cy="329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6D0DA"/>
                </a:solidFill>
                <a:latin typeface="Arial"/>
              </a:rPr>
              <a:t>一次会议敲定 Phase / Block / Stage 与 Version 命名，并把 lab08 的交付三件套写进流程文档。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73756"/>
            <a:ext cx="1398117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928620"/>
            <a:ext cx="1398117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F7FA"/>
                </a:solidFill>
                <a:latin typeface="Arial"/>
              </a:rPr>
              <a:t>②  铺骨架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57804"/>
            <a:ext cx="8314639" cy="329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6D0DA"/>
                </a:solidFill>
                <a:latin typeface="Arial"/>
              </a:rPr>
              <a:t>由设计经理用 dvc_create_folder 铺出本模块的四层路径，当天让全员 checkout 成功。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999992"/>
            <a:ext cx="1398117" cy="27432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54855"/>
            <a:ext cx="1398117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F7FA"/>
                </a:solidFill>
                <a:latin typeface="Arial"/>
              </a:rPr>
              <a:t>③  改脚本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384040"/>
            <a:ext cx="8314639" cy="329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6D0DA"/>
                </a:solidFill>
                <a:latin typeface="Arial"/>
              </a:rPr>
              <a:t>在 EDA run 脚本末尾固定四步：copy/link → set_dqi → checkin_container → list_container。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29200"/>
            <a:ext cx="813175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230368"/>
            <a:ext cx="8131759" cy="29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7A6"/>
                </a:solidFill>
                <a:latin typeface="Arial"/>
              </a:rPr>
              <a:t>配套：dvc-labs 实验包（10 支可执行 lab + verify.csh + 真实回显日志）、《DVC 使用手册》、《DVC 命令参考手册》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793240"/>
            <a:ext cx="2194560" cy="10104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E9A63C"/>
                </a:solidFill>
                <a:latin typeface="Arial"/>
              </a:rPr>
              <a:t>Q&amp;A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890520"/>
            <a:ext cx="2194560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6D0DA"/>
                </a:solidFill>
                <a:latin typeface="Arial"/>
              </a:rPr>
              <a:t>把你的失败案例带来，
我们一起在 lab 里复现它。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LAB PACKAGE · 实验包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33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4F7FA"/>
                </a:solidFill>
                <a:latin typeface="Arial"/>
              </a:rPr>
              <a:t>dvc-labs 里到底有什么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4884"/>
            <a:ext cx="986911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97A6"/>
                </a:solidFill>
                <a:latin typeface="Arial"/>
              </a:rPr>
              <a:t>一支 env、十支 lab、一支自检、一份真实回显日志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45030"/>
            <a:ext cx="6492240" cy="3262579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34162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300478"/>
            <a:ext cx="594360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目录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638806"/>
            <a:ext cx="6089903" cy="26078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dvc-labs/</a:t>
            </a:r>
          </a:p>
          <a:p>
            <a:pPr>
              <a:spcAft>
                <a:spcPts val="24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├──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README.md</a:t>
            </a:r>
            <a:r>
              <a:rPr sz="1100">
                <a:solidFill>
                  <a:srgbClr val="C6D0DA"/>
                </a:solidFill>
                <a:latin typeface="Consolas"/>
              </a:rPr>
              <a:t>          </a:t>
            </a:r>
            <a:r>
              <a:rPr sz="1100">
                <a:solidFill>
                  <a:srgbClr val="F4F7FA"/>
                </a:solidFill>
                <a:latin typeface="Consolas"/>
              </a:rPr>
              <a:t>前置/跑法/限制</a:t>
            </a:r>
          </a:p>
          <a:p>
            <a:pPr>
              <a:spcAft>
                <a:spcPts val="24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├──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env.csh</a:t>
            </a:r>
            <a:r>
              <a:rPr sz="1100">
                <a:solidFill>
                  <a:srgbClr val="C6D0DA"/>
                </a:solidFill>
                <a:latin typeface="Consolas"/>
              </a:rPr>
              <a:t>            </a:t>
            </a:r>
            <a:r>
              <a:rPr sz="1100">
                <a:solidFill>
                  <a:srgbClr val="F4F7FA"/>
                </a:solidFill>
                <a:latin typeface="Consolas"/>
              </a:rPr>
              <a:t>环境变量入口</a:t>
            </a:r>
          </a:p>
          <a:p>
            <a:pPr>
              <a:spcAft>
                <a:spcPts val="24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├──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run_all.csh</a:t>
            </a:r>
            <a:r>
              <a:rPr sz="1100">
                <a:solidFill>
                  <a:srgbClr val="C6D0DA"/>
                </a:solidFill>
                <a:latin typeface="Consolas"/>
              </a:rPr>
              <a:t>        </a:t>
            </a:r>
            <a:r>
              <a:rPr sz="1100">
                <a:solidFill>
                  <a:srgbClr val="F4F7FA"/>
                </a:solidFill>
                <a:latin typeface="Consolas"/>
              </a:rPr>
              <a:t>顺序跑全部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lab</a:t>
            </a:r>
          </a:p>
          <a:p>
            <a:pPr>
              <a:spcAft>
                <a:spcPts val="24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├──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verify.csh</a:t>
            </a:r>
            <a:r>
              <a:rPr sz="1100">
                <a:solidFill>
                  <a:srgbClr val="C6D0DA"/>
                </a:solidFill>
                <a:latin typeface="Consolas"/>
              </a:rPr>
              <a:t>         </a:t>
            </a:r>
            <a:r>
              <a:rPr sz="1100">
                <a:solidFill>
                  <a:srgbClr val="F4F7FA"/>
                </a:solidFill>
                <a:latin typeface="Consolas"/>
              </a:rPr>
              <a:t>只验收仓库内容</a:t>
            </a:r>
          </a:p>
          <a:p>
            <a:pPr>
              <a:spcAft>
                <a:spcPts val="24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├──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data/</a:t>
            </a:r>
            <a:r>
              <a:rPr sz="1100">
                <a:solidFill>
                  <a:srgbClr val="C6D0DA"/>
                </a:solidFill>
                <a:latin typeface="Consolas"/>
              </a:rPr>
              <a:t>              </a:t>
            </a:r>
            <a:r>
              <a:rPr sz="1100">
                <a:solidFill>
                  <a:srgbClr val="F4F7FA"/>
                </a:solidFill>
                <a:latin typeface="Consolas"/>
              </a:rPr>
              <a:t>样本网表/约束/报告</a:t>
            </a:r>
          </a:p>
          <a:p>
            <a:pPr>
              <a:spcAft>
                <a:spcPts val="24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├──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lab01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…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lab05</a:t>
            </a:r>
            <a:r>
              <a:rPr sz="1100">
                <a:solidFill>
                  <a:srgbClr val="C6D0DA"/>
                </a:solidFill>
                <a:latin typeface="Consolas"/>
              </a:rPr>
              <a:t>      </a:t>
            </a:r>
            <a:r>
              <a:rPr sz="1100">
                <a:solidFill>
                  <a:srgbClr val="F4F7FA"/>
                </a:solidFill>
                <a:latin typeface="Consolas"/>
              </a:rPr>
              <a:t>建仓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D8A65E"/>
                </a:solidFill>
                <a:latin typeface="Consolas"/>
              </a:rPr>
              <a:t>/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挂项目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D8A65E"/>
                </a:solidFill>
                <a:latin typeface="Consolas"/>
              </a:rPr>
              <a:t>/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铺目录</a:t>
            </a:r>
          </a:p>
          <a:p>
            <a:pPr>
              <a:spcAft>
                <a:spcPts val="24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│</a:t>
            </a:r>
            <a:r>
              <a:rPr sz="1100">
                <a:solidFill>
                  <a:srgbClr val="C6D0DA"/>
                </a:solidFill>
                <a:latin typeface="Consolas"/>
              </a:rPr>
              <a:t>       </a:t>
            </a:r>
            <a:r>
              <a:rPr sz="1100">
                <a:solidFill>
                  <a:srgbClr val="F4F7FA"/>
                </a:solidFill>
                <a:latin typeface="Consolas"/>
              </a:rPr>
              <a:t>lab01-05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建仓/挂项目/铺目录/检出/对象</a:t>
            </a:r>
          </a:p>
          <a:p>
            <a:pPr>
              <a:spcAft>
                <a:spcPts val="24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├──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lab06-08</a:t>
            </a:r>
            <a:r>
              <a:rPr sz="1100">
                <a:solidFill>
                  <a:srgbClr val="C6D0DA"/>
                </a:solidFill>
                <a:latin typeface="Consolas"/>
              </a:rPr>
              <a:t>    </a:t>
            </a:r>
            <a:r>
              <a:rPr sz="1100">
                <a:solidFill>
                  <a:srgbClr val="F4F7FA"/>
                </a:solidFill>
                <a:latin typeface="Consolas"/>
              </a:rPr>
              <a:t>提交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D8A65E"/>
                </a:solidFill>
                <a:latin typeface="Consolas"/>
              </a:rPr>
              <a:t>/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指标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D8A65E"/>
                </a:solidFill>
                <a:latin typeface="Consolas"/>
              </a:rPr>
              <a:t>/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跨团队共享</a:t>
            </a:r>
          </a:p>
          <a:p>
            <a:pPr>
              <a:spcAft>
                <a:spcPts val="24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├──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lab09、lab10</a:t>
            </a:r>
            <a:r>
              <a:rPr sz="1100">
                <a:solidFill>
                  <a:srgbClr val="C6D0DA"/>
                </a:solidFill>
                <a:latin typeface="Consolas"/>
              </a:rPr>
              <a:t>        </a:t>
            </a:r>
            <a:r>
              <a:rPr sz="1100">
                <a:solidFill>
                  <a:srgbClr val="F4F7FA"/>
                </a:solidFill>
                <a:latin typeface="Consolas"/>
              </a:rPr>
              <a:t>综合剧本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D8A65E"/>
                </a:solidFill>
                <a:latin typeface="Consolas"/>
              </a:rPr>
              <a:t>/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恢复迁移</a:t>
            </a:r>
          </a:p>
          <a:p>
            <a:pPr>
              <a:spcAft>
                <a:spcPts val="24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├──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logs/</a:t>
            </a:r>
            <a:r>
              <a:rPr sz="1100">
                <a:solidFill>
                  <a:srgbClr val="C6D0DA"/>
                </a:solidFill>
                <a:latin typeface="Consolas"/>
              </a:rPr>
              <a:t>              </a:t>
            </a:r>
            <a:r>
              <a:rPr sz="1100">
                <a:solidFill>
                  <a:srgbClr val="F4F7FA"/>
                </a:solidFill>
                <a:latin typeface="Consolas"/>
              </a:rPr>
              <a:t>1157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行真实回显</a:t>
            </a:r>
          </a:p>
          <a:p>
            <a:pPr>
              <a:spcAft>
                <a:spcPts val="240"/>
              </a:spcAft>
            </a:pPr>
            <a:r>
              <a:rPr sz="1100">
                <a:solidFill>
                  <a:srgbClr val="F4F7FA"/>
                </a:solidFill>
                <a:latin typeface="Consolas"/>
              </a:rPr>
              <a:t>└──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train/</a:t>
            </a:r>
            <a:r>
              <a:rPr sz="1100">
                <a:solidFill>
                  <a:srgbClr val="C6D0DA"/>
                </a:solidFill>
                <a:latin typeface="Consolas"/>
              </a:rPr>
              <a:t>             </a:t>
            </a:r>
            <a:r>
              <a:rPr sz="1100">
                <a:solidFill>
                  <a:srgbClr val="F4F7FA"/>
                </a:solidFill>
                <a:latin typeface="Consolas"/>
              </a:rPr>
              <a:t>lab</a:t>
            </a:r>
            <a:r>
              <a:rPr sz="1100">
                <a:solidFill>
                  <a:srgbClr val="C6D0DA"/>
                </a:solidFill>
                <a:latin typeface="Consolas"/>
              </a:rPr>
              <a:t> </a:t>
            </a:r>
            <a:r>
              <a:rPr sz="1100">
                <a:solidFill>
                  <a:srgbClr val="F4F7FA"/>
                </a:solidFill>
                <a:latin typeface="Consolas"/>
              </a:rPr>
              <a:t>产物，可删重跑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145030"/>
            <a:ext cx="4434840" cy="370332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2145030"/>
            <a:ext cx="443484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218182"/>
            <a:ext cx="4069079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三个入口，够用整个课程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647950"/>
            <a:ext cx="4069080" cy="2237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12181F"/>
                </a:solidFill>
                <a:latin typeface="Arial"/>
              </a:rPr>
              <a:t>单课</a:t>
            </a:r>
          </a:p>
          <a:p>
            <a:pPr>
              <a:spcAft>
                <a:spcPts val="500"/>
              </a:spcAft>
            </a:pPr>
            <a:r>
              <a:rPr sz="1150" b="0" i="0">
                <a:solidFill>
                  <a:srgbClr val="12181F"/>
                </a:solidFill>
                <a:latin typeface="Consolas"/>
              </a:rPr>
              <a:t>csh lab05_objects.csh</a:t>
            </a:r>
          </a:p>
          <a:p>
            <a:pPr>
              <a:spcAft>
                <a:spcPts val="300"/>
              </a:spcAft>
            </a:pPr>
            <a:r>
              <a:rPr sz="1250" b="1" i="0">
                <a:solidFill>
                  <a:srgbClr val="12181F"/>
                </a:solidFill>
                <a:latin typeface="Arial"/>
              </a:rPr>
              <a:t>全部</a:t>
            </a:r>
          </a:p>
          <a:p>
            <a:pPr>
              <a:spcAft>
                <a:spcPts val="500"/>
              </a:spcAft>
            </a:pPr>
            <a:r>
              <a:rPr sz="1150" b="0" i="0">
                <a:solidFill>
                  <a:srgbClr val="12181F"/>
                </a:solidFill>
                <a:latin typeface="Consolas"/>
              </a:rPr>
              <a:t>csh run_all.csh</a:t>
            </a:r>
          </a:p>
          <a:p>
            <a:pPr>
              <a:spcAft>
                <a:spcPts val="300"/>
              </a:spcAft>
            </a:pPr>
            <a:r>
              <a:rPr sz="1250" b="1" i="0">
                <a:solidFill>
                  <a:srgbClr val="12181F"/>
                </a:solidFill>
                <a:latin typeface="Arial"/>
              </a:rPr>
              <a:t>验收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2181F"/>
                </a:solidFill>
                <a:latin typeface="Consolas"/>
              </a:rPr>
              <a:t>csh verify.csh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2181F"/>
                </a:solidFill>
                <a:latin typeface="Arial"/>
              </a:rPr>
              <a:t>改造成自己项目：只动 env.csh 与 data/，lab 里的模块名与 corner 表换成你们的即可。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SCHEDULE · 排期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六场课次排期建议（每场 90 分钟）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53602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场次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4701" y="1696466"/>
            <a:ext cx="182610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1971" y="1696466"/>
            <a:ext cx="348477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课堂实做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7918" y="1696466"/>
            <a:ext cx="440626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课后作业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61642"/>
            <a:ext cx="11057839" cy="321563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98218"/>
            <a:ext cx="536021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4701" y="1998218"/>
            <a:ext cx="1826102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开篇 + 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1971" y="1998218"/>
            <a:ext cx="3484778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lab01 建仓、收紧 conf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7918" y="1998218"/>
            <a:ext cx="4406265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把 env.csh 换成自己的路径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83206"/>
            <a:ext cx="11057839" cy="321563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319782"/>
            <a:ext cx="536021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4701" y="2319782"/>
            <a:ext cx="1826102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M2 + 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971" y="2319782"/>
            <a:ext cx="3484778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lab02、lab03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7918" y="2319782"/>
            <a:ext cx="4406265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定出本组的 4 阶段 / 6 节点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604770"/>
            <a:ext cx="11057839" cy="321563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641346"/>
            <a:ext cx="536021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01" y="2641346"/>
            <a:ext cx="1826102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M4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31971" y="2641346"/>
            <a:ext cx="3484778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lab05 容器与对象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7918" y="2641346"/>
            <a:ext cx="4406265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把一个真实 run 目录入库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926334"/>
            <a:ext cx="11057839" cy="321563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2962910"/>
            <a:ext cx="536021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4701" y="2962910"/>
            <a:ext cx="1826102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M5 + M6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1971" y="2962910"/>
            <a:ext cx="3484778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lab06、lab07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7918" y="2962910"/>
            <a:ext cx="4406265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写 6 个指标并导出 CSV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247898"/>
            <a:ext cx="11057839" cy="321563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3284474"/>
            <a:ext cx="536021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4701" y="3284474"/>
            <a:ext cx="1826102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M7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31971" y="3284474"/>
            <a:ext cx="3484778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lab08 双团队推演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7918" y="3284474"/>
            <a:ext cx="4406265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给隔壁组发一次真实交付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569462"/>
            <a:ext cx="11057839" cy="321563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3606038"/>
            <a:ext cx="536021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4701" y="3606038"/>
            <a:ext cx="1826102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M8 + M9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31971" y="3606038"/>
            <a:ext cx="3484778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lab09、lab10 + 测验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7918" y="3606038"/>
            <a:ext cx="4406265" cy="2484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>
                <a:solidFill>
                  <a:srgbClr val="C6D0DA"/>
                </a:solidFill>
                <a:latin typeface="Arial"/>
              </a:rPr>
              <a:t>产出团队流程文档 v1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891026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4165346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4183633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每一场都以「学员自己动手」结束；讲师只在前 30 分钟讲概念，其余时间必须在终端。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GLOSSARY · 术语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中英术语对照（发英文资料时统一口径）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164180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中文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0485" y="1696466"/>
            <a:ext cx="348477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英文 / 命令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6431" y="1696466"/>
            <a:ext cx="532775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含义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61642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998218"/>
            <a:ext cx="1641805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阶段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0485" y="1998218"/>
            <a:ext cx="348477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Phase（P1-trial…）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6431" y="1998218"/>
            <a:ext cx="532775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项目里程碑层，由项目经理定义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73998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310574"/>
            <a:ext cx="1641805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0485" y="2310574"/>
            <a:ext cx="348477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Block（cpu / ddr）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6431" y="2310574"/>
            <a:ext cx="532775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设计单元层，由设计经理定义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86355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622931"/>
            <a:ext cx="1641805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流程节点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0485" y="2622931"/>
            <a:ext cx="348477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Stage（400-APR）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6431" y="2622931"/>
            <a:ext cx="532775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工具流程层，按执行流定义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898711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935287"/>
            <a:ext cx="1641805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版本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0485" y="2935287"/>
            <a:ext cx="348477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Version（日期-备注）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6431" y="2935287"/>
            <a:ext cx="532775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一次有意义跑批的落点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11068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247644"/>
            <a:ext cx="1641805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容器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0485" y="3247644"/>
            <a:ext cx="348477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Container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6431" y="3247644"/>
            <a:ext cx="532775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版本内按 corner/step/tb 分组的子目录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523424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3560000"/>
            <a:ext cx="1641805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设计对象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0485" y="3560000"/>
            <a:ext cx="348477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Design Object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6431" y="3560000"/>
            <a:ext cx="532775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容器内的文件 / 目录 / 链接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35781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872357"/>
            <a:ext cx="1641805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质量指标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0485" y="3872357"/>
            <a:ext cx="348477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DQI（.dqc）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6431" y="3872357"/>
            <a:ext cx="532775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一名一文件的量化结论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48137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4184713"/>
            <a:ext cx="1641805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入库 / 检出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0485" y="4184713"/>
            <a:ext cx="348477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checkin / checkout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6431" y="4184713"/>
            <a:ext cx="532775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写入仓库 / 拉到工作副本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460494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4497070"/>
            <a:ext cx="1641805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四层路径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0485" y="4497070"/>
            <a:ext cx="348477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DVC_PATH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6431" y="4497070"/>
            <a:ext cx="532775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phase/block/stage/version 组合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72850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4809426"/>
            <a:ext cx="1641805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工作副本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10485" y="4809426"/>
            <a:ext cx="348477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working copy（_ 目录）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6431" y="4809426"/>
            <a:ext cx="5327751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本机检出结果，不可当交付物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5085206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5359526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5377814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对外文档、脚注、邮件里保持同一套词，避免「版本/版次/release」混用造成的误会。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INTEGRATION · 流程接入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把 DVC 接进 EDA 流程：三种封装层次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182610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层次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4782" y="1696466"/>
            <a:ext cx="385337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做法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9323" y="1696466"/>
            <a:ext cx="247114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优点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1634" y="1696466"/>
            <a:ext cx="21025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代价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61642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98218"/>
            <a:ext cx="182610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① 手工命令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4782" y="1998218"/>
            <a:ext cx="385337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在终端按 lab 的四步敲命令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323" y="1998218"/>
            <a:ext cx="247114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上手最快，适合试点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1634" y="1998218"/>
            <a:ext cx="210254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依赖个人习惯，易漏提交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73998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310574"/>
            <a:ext cx="182610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② run 脚本内嵌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4782" y="2310574"/>
            <a:ext cx="385337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工具脚本末尾 copy → set_dqi → checkin →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9323" y="2310574"/>
            <a:ext cx="247114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每跑必归档，指标同批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1634" y="2310574"/>
            <a:ext cx="210254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脚本要改，需容错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86355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622931"/>
            <a:ext cx="1826102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③ Makefile 模板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4782" y="2622931"/>
            <a:ext cx="385337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include etc/make/checkin.make，用 make object/checkin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9323" y="2622931"/>
            <a:ext cx="2471143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流程统一、可回归测试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1634" y="2622931"/>
            <a:ext cx="210254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需维护变量表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898711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173031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191319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推荐推进顺序：① 试点两周 → ② 覆盖主力流程 → ③ 固化到 Makefile/CI。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SNIPPET · 流程收尾四步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33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4F7FA"/>
                </a:solidFill>
                <a:latin typeface="Arial"/>
              </a:rPr>
              <a:t>写进 run 脚本末尾的那六行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4884"/>
            <a:ext cx="9869119" cy="312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97A6"/>
                </a:solidFill>
                <a:latin typeface="Arial"/>
              </a:rPr>
              <a:t>这段可直接抄进你们的 pt_shell / innovus wrapper 后面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45030"/>
            <a:ext cx="6675120" cy="2911754"/>
          </a:xfrm>
          <a:prstGeom prst="rect">
            <a:avLst/>
          </a:prstGeom>
          <a:solidFill>
            <a:srgbClr val="090D11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2341626"/>
            <a:ext cx="82296" cy="822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300478"/>
            <a:ext cx="6126480" cy="253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8998"/>
                </a:solidFill>
                <a:latin typeface="Consolas"/>
              </a:rPr>
              <a:t>命令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638806"/>
            <a:ext cx="6272783" cy="2257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"/>
              </a:spcAft>
            </a:pPr>
            <a:r>
              <a:rPr sz="1150">
                <a:solidFill>
                  <a:srgbClr val="7C8998"/>
                </a:solidFill>
                <a:latin typeface="Consolas"/>
              </a:rPr>
              <a:t>#</a:t>
            </a:r>
            <a:r>
              <a:rPr sz="1150">
                <a:solidFill>
                  <a:srgbClr val="7C8998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$REPDIR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=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本次运行产出目录；$CORNER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由流程变量给定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F4F7FA"/>
                </a:solidFill>
                <a:latin typeface="Consolas"/>
              </a:rPr>
              <a:t>cd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$REPDIR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dvc_set_container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     </a:t>
            </a:r>
            <a:r>
              <a:rPr sz="1150">
                <a:solidFill>
                  <a:srgbClr val="D8A65E"/>
                </a:solidFill>
                <a:latin typeface="Consolas"/>
              </a:rPr>
              <a:t>$CORNER</a:t>
            </a:r>
            <a:r>
              <a:rPr sz="1150">
                <a:solidFill>
                  <a:srgbClr val="C6D0DA"/>
                </a:solidFill>
                <a:latin typeface="Consolas"/>
              </a:rPr>
              <a:t>    </a:t>
            </a:r>
            <a:r>
              <a:rPr sz="1150">
                <a:solidFill>
                  <a:srgbClr val="7C8998"/>
                </a:solidFill>
                <a:latin typeface="Consolas"/>
              </a:rPr>
              <a:t># 不在则先 dvc_create_container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150">
                <a:solidFill>
                  <a:srgbClr val="C6D0DA"/>
                </a:solidFill>
                <a:latin typeface="Consolas"/>
              </a:rPr>
              <a:t>        </a:t>
            </a:r>
            <a:r>
              <a:rPr sz="1150">
                <a:solidFill>
                  <a:srgbClr val="D8A65E"/>
                </a:solidFill>
                <a:latin typeface="Consolas"/>
              </a:rPr>
              <a:t>$REPDIR/cpu.v</a:t>
            </a:r>
            <a:r>
              <a:rPr sz="1150">
                <a:solidFill>
                  <a:srgbClr val="C6D0DA"/>
                </a:solidFill>
                <a:latin typeface="Consolas"/>
              </a:rPr>
              <a:t>      </a:t>
            </a:r>
            <a:r>
              <a:rPr sz="1150">
                <a:solidFill>
                  <a:srgbClr val="F4F7FA"/>
                </a:solidFill>
                <a:latin typeface="Consolas"/>
              </a:rPr>
              <a:t>cpu.v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dvc_copy_object</a:t>
            </a:r>
            <a:r>
              <a:rPr sz="1150">
                <a:solidFill>
                  <a:srgbClr val="C6D0DA"/>
                </a:solidFill>
                <a:latin typeface="Consolas"/>
              </a:rPr>
              <a:t>        </a:t>
            </a:r>
            <a:r>
              <a:rPr sz="1150">
                <a:solidFill>
                  <a:srgbClr val="D8A65E"/>
                </a:solidFill>
                <a:latin typeface="Consolas"/>
              </a:rPr>
              <a:t>$REPDIR/reports/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F4F7FA"/>
                </a:solidFill>
                <a:latin typeface="Consolas"/>
              </a:rPr>
              <a:t>report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dvc_link_object</a:t>
            </a:r>
            <a:r>
              <a:rPr sz="1150">
                <a:solidFill>
                  <a:srgbClr val="C6D0DA"/>
                </a:solidFill>
                <a:latin typeface="Consolas"/>
              </a:rPr>
              <a:t>        </a:t>
            </a:r>
            <a:r>
              <a:rPr sz="1150">
                <a:solidFill>
                  <a:srgbClr val="D8A65E"/>
                </a:solidFill>
                <a:latin typeface="Consolas"/>
              </a:rPr>
              <a:t>$REPDIR/cpu.spef.gz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cpu.spef.gz</a:t>
            </a:r>
            <a:r>
              <a:rPr sz="1150">
                <a:solidFill>
                  <a:srgbClr val="C6D0DA"/>
                </a:solidFill>
                <a:latin typeface="Consolas"/>
              </a:rPr>
              <a:t>   </a:t>
            </a:r>
            <a:r>
              <a:rPr sz="1150">
                <a:solidFill>
                  <a:srgbClr val="7C8998"/>
                </a:solidFill>
                <a:latin typeface="Consolas"/>
              </a:rPr>
              <a:t># 本机专用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dvc_set_dqi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`parse_wns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$REPDIR/reports/sta.rpt`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dvc_set_dqi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DRC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`parse_drc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$REPDIR/reports/drc.rpt`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dvc_checkin_container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 </a:t>
            </a:r>
            <a:r>
              <a:rPr sz="1150">
                <a:solidFill>
                  <a:srgbClr val="D8A65E"/>
                </a:solidFill>
                <a:latin typeface="Consolas"/>
              </a:rPr>
              <a:t>$CORNER</a:t>
            </a:r>
          </a:p>
          <a:p>
            <a:pPr>
              <a:spcAft>
                <a:spcPts val="240"/>
              </a:spcAft>
            </a:pPr>
            <a:r>
              <a:rPr sz="1150">
                <a:solidFill>
                  <a:srgbClr val="5FC8BC"/>
                </a:solidFill>
                <a:latin typeface="Consolas"/>
              </a:rPr>
              <a:t>dvc_list_container</a:t>
            </a:r>
            <a:r>
              <a:rPr sz="1150">
                <a:solidFill>
                  <a:srgbClr val="C6D0DA"/>
                </a:solidFill>
                <a:latin typeface="Consolas"/>
              </a:rPr>
              <a:t>     </a:t>
            </a:r>
            <a:r>
              <a:rPr sz="1150">
                <a:solidFill>
                  <a:srgbClr val="D8A65E"/>
                </a:solidFill>
                <a:latin typeface="Consolas"/>
              </a:rPr>
              <a:t>$CORNER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|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F4F7FA"/>
                </a:solidFill>
                <a:latin typeface="Consolas"/>
              </a:rPr>
              <a:t>tee</a:t>
            </a:r>
            <a:r>
              <a:rPr sz="1150">
                <a:solidFill>
                  <a:srgbClr val="C6D0DA"/>
                </a:solidFill>
                <a:latin typeface="Consolas"/>
              </a:rPr>
              <a:t> </a:t>
            </a:r>
            <a:r>
              <a:rPr sz="1150">
                <a:solidFill>
                  <a:srgbClr val="D8A65E"/>
                </a:solidFill>
                <a:latin typeface="Consolas"/>
              </a:rPr>
              <a:t>$REPDIR/archive.log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145030"/>
            <a:ext cx="4206240" cy="3611880"/>
          </a:xfrm>
          <a:prstGeom prst="rect">
            <a:avLst/>
          </a:prstGeom>
          <a:solidFill>
            <a:srgbClr val="F3F1EC"/>
          </a:solidFill>
          <a:ln w="9525">
            <a:solidFill>
              <a:srgbClr val="2A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145030"/>
            <a:ext cx="4206240" cy="310896"/>
          </a:xfrm>
          <a:prstGeom prst="rect">
            <a:avLst/>
          </a:prstGeom>
          <a:solidFill>
            <a:srgbClr val="E4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218182"/>
            <a:ext cx="3840479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A38"/>
                </a:solidFill>
                <a:latin typeface="Consolas"/>
              </a:rPr>
              <a:t>包进 wrapper 时的四个细节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620518"/>
            <a:ext cx="3840480" cy="16122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50" b="0" i="0">
                <a:solidFill>
                  <a:srgbClr val="12181F"/>
                </a:solidFill>
                <a:latin typeface="Arial"/>
              </a:rPr>
              <a:t>1. 容器不存在时先 create，避免 checkin 半途失败；</a:t>
            </a:r>
          </a:p>
          <a:p>
            <a:pPr>
              <a:spcAft>
                <a:spcPts val="900"/>
              </a:spcAft>
            </a:pPr>
            <a:r>
              <a:rPr sz="1250" b="0" i="0">
                <a:solidFill>
                  <a:srgbClr val="12181F"/>
                </a:solidFill>
                <a:latin typeface="Arial"/>
              </a:rPr>
              <a:t>2. checkin 前 delete 临时物（cache、core、*.svf）；</a:t>
            </a:r>
          </a:p>
          <a:p>
            <a:pPr>
              <a:spcAft>
                <a:spcPts val="900"/>
              </a:spcAft>
            </a:pPr>
            <a:r>
              <a:rPr sz="1250" b="0" i="0">
                <a:solidFill>
                  <a:srgbClr val="12181F"/>
                </a:solidFill>
                <a:latin typeface="Arial"/>
              </a:rPr>
              <a:t>3. 归档失败要让流程退出码非 0，别让「没入库」悄悄过去；</a:t>
            </a:r>
          </a:p>
          <a:p>
            <a:pPr>
              <a:spcAft>
                <a:spcPts val="900"/>
              </a:spcAft>
            </a:pPr>
            <a:r>
              <a:rPr sz="1250" b="0" i="0">
                <a:solidFill>
                  <a:srgbClr val="12181F"/>
                </a:solidFill>
                <a:latin typeface="Arial"/>
              </a:rPr>
              <a:t>4. archive.log 贴在邮件里，交付即有凭据。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55603" y="548640"/>
            <a:ext cx="169164" cy="169164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509199" cy="287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FC8BC"/>
                </a:solidFill>
                <a:latin typeface="Consolas"/>
              </a:rPr>
              <a:t>CHECKLIST · 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11057839" cy="516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4F7FA"/>
                </a:solidFill>
                <a:latin typeface="Arial"/>
              </a:rPr>
              <a:t>结课验收清单（PM 打勾用的那一页）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199632"/>
            <a:ext cx="786384" cy="25603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9777679" cy="244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C8998"/>
                </a:solidFill>
                <a:latin typeface="Consolas"/>
              </a:rPr>
              <a:t>DVC 实做训练 · Design Version Control 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09360"/>
            <a:ext cx="1097280" cy="261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6"/>
                </a:solidFill>
                <a:latin typeface="Consolas"/>
              </a:rPr>
              <a:t>108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50746"/>
            <a:ext cx="11057839" cy="31089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6466"/>
            <a:ext cx="2658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验收项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298" y="1696466"/>
            <a:ext cx="418383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怎么验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2303" y="1696466"/>
            <a:ext cx="361187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F4F7FA"/>
                </a:solidFill>
                <a:latin typeface="Arial"/>
              </a:rPr>
              <a:t>标准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61642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998218"/>
            <a:ext cx="265861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目录规范已定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298" y="1998218"/>
            <a:ext cx="418383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查 etc/rule/DEFINE_* 或项目文档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2303" y="1998218"/>
            <a:ext cx="3611879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四层都有名字与责任者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73998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310574"/>
            <a:ext cx="265861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全员能检出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2310574"/>
            <a:ext cx="418383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新人现场跑 lab04 的三条命令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2303" y="2310574"/>
            <a:ext cx="3611879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10 分钟内在 5 分钟内完成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86355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622931"/>
            <a:ext cx="265861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主力流程已归档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7298" y="2622931"/>
            <a:ext cx="418383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dvc_list_stage -v 抽查最近 10 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2303" y="2622931"/>
            <a:ext cx="3611879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无空版本、无未提交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898711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935287"/>
            <a:ext cx="265861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指标随版本入库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7298" y="2935287"/>
            <a:ext cx="418383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 cat …/.dqc/WNS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12303" y="2935287"/>
            <a:ext cx="3611879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关键节点均有数值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11068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247644"/>
            <a:ext cx="265861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交付三件套成型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7298" y="3247644"/>
            <a:ext cx="418383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manifest + signoff + 状态变量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303" y="3247644"/>
            <a:ext cx="3611879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每次交付都产出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523424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3560000"/>
            <a:ext cx="265861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权限已收紧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7298" y="3560000"/>
            <a:ext cx="418383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查 svnserve.conf 与 authz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303" y="3560000"/>
            <a:ext cx="3611879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无匿名写、离组即清权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35781"/>
            <a:ext cx="11057839" cy="312356"/>
          </a:xfrm>
          <a:prstGeom prst="rect">
            <a:avLst/>
          </a:prstGeom>
          <a:solidFill>
            <a:srgbClr val="141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3872357"/>
            <a:ext cx="265861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备份可回滚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7298" y="3872357"/>
            <a:ext cx="418383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svnadmin dump 演练记录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12303" y="3872357"/>
            <a:ext cx="3611879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能在 1 小时内恢复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48137"/>
            <a:ext cx="11057839" cy="312356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4184713"/>
            <a:ext cx="2658618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脚本已封装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7298" y="4184713"/>
            <a:ext cx="4183837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查 run 脚本 / Makefile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12303" y="4184713"/>
            <a:ext cx="3611879" cy="239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>
                <a:solidFill>
                  <a:srgbClr val="C6D0DA"/>
                </a:solidFill>
                <a:latin typeface="Arial"/>
              </a:rPr>
              <a:t>四步收尾为固定动作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460494"/>
            <a:ext cx="11057839" cy="23774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734813"/>
            <a:ext cx="41148" cy="310896"/>
          </a:xfrm>
          <a:prstGeom prst="rect">
            <a:avLst/>
          </a:prstGeom>
          <a:solidFill>
            <a:srgbClr val="E9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4753101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A97A6"/>
                </a:solidFill>
                <a:latin typeface="Consolas"/>
              </a:rPr>
              <a:t>要点   </a:t>
            </a:r>
            <a:r>
              <a:rPr sz="1250">
                <a:solidFill>
                  <a:srgbClr val="E9A63C"/>
                </a:solidFill>
                <a:latin typeface="Arial"/>
              </a:rPr>
              <a:t>八项全绿，就可以把 DVC 写进项目流程文档第一版；缺任何一项，都先补那一项，不要扩范围。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