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2 分钟先问两个问题：“现在最新的网表在哪一版？”“三个月前签核用的那份 DEF 还找得到吗？”由此引出课程三段结构：心智模型 → 上手命令 → 跨团队共享与红线。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让学员举手认领这四条（通常中三条以上）。右侧两块终端对比同一件事：左边靠记忆，右边靠一条命令。强调 SVN 一直都在，缺的是“设计数据的目录语义”。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这张图承载全课心智模型：工程师只碰命令层；规范层是团队契约；引擎层是 SVN。右侧第 2 条“元数据随数据入库”是后面跨团队共享成立的前提，务必讲透。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目录即团队契约，比背命令更重要。左侧两块终端解释“从右往左解析”（单段一定是 Version），这是新手最易踩的点。右侧表格明确谁有权定义哪一层。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本页最“开窍”：命令之所以短，是因为上下文有状态。现场跑 dvc_get_env --all 让学员看到 DESIGN_* 的真实值；再说明 --server 变量（冻结状态、工艺路径）如何全项目共享。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带学员把右侧代码走一遍，三处重点：create_version 之后必须 checkout（否则 :version 不存在）；copy/link 之后数据仍在本地；checkin_container 才是团队可见的交付点。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全课最高频的误用点。现场演示：dvc_link_object 一个文件后用 svn ls -v 看仓库里存的是什么（一个 symlink 条目），再到另一台机器 checkout，链接失效 —— 让学员自己下结论。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重点讲这一对矛盾：checkin 保证不漏文件但会带上临时物，commit 精确但容易漏。让团队选一个写进流程模板；演示 .XSC_user.svf / log.* 这类 EDA 临时文件被误提交的后果。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DQI 是把 DVC 从“文件柜”升级为“数据库”的关键。建议每个流程节点统一指标名（WNS/TNS/NVP/DRC/UTIL/LEAKAGE/IR_DROP），名字一致才能横向比对；演示 --html 输出直接贴进评审材料。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DVC 本身不提供 diff / log，因为这些 SVN 已有 —— 培训要明确“命令层归 DVC、历史层用 SVN”。现场演示 svn cat 取回旧网表；强调 svn log --verbose 连“谁删了文件”都能看到。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这页给项目经理看“制度如何落到目录上”。强调 exit gate 的检查动作就是三条命令（list_project / list_version / get_dqi），而不是开会讨论。P3 用深色标注当前所在阶段。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给管理者的行动项：把这三条命令写进周会准备清单（会前两分钟出数据）。同时提醒不要用 checkout 全项目的方式了解进度 —— 默认 files 深度加列表命令已经足够。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先纠正一个高频误解：把 _ 目录打包发给同事不等于共享版本数据。本页给出三层：本机工作副本、团队仓库、对外快照；共享半径与 SVN 模式在下方终端里示范。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先让大家判断自己场景属于哪一条通道：内部跨部门走①；交付走②；外部或跨网段走③。强调第③条会连带暴露历史版本与提交者信息，涉及对外合作时要先评估脱敏范围。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务必讲清两个模式的差别：file 模式共享的是目录与文件组权限；svn 模式共享的是 svn:// 地址加账号，客户端用 dvc_set_env 写 SVN_HOST/SVN_PORT 即可，SVN_ROOT 只在服务器侧有意义。authz 中的路径是仓库内相对路径，正好对应 DVC 的 phase/block/stage/version。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把这五步当作对外交付模板：实体 copy → 清单 → 质量快照 → 冻结标记 → 只读授权。现场执行前三步只需 30 秒，却能把来回确认的两天省掉。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红线条目让学员认领：过去自己中过哪条。第三列的正确做法要成为团队 checkin 前的清单。右半页说明交付后管理者手里有什么：manifest、全局状态变量、审计命令 —— 这三样是对外沟通的凭据。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结尾用 5 分钟做两周落地计划：谁定规范、哪天切新流程、什么时候完成第一次跨团队交付。把这十件事发到组内待办，比再讲一遍命令更有效。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ver.jpg"/>
          <p:cNvPicPr>
            <a:picLocks noChangeAspect="1"/>
          </p:cNvPicPr>
          <p:nvPr/>
        </p:nvPicPr>
        <p:blipFill>
          <a:blip r:embed="rId2"/>
          <a:srcRect l="7884" r="7884"/>
          <a:stretch>
            <a:fillRect/>
          </a:stretch>
        </p:blipFill>
        <p:spPr>
          <a:xfrm>
            <a:off x="8412480" y="128016"/>
            <a:ext cx="3779215" cy="67299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5048" y="128016"/>
            <a:ext cx="27432" cy="672998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7498079" cy="316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9A63C"/>
                </a:solidFill>
                <a:latin typeface="Consolas"/>
              </a:rPr>
              <a:t>DVC · Design Version Control · 内部技术培训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7589520" cy="803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4F7FA"/>
                </a:solidFill>
                <a:latin typeface="Arial"/>
              </a:rPr>
              <a:t>芯片设计数据的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57984"/>
            <a:ext cx="7589520" cy="803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4F7FA"/>
                </a:solidFill>
                <a:latin typeface="Arial"/>
              </a:rPr>
              <a:t>版本管理与跨团队共享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53740"/>
            <a:ext cx="7498079" cy="3656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C6D0DA"/>
                </a:solidFill>
                <a:latin typeface="Arial"/>
              </a:rPr>
              <a:t>把“数据在哪、谁改的、能不能复现”从口头约定，变成一条命令可查的事实。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85132"/>
            <a:ext cx="7498079" cy="10584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E9A63C"/>
                </a:solidFill>
                <a:latin typeface="Consolas"/>
              </a:rPr>
              <a:t>·  </a:t>
            </a:r>
            <a:r>
              <a:rPr sz="1300">
                <a:solidFill>
                  <a:srgbClr val="8A97A6"/>
                </a:solidFill>
                <a:latin typeface="Arial"/>
              </a:rPr>
              <a:t>对象 · 设计工程师 / 项目经理 / 流程与 CAD 支持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9A63C"/>
                </a:solidFill>
                <a:latin typeface="Consolas"/>
              </a:rPr>
              <a:t>·  </a:t>
            </a:r>
            <a:r>
              <a:rPr sz="1300">
                <a:solidFill>
                  <a:srgbClr val="8A97A6"/>
                </a:solidFill>
                <a:latin typeface="Arial"/>
              </a:rPr>
              <a:t>工具 · DVC V2020_1115a（MIT，gitee.com/icdop/dvc）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9A63C"/>
                </a:solidFill>
                <a:latin typeface="Consolas"/>
              </a:rPr>
              <a:t>·  </a:t>
            </a:r>
            <a:r>
              <a:rPr sz="1300">
                <a:solidFill>
                  <a:srgbClr val="8A97A6"/>
                </a:solidFill>
                <a:latin typeface="Arial"/>
              </a:rPr>
              <a:t>引擎 · Subversion：file:// 共享盘  或  svn:// 服务模式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102352"/>
            <a:ext cx="7223760" cy="905662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" y="52989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257800"/>
            <a:ext cx="667512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课程结束时，这一行你要能随手写出来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596128"/>
            <a:ext cx="6821424" cy="250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300">
                <a:solidFill>
                  <a:srgbClr val="7C8998"/>
                </a:solidFill>
                <a:latin typeface="Consolas"/>
              </a:rPr>
              <a:t>%</a:t>
            </a:r>
            <a:r>
              <a:rPr sz="1300">
                <a:solidFill>
                  <a:srgbClr val="7C8998"/>
                </a:solidFill>
                <a:latin typeface="Consolas"/>
              </a:rPr>
              <a:t> </a:t>
            </a:r>
            <a:r>
              <a:rPr sz="1300">
                <a:solidFill>
                  <a:srgbClr val="5FC8BC"/>
                </a:solidFill>
                <a:latin typeface="Consolas"/>
              </a:rPr>
              <a:t>dvc_checkout_folder</a:t>
            </a:r>
            <a:r>
              <a:rPr sz="1300">
                <a:solidFill>
                  <a:srgbClr val="C6D0DA"/>
                </a:solidFill>
                <a:latin typeface="Consolas"/>
              </a:rPr>
              <a:t> </a:t>
            </a:r>
            <a:r>
              <a:rPr sz="1300">
                <a:solidFill>
                  <a:srgbClr val="F4F7FA"/>
                </a:solidFill>
                <a:latin typeface="Consolas"/>
              </a:rPr>
              <a:t>P2-stable/cpu/500-TIMING/2021_0610-rc1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053328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0"/>
            <a:ext cx="7315200" cy="258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90 分钟 · 讲授 + 终端演示 + 案例推演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995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WHY · 现状与代价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621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4F7FA"/>
                </a:solidFill>
                <a:latin typeface="Arial"/>
              </a:rPr>
              <a:t>数据不在版本控制里，风险就一直存在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9960559" cy="332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A97A6"/>
                </a:solidFill>
                <a:latin typeface="Arial"/>
              </a:rPr>
              <a:t>第一课：把“靠文件名和记忆管理”的隐性成本摆到台面上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9777679" cy="258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· Design Version Control — 芯片设计数据管理与共享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309360"/>
            <a:ext cx="1097280" cy="274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4983480" cy="1967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450" b="1">
                <a:solidFill>
                  <a:srgbClr val="E9A63C"/>
                </a:solidFill>
                <a:latin typeface="Consolas"/>
              </a:rPr>
              <a:t>—  </a:t>
            </a:r>
            <a:r>
              <a:rPr sz="1450">
                <a:solidFill>
                  <a:srgbClr val="C6D0DA"/>
                </a:solidFill>
                <a:latin typeface="Arial"/>
              </a:rPr>
              <a:t>每人 /home 里都有一份 netlist_final_v7 —— “最终版”同时存在三份</a:t>
            </a:r>
          </a:p>
          <a:p>
            <a:pPr>
              <a:spcAft>
                <a:spcPts val="1300"/>
              </a:spcAft>
            </a:pPr>
            <a:r>
              <a:rPr sz="1450" b="1">
                <a:solidFill>
                  <a:srgbClr val="E9A63C"/>
                </a:solidFill>
                <a:latin typeface="Consolas"/>
              </a:rPr>
              <a:t>—  </a:t>
            </a:r>
            <a:r>
              <a:rPr sz="1450">
                <a:solidFill>
                  <a:srgbClr val="C6D0DA"/>
                </a:solidFill>
                <a:latin typeface="Arial"/>
              </a:rPr>
              <a:t>交接靠喊话与网盘：数据换了，签核报告却还指着旧网表</a:t>
            </a:r>
          </a:p>
          <a:p>
            <a:pPr>
              <a:spcAft>
                <a:spcPts val="1300"/>
              </a:spcAft>
            </a:pPr>
            <a:r>
              <a:rPr sz="1450" b="1">
                <a:solidFill>
                  <a:srgbClr val="E9A63C"/>
                </a:solidFill>
                <a:latin typeface="Consolas"/>
              </a:rPr>
              <a:t>—  </a:t>
            </a:r>
            <a:r>
              <a:rPr sz="1450">
                <a:solidFill>
                  <a:srgbClr val="C6D0DA"/>
                </a:solidFill>
                <a:latin typeface="Arial"/>
              </a:rPr>
              <a:t>半年前通过签核的那一版，今天无法复现当时用的约束</a:t>
            </a:r>
          </a:p>
          <a:p>
            <a:pPr>
              <a:spcAft>
                <a:spcPts val="1300"/>
              </a:spcAft>
            </a:pPr>
            <a:r>
              <a:rPr sz="1450" b="1">
                <a:solidFill>
                  <a:srgbClr val="E9A63C"/>
                </a:solidFill>
                <a:latin typeface="Consolas"/>
              </a:rPr>
              <a:t>—  </a:t>
            </a:r>
            <a:r>
              <a:rPr sz="1450">
                <a:solidFill>
                  <a:srgbClr val="C6D0DA"/>
                </a:solidFill>
                <a:latin typeface="Arial"/>
              </a:rPr>
              <a:t>人员流动 = 数据黑箱，项目交接变成考古现场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271391"/>
            <a:ext cx="41148" cy="32918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289679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判断   </a:t>
            </a:r>
            <a:r>
              <a:rPr sz="1350">
                <a:solidFill>
                  <a:srgbClr val="E9A63C"/>
                </a:solidFill>
                <a:latin typeface="Arial"/>
              </a:rPr>
              <a:t>DVC 解决的不是“能不能存版本”，而是团队是否共用同一套目录语义。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011680"/>
            <a:ext cx="2743200" cy="3138576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4768" y="220827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2167128"/>
            <a:ext cx="219456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现状 · 靠文件名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505456"/>
            <a:ext cx="2340864" cy="24838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ls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~/cpu/netlist/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cpu.v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cpu_final.v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cpu_final_new.v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cpu_final_new2.v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cpu_0812_fix.v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cpu_张工改过.v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cpu_send_foundry.v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BACKUP/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NEW/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NEW2/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87968" y="2011680"/>
            <a:ext cx="2743200" cy="2618320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89136" y="220827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2872" y="2167128"/>
            <a:ext cx="219456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DVC 后 · 版本时间线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2505456"/>
            <a:ext cx="2340864" cy="19636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dvc_list_stage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400-APR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2021_0510-impl004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2021_0512-impl005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2021_0519-eco</a:t>
            </a:r>
          </a:p>
          <a:p>
            <a:pPr>
              <a:spcAft>
                <a:spcPts val="26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svn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log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-l1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\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^/P2-stable/cpu/400-APR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r331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|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n7a05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|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05-19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ECO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after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IR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drop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351424"/>
            <a:ext cx="5687568" cy="4894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C8998"/>
                </a:solidFill>
                <a:latin typeface="Arial"/>
              </a:rPr>
              <a:t>两块都是真实输出：问题不在“有没有版本控制”，而在设计数据没有进入版本控制的语义里。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995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OVERVIEW · 心智模型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621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4F7FA"/>
                </a:solidFill>
                <a:latin typeface="Arial"/>
              </a:rPr>
              <a:t>DVC = 规范层 + 命令层 + Subversion 引擎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58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· Design Version Control — 芯片设计数据管理与共享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74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7223760" cy="416052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956816"/>
            <a:ext cx="5230368" cy="1005839"/>
          </a:xfrm>
          <a:prstGeom prst="rect">
            <a:avLst/>
          </a:prstGeom>
          <a:solidFill>
            <a:srgbClr val="D2D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656" y="1956816"/>
            <a:ext cx="1645920" cy="1005839"/>
          </a:xfrm>
          <a:prstGeom prst="rect">
            <a:avLst/>
          </a:prstGeom>
          <a:solidFill>
            <a:srgbClr val="808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/>
          <a:lstStyle/>
          <a:p>
            <a:pPr algn="l"/>
            <a:r>
              <a:rPr sz="1200" b="1">
                <a:solidFill>
                  <a:srgbClr val="12181F"/>
                </a:solidFill>
                <a:latin typeface="Arial"/>
              </a:rPr>
              <a:t>使用者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05456" y="2002536"/>
            <a:ext cx="1193292" cy="914399"/>
          </a:xfrm>
          <a:prstGeom prst="rect">
            <a:avLst/>
          </a:prstGeom>
          <a:solidFill>
            <a:srgbClr val="F3F1EC"/>
          </a:solidFill>
          <a:ln w="9525">
            <a:solidFill>
              <a:srgbClr val="787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0960" wrap="square"/>
          <a:lstStyle/>
          <a:p>
            <a:pPr algn="l"/>
            <a:r>
              <a:rPr sz="1200" b="1">
                <a:solidFill>
                  <a:srgbClr val="1E2A38"/>
                </a:solidFill>
                <a:latin typeface="Arial"/>
              </a:rPr>
              <a:t>项目经理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立项 · 阶段 · 冻结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0188" y="2002536"/>
            <a:ext cx="1193292" cy="914399"/>
          </a:xfrm>
          <a:prstGeom prst="rect">
            <a:avLst/>
          </a:prstGeom>
          <a:solidFill>
            <a:srgbClr val="F3F1EC"/>
          </a:solidFill>
          <a:ln w="9525">
            <a:solidFill>
              <a:srgbClr val="787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0960" wrap="square"/>
          <a:lstStyle/>
          <a:p>
            <a:pPr algn="l"/>
            <a:r>
              <a:rPr sz="1200" b="1">
                <a:solidFill>
                  <a:srgbClr val="1E2A38"/>
                </a:solidFill>
                <a:latin typeface="Arial"/>
              </a:rPr>
              <a:t>设计经理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模块 · 流程节点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2002536"/>
            <a:ext cx="1193292" cy="914399"/>
          </a:xfrm>
          <a:prstGeom prst="rect">
            <a:avLst/>
          </a:prstGeom>
          <a:solidFill>
            <a:srgbClr val="F3F1EC"/>
          </a:solidFill>
          <a:ln w="9525">
            <a:solidFill>
              <a:srgbClr val="787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0960" wrap="square"/>
          <a:lstStyle/>
          <a:p>
            <a:pPr algn="l"/>
            <a:r>
              <a:rPr sz="1200" b="1">
                <a:solidFill>
                  <a:srgbClr val="1E2A38"/>
                </a:solidFill>
                <a:latin typeface="Arial"/>
              </a:rPr>
              <a:t>设计工程师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建版 · 存数据 · 记指标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9652" y="2002536"/>
            <a:ext cx="1193292" cy="914399"/>
          </a:xfrm>
          <a:prstGeom prst="rect">
            <a:avLst/>
          </a:prstGeom>
          <a:solidFill>
            <a:srgbClr val="F3F1EC"/>
          </a:solidFill>
          <a:ln w="9525">
            <a:solidFill>
              <a:srgbClr val="787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0960" wrap="square"/>
          <a:lstStyle/>
          <a:p>
            <a:pPr algn="l"/>
            <a:r>
              <a:rPr sz="1200" b="1">
                <a:solidFill>
                  <a:srgbClr val="1E2A38"/>
                </a:solidFill>
                <a:latin typeface="Arial"/>
              </a:rPr>
              <a:t>CAD / IT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服务器 · 权限 · 备份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14016" y="3054095"/>
            <a:ext cx="5230368" cy="1005839"/>
          </a:xfrm>
          <a:prstGeom prst="rect">
            <a:avLst/>
          </a:prstGeom>
          <a:solidFill>
            <a:srgbClr val="C7C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" y="3054095"/>
            <a:ext cx="1645920" cy="1005839"/>
          </a:xfrm>
          <a:prstGeom prst="rect">
            <a:avLst/>
          </a:prstGeom>
          <a:solidFill>
            <a:srgbClr val="454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/>
          <a:lstStyle/>
          <a:p>
            <a:pPr algn="l"/>
            <a:r>
              <a:rPr sz="1200" b="1">
                <a:solidFill>
                  <a:srgbClr val="F3F1EC"/>
                </a:solidFill>
                <a:latin typeface="Arial"/>
              </a:rPr>
              <a:t>命令层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05456" y="3099815"/>
            <a:ext cx="1193292" cy="914399"/>
          </a:xfrm>
          <a:prstGeom prst="rect">
            <a:avLst/>
          </a:prstGeom>
          <a:solidFill>
            <a:srgbClr val="F3F1EC"/>
          </a:solidFill>
          <a:ln w="9525">
            <a:solidFill>
              <a:srgbClr val="787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0960" wrap="square"/>
          <a:lstStyle/>
          <a:p>
            <a:pPr algn="l"/>
            <a:r>
              <a:rPr sz="1200" b="1">
                <a:solidFill>
                  <a:srgbClr val="1E2A38"/>
                </a:solidFill>
                <a:latin typeface="Arial"/>
              </a:rPr>
              <a:t>dvc_create_*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服务器上建目录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0188" y="3099815"/>
            <a:ext cx="1193292" cy="914399"/>
          </a:xfrm>
          <a:prstGeom prst="rect">
            <a:avLst/>
          </a:prstGeom>
          <a:solidFill>
            <a:srgbClr val="F3F1EC"/>
          </a:solidFill>
          <a:ln w="9525">
            <a:solidFill>
              <a:srgbClr val="787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0960" wrap="square"/>
          <a:lstStyle/>
          <a:p>
            <a:pPr algn="l"/>
            <a:r>
              <a:rPr sz="1200" b="1">
                <a:solidFill>
                  <a:srgbClr val="1E2A38"/>
                </a:solidFill>
                <a:latin typeface="Arial"/>
              </a:rPr>
              <a:t>dvc_checkout_*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检出到本地工作区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3099815"/>
            <a:ext cx="1193292" cy="914399"/>
          </a:xfrm>
          <a:prstGeom prst="rect">
            <a:avLst/>
          </a:prstGeom>
          <a:solidFill>
            <a:srgbClr val="F3F1EC"/>
          </a:solidFill>
          <a:ln w="9525">
            <a:solidFill>
              <a:srgbClr val="787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0960" wrap="square"/>
          <a:lstStyle/>
          <a:p>
            <a:pPr algn="l"/>
            <a:r>
              <a:rPr sz="1200" b="1">
                <a:solidFill>
                  <a:srgbClr val="1E2A38"/>
                </a:solidFill>
                <a:latin typeface="Arial"/>
              </a:rPr>
              <a:t>dvc_*_object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copy / link 放产出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9652" y="3099815"/>
            <a:ext cx="1193292" cy="914399"/>
          </a:xfrm>
          <a:prstGeom prst="rect">
            <a:avLst/>
          </a:prstGeom>
          <a:solidFill>
            <a:srgbClr val="F3F1EC"/>
          </a:solidFill>
          <a:ln w="9525">
            <a:solidFill>
              <a:srgbClr val="787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0960" wrap="square"/>
          <a:lstStyle/>
          <a:p>
            <a:pPr algn="l"/>
            <a:r>
              <a:rPr sz="1200" b="1">
                <a:solidFill>
                  <a:srgbClr val="1E2A38"/>
                </a:solidFill>
                <a:latin typeface="Arial"/>
              </a:rPr>
              <a:t>dvc_checkin_*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提交入库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4016" y="4151374"/>
            <a:ext cx="5230368" cy="1005839"/>
          </a:xfrm>
          <a:prstGeom prst="rect">
            <a:avLst/>
          </a:prstGeom>
          <a:solidFill>
            <a:srgbClr val="B9B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" y="4151374"/>
            <a:ext cx="1645920" cy="1005839"/>
          </a:xfrm>
          <a:prstGeom prst="rect">
            <a:avLst/>
          </a:prstGeom>
          <a:solidFill>
            <a:srgbClr val="182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/>
          <a:lstStyle/>
          <a:p>
            <a:pPr algn="l"/>
            <a:r>
              <a:rPr sz="1200" b="1">
                <a:solidFill>
                  <a:srgbClr val="F3F1EC"/>
                </a:solidFill>
                <a:latin typeface="Arial"/>
              </a:rPr>
              <a:t>规范层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05456" y="4197094"/>
            <a:ext cx="1193292" cy="914399"/>
          </a:xfrm>
          <a:prstGeom prst="rect">
            <a:avLst/>
          </a:prstGeom>
          <a:solidFill>
            <a:srgbClr val="F3F1EC"/>
          </a:solidFill>
          <a:ln w="9525">
            <a:solidFill>
              <a:srgbClr val="787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0960" wrap="square"/>
          <a:lstStyle/>
          <a:p>
            <a:pPr algn="l"/>
            <a:r>
              <a:rPr sz="1200" b="1">
                <a:solidFill>
                  <a:srgbClr val="1E2A38"/>
                </a:solidFill>
                <a:latin typeface="Arial"/>
              </a:rPr>
              <a:t>五层目录模型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Project→Version(+Container)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0188" y="4197094"/>
            <a:ext cx="1193292" cy="914399"/>
          </a:xfrm>
          <a:prstGeom prst="rect">
            <a:avLst/>
          </a:prstGeom>
          <a:solidFill>
            <a:srgbClr val="F3F1EC"/>
          </a:solidFill>
          <a:ln w="9525">
            <a:solidFill>
              <a:srgbClr val="787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0960" wrap="square"/>
          <a:lstStyle/>
          <a:p>
            <a:pPr algn="l"/>
            <a:r>
              <a:rPr sz="1200" b="1">
                <a:solidFill>
                  <a:srgbClr val="1E2A38"/>
                </a:solidFill>
                <a:latin typeface="Arial"/>
              </a:rPr>
              <a:t>.dvc 元数据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上下文随数据入库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4197094"/>
            <a:ext cx="1193292" cy="914399"/>
          </a:xfrm>
          <a:prstGeom prst="rect">
            <a:avLst/>
          </a:prstGeom>
          <a:solidFill>
            <a:srgbClr val="F3F1EC"/>
          </a:solidFill>
          <a:ln w="9525">
            <a:solidFill>
              <a:srgbClr val="787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0960" wrap="square"/>
          <a:lstStyle/>
          <a:p>
            <a:pPr algn="l"/>
            <a:r>
              <a:rPr sz="1200" b="1">
                <a:solidFill>
                  <a:srgbClr val="1E2A38"/>
                </a:solidFill>
                <a:latin typeface="Arial"/>
              </a:rPr>
              <a:t>.dqi 指标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WNS / DRC 同批归档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9652" y="4197094"/>
            <a:ext cx="1193292" cy="914399"/>
          </a:xfrm>
          <a:prstGeom prst="rect">
            <a:avLst/>
          </a:prstGeom>
          <a:solidFill>
            <a:srgbClr val="F3F1EC"/>
          </a:solidFill>
          <a:ln w="9525">
            <a:solidFill>
              <a:srgbClr val="787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0960" wrap="square"/>
          <a:lstStyle/>
          <a:p>
            <a:pPr algn="l"/>
            <a:r>
              <a:rPr sz="1200" b="1">
                <a:solidFill>
                  <a:srgbClr val="1E2A38"/>
                </a:solidFill>
                <a:latin typeface="Arial"/>
              </a:rPr>
              <a:t>.htm 报告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质量表与看板落点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" y="5157215"/>
            <a:ext cx="6967728" cy="502920"/>
          </a:xfrm>
          <a:prstGeom prst="rect">
            <a:avLst/>
          </a:prstGeom>
          <a:solidFill>
            <a:srgbClr val="12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200" b="1">
                <a:solidFill>
                  <a:srgbClr val="F3F1EC"/>
                </a:solidFill>
                <a:latin typeface="Arial"/>
              </a:rPr>
              <a:t>Subversion 仓库 · file://（本地 / NFS）或 svn://（服务模式）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F3F1EC"/>
                </a:solidFill>
                <a:latin typeface="Arial"/>
              </a:rPr>
              <a:t>命令层之下只有 SVN：作者、时间、历史版本全部可审计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1" y="1956816"/>
            <a:ext cx="3611880" cy="373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F7FA"/>
                </a:solidFill>
                <a:latin typeface="Arial"/>
              </a:rPr>
              <a:t>三条必须记住的事实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2505456"/>
            <a:ext cx="3593592" cy="20877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250" b="1">
                <a:solidFill>
                  <a:srgbClr val="E9A63C"/>
                </a:solidFill>
                <a:latin typeface="Consolas"/>
              </a:rPr>
              <a:t>01  </a:t>
            </a:r>
            <a:r>
              <a:rPr sz="1250">
                <a:solidFill>
                  <a:srgbClr val="C6D0DA"/>
                </a:solidFill>
                <a:latin typeface="Arial"/>
              </a:rPr>
              <a:t>create / remove 直接改服务器；copy、link、rename、delete 只改本地，必须 commit / checkin 才上传。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E9A63C"/>
                </a:solidFill>
                <a:latin typeface="Consolas"/>
              </a:rPr>
              <a:t>02  </a:t>
            </a:r>
            <a:r>
              <a:rPr sz="1250">
                <a:solidFill>
                  <a:srgbClr val="C6D0DA"/>
                </a:solidFill>
                <a:latin typeface="Arial"/>
              </a:rPr>
              <a:t>元数据（.dvc、.dqi、.htm）与数据一起入库 —— 换台机器 checkout，上下文自动还原。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E9A63C"/>
                </a:solidFill>
                <a:latin typeface="Consolas"/>
              </a:rPr>
              <a:t>03  </a:t>
            </a:r>
            <a:r>
              <a:rPr sz="1250">
                <a:solidFill>
                  <a:srgbClr val="C6D0DA"/>
                </a:solidFill>
                <a:latin typeface="Arial"/>
              </a:rPr>
              <a:t>检出默认 --depth files：先拿元数据与本层文件，大块数据按需 --depth infinity。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995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STRUCTURE · 目录模型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621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4F7FA"/>
                </a:solidFill>
                <a:latin typeface="Arial"/>
              </a:rPr>
              <a:t>五层目录 + 命名规范：先把路铺直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9960559" cy="332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A97A6"/>
                </a:solidFill>
                <a:latin typeface="Arial"/>
              </a:rPr>
              <a:t>四层路径 phase/block/stage/version 记作 DVC_PATH，是绝大多数命令的第一个参数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9777679" cy="258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· Design Version Control — 芯片设计数据管理与共享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309360"/>
            <a:ext cx="1097280" cy="274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01952"/>
            <a:ext cx="5577840" cy="2461158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0985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057400"/>
            <a:ext cx="502920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服务器端 = 本地工作区，同构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395728"/>
            <a:ext cx="5175503" cy="1806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$</a:t>
            </a:r>
            <a:r>
              <a:rPr sz="1150">
                <a:solidFill>
                  <a:srgbClr val="F4F7FA"/>
                </a:solidFill>
                <a:latin typeface="Consolas"/>
              </a:rPr>
              <a:t>SVN_ROOT/N7A/</a:t>
            </a:r>
            <a:r>
              <a:rPr sz="1150">
                <a:solidFill>
                  <a:srgbClr val="C6D0DA"/>
                </a:solidFill>
                <a:latin typeface="Consolas"/>
              </a:rPr>
              <a:t>                        </a:t>
            </a:r>
            <a:r>
              <a:rPr sz="1150">
                <a:solidFill>
                  <a:srgbClr val="7C8998"/>
                </a:solidFill>
                <a:latin typeface="Consolas"/>
              </a:rPr>
              <a:t># 项目仓库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P2-stable/</a:t>
            </a:r>
            <a:r>
              <a:rPr sz="1150">
                <a:solidFill>
                  <a:srgbClr val="C6D0DA"/>
                </a:solidFill>
                <a:latin typeface="Consolas"/>
              </a:rPr>
              <a:t>                          </a:t>
            </a:r>
            <a:r>
              <a:rPr sz="1150">
                <a:solidFill>
                  <a:srgbClr val="7C8998"/>
                </a:solidFill>
                <a:latin typeface="Consolas"/>
              </a:rPr>
              <a:t># Phase   阶段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</a:t>
            </a:r>
            <a:r>
              <a:rPr sz="1150">
                <a:solidFill>
                  <a:srgbClr val="F4F7FA"/>
                </a:solidFill>
                <a:latin typeface="Consolas"/>
              </a:rPr>
              <a:t>cpu/</a:t>
            </a:r>
            <a:r>
              <a:rPr sz="1150">
                <a:solidFill>
                  <a:srgbClr val="C6D0DA"/>
                </a:solidFill>
                <a:latin typeface="Consolas"/>
              </a:rPr>
              <a:t>                              </a:t>
            </a:r>
            <a:r>
              <a:rPr sz="1150">
                <a:solidFill>
                  <a:srgbClr val="7C8998"/>
                </a:solidFill>
                <a:latin typeface="Consolas"/>
              </a:rPr>
              <a:t># Block   模块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 </a:t>
            </a:r>
            <a:r>
              <a:rPr sz="1150">
                <a:solidFill>
                  <a:srgbClr val="F4F7FA"/>
                </a:solidFill>
                <a:latin typeface="Consolas"/>
              </a:rPr>
              <a:t>400-APR/</a:t>
            </a:r>
            <a:r>
              <a:rPr sz="1150">
                <a:solidFill>
                  <a:srgbClr val="C6D0DA"/>
                </a:solidFill>
                <a:latin typeface="Consolas"/>
              </a:rPr>
              <a:t>                        </a:t>
            </a:r>
            <a:r>
              <a:rPr sz="1150">
                <a:solidFill>
                  <a:srgbClr val="7C8998"/>
                </a:solidFill>
                <a:latin typeface="Consolas"/>
              </a:rPr>
              <a:t># Stage   流程节点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   </a:t>
            </a:r>
            <a:r>
              <a:rPr sz="1150">
                <a:solidFill>
                  <a:srgbClr val="F4F7FA"/>
                </a:solidFill>
                <a:latin typeface="Consolas"/>
              </a:rPr>
              <a:t>2021_0512-impl005/</a:t>
            </a:r>
            <a:r>
              <a:rPr sz="1150">
                <a:solidFill>
                  <a:srgbClr val="C6D0DA"/>
                </a:solidFill>
                <a:latin typeface="Consolas"/>
              </a:rPr>
              <a:t>            </a:t>
            </a:r>
            <a:r>
              <a:rPr sz="1150">
                <a:solidFill>
                  <a:srgbClr val="7C8998"/>
                </a:solidFill>
                <a:latin typeface="Consolas"/>
              </a:rPr>
              <a:t># Version 版本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     </a:t>
            </a:r>
            <a:r>
              <a:rPr sz="1150">
                <a:solidFill>
                  <a:srgbClr val="D8A65E"/>
                </a:solidFill>
                <a:latin typeface="Consolas"/>
              </a:rPr>
              <a:t>.dvc/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.dqi/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.htm/</a:t>
            </a:r>
            <a:r>
              <a:rPr sz="1150">
                <a:solidFill>
                  <a:srgbClr val="C6D0DA"/>
                </a:solidFill>
                <a:latin typeface="Consolas"/>
              </a:rPr>
              <a:t>           </a:t>
            </a:r>
            <a:r>
              <a:rPr sz="1150">
                <a:solidFill>
                  <a:srgbClr val="7C8998"/>
                </a:solidFill>
                <a:latin typeface="Consolas"/>
              </a:rPr>
              <a:t># 元数据，随数据入库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     </a:t>
            </a:r>
            <a:r>
              <a:rPr sz="1150">
                <a:solidFill>
                  <a:srgbClr val="F4F7FA"/>
                </a:solidFill>
                <a:latin typeface="Consolas"/>
              </a:rPr>
              <a:t>route/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postroute/</a:t>
            </a:r>
            <a:r>
              <a:rPr sz="1150">
                <a:solidFill>
                  <a:srgbClr val="C6D0DA"/>
                </a:solidFill>
                <a:latin typeface="Consolas"/>
              </a:rPr>
              <a:t>          </a:t>
            </a:r>
            <a:r>
              <a:rPr sz="1150">
                <a:solidFill>
                  <a:srgbClr val="7C8998"/>
                </a:solidFill>
                <a:latin typeface="Consolas"/>
              </a:rPr>
              <a:t># Container 容器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       </a:t>
            </a:r>
            <a:r>
              <a:rPr sz="1150">
                <a:solidFill>
                  <a:srgbClr val="F4F7FA"/>
                </a:solidFill>
                <a:latin typeface="Consolas"/>
              </a:rPr>
              <a:t>cpu.def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report/</a:t>
            </a:r>
            <a:r>
              <a:rPr sz="1150">
                <a:solidFill>
                  <a:srgbClr val="C6D0DA"/>
                </a:solidFill>
                <a:latin typeface="Consolas"/>
              </a:rPr>
              <a:t>          </a:t>
            </a:r>
            <a:r>
              <a:rPr sz="1150">
                <a:solidFill>
                  <a:srgbClr val="7C8998"/>
                </a:solidFill>
                <a:latin typeface="Consolas"/>
              </a:rPr>
              <a:t># Object  设计对象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564278"/>
            <a:ext cx="5577840" cy="1557934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" y="4760874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719726"/>
            <a:ext cx="502920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DVC_PATH 的写法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058054"/>
            <a:ext cx="5175503" cy="903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dvc_checkout_folder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P2-stable/cpu/400-APR/2021_0512-impl005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dvc_create_folder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D8A65E"/>
                </a:solidFill>
                <a:latin typeface="Consolas"/>
              </a:rPr>
              <a:t>_/_/520-sta/2021_0601-rc0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dvc_set_folder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2021_0519-eco</a:t>
            </a:r>
            <a:r>
              <a:rPr sz="1150">
                <a:solidFill>
                  <a:srgbClr val="C6D0DA"/>
                </a:solidFill>
                <a:latin typeface="Consolas"/>
              </a:rPr>
              <a:t>       </a:t>
            </a:r>
            <a:r>
              <a:rPr sz="1150">
                <a:solidFill>
                  <a:srgbClr val="7C8998"/>
                </a:solidFill>
                <a:latin typeface="Consolas"/>
              </a:rPr>
              <a:t># 单段 = 只换 Version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# 路径从右往左解析；_ 与 . 表示沿用当前层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55664" y="1901952"/>
            <a:ext cx="5193792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952244"/>
            <a:ext cx="74315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F4F7FA"/>
                </a:solidFill>
                <a:latin typeface="Arial"/>
              </a:rPr>
              <a:t>层级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0573" y="1952244"/>
            <a:ext cx="914853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F4F7FA"/>
                </a:solidFill>
                <a:latin typeface="Arial"/>
              </a:rPr>
              <a:t>由谁定义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6595" y="1952244"/>
            <a:ext cx="13440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F4F7FA"/>
                </a:solidFill>
                <a:latin typeface="Arial"/>
              </a:rPr>
              <a:t>命名规则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1855" y="1952244"/>
            <a:ext cx="138701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F4F7FA"/>
                </a:solidFill>
                <a:latin typeface="Arial"/>
              </a:rPr>
              <a:t>示例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55664" y="2212848"/>
            <a:ext cx="5193792" cy="47731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2258568"/>
            <a:ext cx="743157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0573" y="2258568"/>
            <a:ext cx="914853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项目经理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6595" y="2258568"/>
            <a:ext cx="1344092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项目代号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1855" y="2258568"/>
            <a:ext cx="1387016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N7A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55664" y="2690164"/>
            <a:ext cx="5193792" cy="47731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2735884"/>
            <a:ext cx="743157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Phase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0573" y="2735884"/>
            <a:ext cx="914853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项目经理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6595" y="2735884"/>
            <a:ext cx="1344092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P&lt;数字&gt;-&lt;主题&gt;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1855" y="2735884"/>
            <a:ext cx="1387016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P1-trial · P2-stable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55664" y="3167481"/>
            <a:ext cx="5193792" cy="47731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3213201"/>
            <a:ext cx="743157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Block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0573" y="3213201"/>
            <a:ext cx="914853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设计经理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6595" y="3213201"/>
            <a:ext cx="1344092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模块英文名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1855" y="3213201"/>
            <a:ext cx="1387016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cpu · ddr · pcie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55664" y="3644798"/>
            <a:ext cx="5193792" cy="47731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3690518"/>
            <a:ext cx="743157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Stage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00573" y="3690518"/>
            <a:ext cx="914853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流程约定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16595" y="3690518"/>
            <a:ext cx="1344092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&lt;数字&gt;-&lt;流程&gt;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61855" y="3690518"/>
            <a:ext cx="1387016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400-APR · 700-TAPEOUT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55664" y="4122115"/>
            <a:ext cx="5193792" cy="47731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56248" y="4167835"/>
            <a:ext cx="743157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Version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00573" y="4167835"/>
            <a:ext cx="914853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设计工程师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16595" y="4167835"/>
            <a:ext cx="1344092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&lt;日期&gt;-&lt;备注&gt;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61855" y="4167835"/>
            <a:ext cx="1387016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2021_0512-impl005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55664" y="4599432"/>
            <a:ext cx="5193792" cy="47731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56248" y="4645152"/>
            <a:ext cx="743157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Container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00573" y="4645152"/>
            <a:ext cx="914853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工程师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16595" y="4645152"/>
            <a:ext cx="1344092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corner / step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61855" y="4645152"/>
            <a:ext cx="1387016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tt_0p80V_25C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55664" y="5076748"/>
            <a:ext cx="5193792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55664" y="5076748"/>
            <a:ext cx="5193792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55664" y="5338267"/>
            <a:ext cx="5193792" cy="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0" i="0">
                <a:solidFill>
                  <a:srgbClr val="8A97A6"/>
                </a:solidFill>
                <a:latin typeface="Arial"/>
              </a:rPr>
              <a:t>命名规则在 etc/rule/DEFINE_PHASE|BLOCK|STAGE|VERSION（支持正则），项目可覆盖。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E9A63C"/>
                </a:solidFill>
                <a:latin typeface="Arial"/>
              </a:rPr>
              <a:t>名字统一，列表、跨版本对比、交付清单才谈得上脚本化。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995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CONTEXT · 上下文与指针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621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4F7FA"/>
                </a:solidFill>
                <a:latin typeface="Arial"/>
              </a:rPr>
              <a:t>六个上下文变量，决定命令在对谁动手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9960559" cy="332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A97A6"/>
                </a:solidFill>
                <a:latin typeface="Arial"/>
              </a:rPr>
              <a:t>查找顺序：本地 .dop/env → 服务器 .dop/env → shell 变量 → 内置默认值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9777679" cy="258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· Design Version Control — 芯片设计数据管理与共享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309360"/>
            <a:ext cx="1097280" cy="274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01952"/>
            <a:ext cx="54406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952244"/>
            <a:ext cx="136648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F4F7FA"/>
                </a:solidFill>
                <a:latin typeface="Arial"/>
              </a:rPr>
              <a:t>上下文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5165" y="1952244"/>
            <a:ext cx="127427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F4F7FA"/>
                </a:solidFill>
                <a:latin typeface="Arial"/>
              </a:rPr>
              <a:t>含义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0604" y="1952244"/>
            <a:ext cx="219641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F4F7FA"/>
                </a:solidFill>
                <a:latin typeface="Arial"/>
              </a:rPr>
              <a:t>谁来改它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212848"/>
            <a:ext cx="5440680" cy="40233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258568"/>
            <a:ext cx="136648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5FC8BC"/>
                </a:solidFill>
                <a:latin typeface="Consolas"/>
              </a:rPr>
              <a:t>DESIGN_PROJT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5165" y="2258568"/>
            <a:ext cx="1274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当前项目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0604" y="2258568"/>
            <a:ext cx="21964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checkout_project / set_project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615184"/>
            <a:ext cx="5440680" cy="40233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660903"/>
            <a:ext cx="136648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5FC8BC"/>
                </a:solidFill>
                <a:latin typeface="Consolas"/>
              </a:rPr>
              <a:t>DESIGN_PHASE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5165" y="2660903"/>
            <a:ext cx="1274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当前阶段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0604" y="2660903"/>
            <a:ext cx="21964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checkout_folder / set_folder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017520"/>
            <a:ext cx="5440680" cy="40233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063239"/>
            <a:ext cx="136648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5FC8BC"/>
                </a:solidFill>
                <a:latin typeface="Consolas"/>
              </a:rPr>
              <a:t>DESIGN_BLOCK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5165" y="3063239"/>
            <a:ext cx="1274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当前模块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0604" y="3063239"/>
            <a:ext cx="21964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逐级下钻时自动更新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419856"/>
            <a:ext cx="5440680" cy="40233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3465576"/>
            <a:ext cx="136648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5FC8BC"/>
                </a:solidFill>
                <a:latin typeface="Consolas"/>
              </a:rPr>
              <a:t>DESIGN_STAGE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35165" y="3465576"/>
            <a:ext cx="1274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当前流程节点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10604" y="3465576"/>
            <a:ext cx="21964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同上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22191"/>
            <a:ext cx="5440680" cy="40233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3867911"/>
            <a:ext cx="136648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5FC8BC"/>
                </a:solidFill>
                <a:latin typeface="Consolas"/>
              </a:rPr>
              <a:t>DESIGN_VERSN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35165" y="3867911"/>
            <a:ext cx="1274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当前版本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10604" y="3867911"/>
            <a:ext cx="21964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checkout_version / set_folder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224528"/>
            <a:ext cx="5440680" cy="40233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4270248"/>
            <a:ext cx="136648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5FC8BC"/>
                </a:solidFill>
                <a:latin typeface="Consolas"/>
              </a:rPr>
              <a:t>DESIGN_CONTR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35165" y="4270248"/>
            <a:ext cx="1274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当前容器（默认 .）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10604" y="4270248"/>
            <a:ext cx="21964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set_container / checkout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626864"/>
            <a:ext cx="54406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4626864"/>
            <a:ext cx="54406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4906670"/>
            <a:ext cx="41148" cy="32918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924958"/>
            <a:ext cx="429767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判断   </a:t>
            </a:r>
            <a:r>
              <a:rPr sz="1300">
                <a:solidFill>
                  <a:srgbClr val="E9A63C"/>
                </a:solidFill>
                <a:latin typeface="Arial"/>
              </a:rPr>
              <a:t>命令写的是语义，不是路径 —— 上下文对了，数据才不会走错门。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1901952"/>
            <a:ext cx="5303520" cy="2913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C8998"/>
                </a:solidFill>
                <a:latin typeface="Consolas"/>
              </a:rPr>
              <a:t>本地工作区里长什么样（checkout 自动建立）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27648" y="2212848"/>
            <a:ext cx="5303520" cy="3415563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28816" y="2414016"/>
            <a:ext cx="4901183" cy="30534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100">
                <a:solidFill>
                  <a:srgbClr val="D8A65E"/>
                </a:solidFill>
                <a:latin typeface="Consolas"/>
              </a:rPr>
              <a:t>_/</a:t>
            </a:r>
            <a:r>
              <a:rPr sz="1100">
                <a:solidFill>
                  <a:srgbClr val="C6D0DA"/>
                </a:solidFill>
                <a:latin typeface="Consolas"/>
              </a:rPr>
              <a:t>                           </a:t>
            </a:r>
            <a:r>
              <a:rPr sz="1100">
                <a:solidFill>
                  <a:srgbClr val="7C8998"/>
                </a:solidFill>
                <a:latin typeface="Consolas"/>
              </a:rPr>
              <a:t># 项目检出根 PROJT_PATH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C6D0DA"/>
                </a:solidFill>
                <a:latin typeface="Consolas"/>
              </a:rPr>
              <a:t>  </a:t>
            </a:r>
            <a:r>
              <a:rPr sz="1100">
                <a:solidFill>
                  <a:srgbClr val="F4F7FA"/>
                </a:solidFill>
                <a:latin typeface="Consolas"/>
              </a:rPr>
              <a:t>P2-stable/</a:t>
            </a:r>
            <a:r>
              <a:rPr sz="1100">
                <a:solidFill>
                  <a:srgbClr val="C6D0DA"/>
                </a:solidFill>
                <a:latin typeface="Consolas"/>
              </a:rPr>
              <a:t>                 </a:t>
            </a:r>
            <a:r>
              <a:rPr sz="1100">
                <a:solidFill>
                  <a:srgbClr val="7C8998"/>
                </a:solidFill>
                <a:latin typeface="Consolas"/>
              </a:rPr>
              <a:t># 每层 _ 指向当前子目录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C6D0DA"/>
                </a:solidFill>
                <a:latin typeface="Consolas"/>
              </a:rPr>
              <a:t>    </a:t>
            </a:r>
            <a:r>
              <a:rPr sz="1100">
                <a:solidFill>
                  <a:srgbClr val="F4F7FA"/>
                </a:solidFill>
                <a:latin typeface="Consolas"/>
              </a:rPr>
              <a:t>cpu/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C6D0DA"/>
                </a:solidFill>
                <a:latin typeface="Consolas"/>
              </a:rPr>
              <a:t>      </a:t>
            </a:r>
            <a:r>
              <a:rPr sz="1100">
                <a:solidFill>
                  <a:srgbClr val="F4F7FA"/>
                </a:solidFill>
                <a:latin typeface="Consolas"/>
              </a:rPr>
              <a:t>400-APR/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C6D0DA"/>
                </a:solidFill>
                <a:latin typeface="Consolas"/>
              </a:rPr>
              <a:t>        </a:t>
            </a:r>
            <a:r>
              <a:rPr sz="1100">
                <a:solidFill>
                  <a:srgbClr val="F4F7FA"/>
                </a:solidFill>
                <a:latin typeface="Consolas"/>
              </a:rPr>
              <a:t>2021_0512-impl005/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C6D0DA"/>
                </a:solidFill>
                <a:latin typeface="Consolas"/>
              </a:rPr>
              <a:t>          </a:t>
            </a:r>
            <a:r>
              <a:rPr sz="1100">
                <a:solidFill>
                  <a:srgbClr val="D8A65E"/>
                </a:solidFill>
                <a:latin typeface="Consolas"/>
              </a:rPr>
              <a:t>.dvc/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D8A65E"/>
                </a:solidFill>
                <a:latin typeface="Consolas"/>
              </a:rPr>
              <a:t>.dqi/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D8A65E"/>
                </a:solidFill>
                <a:latin typeface="Consolas"/>
              </a:rPr>
              <a:t>.htm/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C6D0DA"/>
                </a:solidFill>
                <a:latin typeface="Consolas"/>
              </a:rPr>
              <a:t>          </a:t>
            </a:r>
            <a:r>
              <a:rPr sz="1100">
                <a:solidFill>
                  <a:srgbClr val="F4F7FA"/>
                </a:solidFill>
                <a:latin typeface="Consolas"/>
              </a:rPr>
              <a:t>route/</a:t>
            </a:r>
          </a:p>
          <a:p>
            <a:pPr>
              <a:spcAft>
                <a:spcPts val="26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:phase</a:t>
            </a:r>
            <a:r>
              <a:rPr sz="1100">
                <a:solidFill>
                  <a:srgbClr val="C6D0DA"/>
                </a:solidFill>
                <a:latin typeface="Consolas"/>
              </a:rPr>
              <a:t>     </a:t>
            </a:r>
            <a:r>
              <a:rPr sz="1100">
                <a:solidFill>
                  <a:srgbClr val="D8A65E"/>
                </a:solidFill>
                <a:latin typeface="Consolas"/>
              </a:rPr>
              <a:t>-&gt;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D8A65E"/>
                </a:solidFill>
                <a:latin typeface="Consolas"/>
              </a:rPr>
              <a:t>_/P2-stable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:block</a:t>
            </a:r>
            <a:r>
              <a:rPr sz="1100">
                <a:solidFill>
                  <a:srgbClr val="C6D0DA"/>
                </a:solidFill>
                <a:latin typeface="Consolas"/>
              </a:rPr>
              <a:t>     </a:t>
            </a:r>
            <a:r>
              <a:rPr sz="1100">
                <a:solidFill>
                  <a:srgbClr val="D8A65E"/>
                </a:solidFill>
                <a:latin typeface="Consolas"/>
              </a:rPr>
              <a:t>-&gt;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D8A65E"/>
                </a:solidFill>
                <a:latin typeface="Consolas"/>
              </a:rPr>
              <a:t>_/P2-stable/cpu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:stage</a:t>
            </a:r>
            <a:r>
              <a:rPr sz="1100">
                <a:solidFill>
                  <a:srgbClr val="C6D0DA"/>
                </a:solidFill>
                <a:latin typeface="Consolas"/>
              </a:rPr>
              <a:t>     </a:t>
            </a:r>
            <a:r>
              <a:rPr sz="1100">
                <a:solidFill>
                  <a:srgbClr val="D8A65E"/>
                </a:solidFill>
                <a:latin typeface="Consolas"/>
              </a:rPr>
              <a:t>-&gt;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D8A65E"/>
                </a:solidFill>
                <a:latin typeface="Consolas"/>
              </a:rPr>
              <a:t>.../400-APR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:version</a:t>
            </a:r>
            <a:r>
              <a:rPr sz="1100">
                <a:solidFill>
                  <a:srgbClr val="C6D0DA"/>
                </a:solidFill>
                <a:latin typeface="Consolas"/>
              </a:rPr>
              <a:t>   </a:t>
            </a:r>
            <a:r>
              <a:rPr sz="1100">
                <a:solidFill>
                  <a:srgbClr val="D8A65E"/>
                </a:solidFill>
                <a:latin typeface="Consolas"/>
              </a:rPr>
              <a:t>-&gt;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D8A65E"/>
                </a:solidFill>
                <a:latin typeface="Consolas"/>
              </a:rPr>
              <a:t>.../2021_0512-impl005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:container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D8A65E"/>
                </a:solidFill>
                <a:latin typeface="Consolas"/>
              </a:rPr>
              <a:t>-&gt;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:version/route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7648" y="5705856"/>
            <a:ext cx="5303520" cy="4729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100">
                <a:solidFill>
                  <a:srgbClr val="C6D0DA"/>
                </a:solidFill>
                <a:latin typeface="Arial"/>
              </a:rPr>
              <a:t>脚本一律用 :version / :container 引用；链接被 svn:ignore 忽略，但别整包拷给别人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995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DAILY · 设计工程师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621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4F7FA"/>
                </a:solidFill>
                <a:latin typeface="Arial"/>
              </a:rPr>
              <a:t>从建版到入库：八条命令的日常循环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58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· Design Version Control — 芯片设计数据管理与共享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74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92224"/>
            <a:ext cx="4846320" cy="25589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350" b="1">
                <a:solidFill>
                  <a:srgbClr val="E9A63C"/>
                </a:solidFill>
                <a:latin typeface="Consolas"/>
              </a:rPr>
              <a:t>01  </a:t>
            </a:r>
            <a:r>
              <a:rPr sz="1350">
                <a:solidFill>
                  <a:srgbClr val="C6D0DA"/>
                </a:solidFill>
                <a:latin typeface="Arial"/>
              </a:rPr>
              <a:t>一次有意义的跑批 = 一个新 Version，只增不改。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E9A63C"/>
                </a:solidFill>
                <a:latin typeface="Consolas"/>
              </a:rPr>
              <a:t>02  </a:t>
            </a:r>
            <a:r>
              <a:rPr sz="1350">
                <a:solidFill>
                  <a:srgbClr val="C6D0DA"/>
                </a:solidFill>
                <a:latin typeface="Arial"/>
              </a:rPr>
              <a:t>首次检出很快：默认 --depth files，只拿元数据与本层文件。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E9A63C"/>
                </a:solidFill>
                <a:latin typeface="Consolas"/>
              </a:rPr>
              <a:t>03  </a:t>
            </a:r>
            <a:r>
              <a:rPr sz="1350">
                <a:solidFill>
                  <a:srgbClr val="C6D0DA"/>
                </a:solidFill>
                <a:latin typeface="Arial"/>
              </a:rPr>
              <a:t>产出先 copy / link 进 :container，再 checkin 才算交付。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E9A63C"/>
                </a:solidFill>
                <a:latin typeface="Consolas"/>
              </a:rPr>
              <a:t>04  </a:t>
            </a:r>
            <a:r>
              <a:rPr sz="1350">
                <a:solidFill>
                  <a:srgbClr val="C6D0DA"/>
                </a:solidFill>
                <a:latin typeface="Arial"/>
              </a:rPr>
              <a:t>没提交的数据，别人在仓库里永远看不到。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E9A63C"/>
                </a:solidFill>
                <a:latin typeface="Consolas"/>
              </a:rPr>
              <a:t>05  </a:t>
            </a:r>
            <a:r>
              <a:rPr sz="1350">
                <a:solidFill>
                  <a:srgbClr val="C6D0DA"/>
                </a:solidFill>
                <a:latin typeface="Arial"/>
              </a:rPr>
              <a:t>指标与数据同批入库：评审看 .dqi，不看截图。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607179"/>
            <a:ext cx="41148" cy="32918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4625467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判断   </a:t>
            </a:r>
            <a:r>
              <a:rPr sz="1350">
                <a:solidFill>
                  <a:srgbClr val="E9A63C"/>
                </a:solidFill>
                <a:latin typeface="Arial"/>
              </a:rPr>
              <a:t>练熟这八条，日常数据管理就结束了。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1755648"/>
            <a:ext cx="5925312" cy="4438484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6168" y="1952244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9904" y="1911096"/>
            <a:ext cx="5376672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一次跑批的完整动作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6168" y="2249424"/>
            <a:ext cx="5522976" cy="37837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050">
                <a:solidFill>
                  <a:srgbClr val="7C8998"/>
                </a:solidFill>
                <a:latin typeface="Consolas"/>
              </a:rPr>
              <a:t># 1  挂项目 + 检出工作路径（每天开工）</a:t>
            </a:r>
          </a:p>
          <a:p>
            <a:pPr>
              <a:spcAft>
                <a:spcPts val="260"/>
              </a:spcAft>
            </a:pPr>
            <a:r>
              <a:rPr sz="1050">
                <a:solidFill>
                  <a:srgbClr val="7C8998"/>
                </a:solidFill>
                <a:latin typeface="Consolas"/>
              </a:rPr>
              <a:t>%</a:t>
            </a:r>
            <a:r>
              <a:rPr sz="1050">
                <a:solidFill>
                  <a:srgbClr val="7C8998"/>
                </a:solidFill>
                <a:latin typeface="Consolas"/>
              </a:rPr>
              <a:t> </a:t>
            </a:r>
            <a:r>
              <a:rPr sz="1050">
                <a:solidFill>
                  <a:srgbClr val="5FC8BC"/>
                </a:solidFill>
                <a:latin typeface="Consolas"/>
              </a:rPr>
              <a:t>dvc_checkout_project</a:t>
            </a:r>
            <a:r>
              <a:rPr sz="1050">
                <a:solidFill>
                  <a:srgbClr val="C6D0DA"/>
                </a:solidFill>
                <a:latin typeface="Consolas"/>
              </a:rPr>
              <a:t> </a:t>
            </a:r>
            <a:r>
              <a:rPr sz="1050">
                <a:solidFill>
                  <a:srgbClr val="F4F7FA"/>
                </a:solidFill>
                <a:latin typeface="Consolas"/>
              </a:rPr>
              <a:t>N7A</a:t>
            </a:r>
            <a:r>
              <a:rPr sz="1050">
                <a:solidFill>
                  <a:srgbClr val="C6D0DA"/>
                </a:solidFill>
                <a:latin typeface="Consolas"/>
              </a:rPr>
              <a:t> </a:t>
            </a:r>
            <a:r>
              <a:rPr sz="1050">
                <a:solidFill>
                  <a:srgbClr val="D8A65E"/>
                </a:solidFill>
                <a:latin typeface="Consolas"/>
              </a:rPr>
              <a:t>_</a:t>
            </a:r>
          </a:p>
          <a:p>
            <a:pPr>
              <a:spcAft>
                <a:spcPts val="260"/>
              </a:spcAft>
            </a:pPr>
            <a:r>
              <a:rPr sz="1050">
                <a:solidFill>
                  <a:srgbClr val="7C8998"/>
                </a:solidFill>
                <a:latin typeface="Consolas"/>
              </a:rPr>
              <a:t>%</a:t>
            </a:r>
            <a:r>
              <a:rPr sz="1050">
                <a:solidFill>
                  <a:srgbClr val="7C8998"/>
                </a:solidFill>
                <a:latin typeface="Consolas"/>
              </a:rPr>
              <a:t> </a:t>
            </a:r>
            <a:r>
              <a:rPr sz="1050">
                <a:solidFill>
                  <a:srgbClr val="5FC8BC"/>
                </a:solidFill>
                <a:latin typeface="Consolas"/>
              </a:rPr>
              <a:t>dvc_checkout_folder</a:t>
            </a:r>
            <a:r>
              <a:rPr sz="1050">
                <a:solidFill>
                  <a:srgbClr val="C6D0DA"/>
                </a:solidFill>
                <a:latin typeface="Consolas"/>
              </a:rPr>
              <a:t> </a:t>
            </a:r>
            <a:r>
              <a:rPr sz="1050">
                <a:solidFill>
                  <a:srgbClr val="F4F7FA"/>
                </a:solidFill>
                <a:latin typeface="Consolas"/>
              </a:rPr>
              <a:t>P2-stable/cpu/400-APR/2021_0512-impl005</a:t>
            </a:r>
          </a:p>
          <a:p>
            <a:pPr>
              <a:spcAft>
                <a:spcPts val="26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spcAft>
                <a:spcPts val="260"/>
              </a:spcAft>
            </a:pPr>
            <a:r>
              <a:rPr sz="1050">
                <a:solidFill>
                  <a:srgbClr val="7C8998"/>
                </a:solidFill>
                <a:latin typeface="Consolas"/>
              </a:rPr>
              <a:t># 2  新建这一轮的版本与容器</a:t>
            </a:r>
          </a:p>
          <a:p>
            <a:pPr>
              <a:spcAft>
                <a:spcPts val="260"/>
              </a:spcAft>
            </a:pPr>
            <a:r>
              <a:rPr sz="1050">
                <a:solidFill>
                  <a:srgbClr val="7C8998"/>
                </a:solidFill>
                <a:latin typeface="Consolas"/>
              </a:rPr>
              <a:t>%</a:t>
            </a:r>
            <a:r>
              <a:rPr sz="1050">
                <a:solidFill>
                  <a:srgbClr val="7C8998"/>
                </a:solidFill>
                <a:latin typeface="Consolas"/>
              </a:rPr>
              <a:t> </a:t>
            </a:r>
            <a:r>
              <a:rPr sz="1050">
                <a:solidFill>
                  <a:srgbClr val="5FC8BC"/>
                </a:solidFill>
                <a:latin typeface="Consolas"/>
              </a:rPr>
              <a:t>dvc_create_version</a:t>
            </a:r>
            <a:r>
              <a:rPr sz="1050">
                <a:solidFill>
                  <a:srgbClr val="C6D0DA"/>
                </a:solidFill>
                <a:latin typeface="Consolas"/>
              </a:rPr>
              <a:t>   </a:t>
            </a:r>
            <a:r>
              <a:rPr sz="1050">
                <a:solidFill>
                  <a:srgbClr val="F4F7FA"/>
                </a:solidFill>
                <a:latin typeface="Consolas"/>
              </a:rPr>
              <a:t>2021_0521-impl006</a:t>
            </a:r>
          </a:p>
          <a:p>
            <a:pPr>
              <a:spcAft>
                <a:spcPts val="260"/>
              </a:spcAft>
            </a:pPr>
            <a:r>
              <a:rPr sz="1050">
                <a:solidFill>
                  <a:srgbClr val="7C8998"/>
                </a:solidFill>
                <a:latin typeface="Consolas"/>
              </a:rPr>
              <a:t>%</a:t>
            </a:r>
            <a:r>
              <a:rPr sz="1050">
                <a:solidFill>
                  <a:srgbClr val="7C8998"/>
                </a:solidFill>
                <a:latin typeface="Consolas"/>
              </a:rPr>
              <a:t> </a:t>
            </a:r>
            <a:r>
              <a:rPr sz="1050">
                <a:solidFill>
                  <a:srgbClr val="5FC8BC"/>
                </a:solidFill>
                <a:latin typeface="Consolas"/>
              </a:rPr>
              <a:t>dvc_checkout_version</a:t>
            </a:r>
            <a:r>
              <a:rPr sz="1050">
                <a:solidFill>
                  <a:srgbClr val="C6D0DA"/>
                </a:solidFill>
                <a:latin typeface="Consolas"/>
              </a:rPr>
              <a:t> </a:t>
            </a:r>
            <a:r>
              <a:rPr sz="1050">
                <a:solidFill>
                  <a:srgbClr val="F4F7FA"/>
                </a:solidFill>
                <a:latin typeface="Consolas"/>
              </a:rPr>
              <a:t>2021_0521-impl006</a:t>
            </a:r>
          </a:p>
          <a:p>
            <a:pPr>
              <a:spcAft>
                <a:spcPts val="260"/>
              </a:spcAft>
            </a:pPr>
            <a:r>
              <a:rPr sz="1050">
                <a:solidFill>
                  <a:srgbClr val="7C8998"/>
                </a:solidFill>
                <a:latin typeface="Consolas"/>
              </a:rPr>
              <a:t>%</a:t>
            </a:r>
            <a:r>
              <a:rPr sz="1050">
                <a:solidFill>
                  <a:srgbClr val="7C8998"/>
                </a:solidFill>
                <a:latin typeface="Consolas"/>
              </a:rPr>
              <a:t> </a:t>
            </a:r>
            <a:r>
              <a:rPr sz="1050">
                <a:solidFill>
                  <a:srgbClr val="5FC8BC"/>
                </a:solidFill>
                <a:latin typeface="Consolas"/>
              </a:rPr>
              <a:t>dvc_create_container</a:t>
            </a:r>
            <a:r>
              <a:rPr sz="1050">
                <a:solidFill>
                  <a:srgbClr val="C6D0DA"/>
                </a:solidFill>
                <a:latin typeface="Consolas"/>
              </a:rPr>
              <a:t> </a:t>
            </a:r>
            <a:r>
              <a:rPr sz="1050">
                <a:solidFill>
                  <a:srgbClr val="F4F7FA"/>
                </a:solidFill>
                <a:latin typeface="Consolas"/>
              </a:rPr>
              <a:t>route</a:t>
            </a:r>
          </a:p>
          <a:p>
            <a:pPr>
              <a:spcAft>
                <a:spcPts val="26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spcAft>
                <a:spcPts val="260"/>
              </a:spcAft>
            </a:pPr>
            <a:r>
              <a:rPr sz="1050">
                <a:solidFill>
                  <a:srgbClr val="7C8998"/>
                </a:solidFill>
                <a:latin typeface="Consolas"/>
              </a:rPr>
              <a:t># 3  工具跑完：收数据 + 记指标</a:t>
            </a:r>
          </a:p>
          <a:p>
            <a:pPr>
              <a:spcAft>
                <a:spcPts val="260"/>
              </a:spcAft>
            </a:pPr>
            <a:r>
              <a:rPr sz="1050">
                <a:solidFill>
                  <a:srgbClr val="7C8998"/>
                </a:solidFill>
                <a:latin typeface="Consolas"/>
              </a:rPr>
              <a:t>%</a:t>
            </a:r>
            <a:r>
              <a:rPr sz="1050">
                <a:solidFill>
                  <a:srgbClr val="7C8998"/>
                </a:solidFill>
                <a:latin typeface="Consolas"/>
              </a:rPr>
              <a:t> </a:t>
            </a:r>
            <a:r>
              <a:rPr sz="105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050">
                <a:solidFill>
                  <a:srgbClr val="C6D0DA"/>
                </a:solidFill>
                <a:latin typeface="Consolas"/>
              </a:rPr>
              <a:t> </a:t>
            </a:r>
            <a:r>
              <a:rPr sz="1050">
                <a:solidFill>
                  <a:srgbClr val="F4F7FA"/>
                </a:solidFill>
                <a:latin typeface="Consolas"/>
              </a:rPr>
              <a:t>$RUN/cpu.def</a:t>
            </a:r>
            <a:r>
              <a:rPr sz="1050">
                <a:solidFill>
                  <a:srgbClr val="C6D0DA"/>
                </a:solidFill>
                <a:latin typeface="Consolas"/>
              </a:rPr>
              <a:t>     </a:t>
            </a:r>
            <a:r>
              <a:rPr sz="1050">
                <a:solidFill>
                  <a:srgbClr val="F4F7FA"/>
                </a:solidFill>
                <a:latin typeface="Consolas"/>
              </a:rPr>
              <a:t>cpu.def</a:t>
            </a:r>
          </a:p>
          <a:p>
            <a:pPr>
              <a:spcAft>
                <a:spcPts val="260"/>
              </a:spcAft>
            </a:pPr>
            <a:r>
              <a:rPr sz="1050">
                <a:solidFill>
                  <a:srgbClr val="7C8998"/>
                </a:solidFill>
                <a:latin typeface="Consolas"/>
              </a:rPr>
              <a:t>%</a:t>
            </a:r>
            <a:r>
              <a:rPr sz="1050">
                <a:solidFill>
                  <a:srgbClr val="7C8998"/>
                </a:solidFill>
                <a:latin typeface="Consolas"/>
              </a:rPr>
              <a:t> </a:t>
            </a:r>
            <a:r>
              <a:rPr sz="1050">
                <a:solidFill>
                  <a:srgbClr val="5FC8BC"/>
                </a:solidFill>
                <a:latin typeface="Consolas"/>
              </a:rPr>
              <a:t>dvc_link_object</a:t>
            </a:r>
            <a:r>
              <a:rPr sz="1050">
                <a:solidFill>
                  <a:srgbClr val="C6D0DA"/>
                </a:solidFill>
                <a:latin typeface="Consolas"/>
              </a:rPr>
              <a:t> </a:t>
            </a:r>
            <a:r>
              <a:rPr sz="1050">
                <a:solidFill>
                  <a:srgbClr val="F4F7FA"/>
                </a:solidFill>
                <a:latin typeface="Consolas"/>
              </a:rPr>
              <a:t>$RUN/cpu.spef.gz</a:t>
            </a:r>
            <a:r>
              <a:rPr sz="1050">
                <a:solidFill>
                  <a:srgbClr val="C6D0DA"/>
                </a:solidFill>
                <a:latin typeface="Consolas"/>
              </a:rPr>
              <a:t> </a:t>
            </a:r>
            <a:r>
              <a:rPr sz="1050">
                <a:solidFill>
                  <a:srgbClr val="F4F7FA"/>
                </a:solidFill>
                <a:latin typeface="Consolas"/>
              </a:rPr>
              <a:t>cpu.spef.gz</a:t>
            </a:r>
          </a:p>
          <a:p>
            <a:pPr>
              <a:spcAft>
                <a:spcPts val="260"/>
              </a:spcAft>
            </a:pPr>
            <a:r>
              <a:rPr sz="1050">
                <a:solidFill>
                  <a:srgbClr val="7C8998"/>
                </a:solidFill>
                <a:latin typeface="Consolas"/>
              </a:rPr>
              <a:t>%</a:t>
            </a:r>
            <a:r>
              <a:rPr sz="1050">
                <a:solidFill>
                  <a:srgbClr val="7C8998"/>
                </a:solidFill>
                <a:latin typeface="Consolas"/>
              </a:rPr>
              <a:t> </a:t>
            </a:r>
            <a:r>
              <a:rPr sz="1050">
                <a:solidFill>
                  <a:srgbClr val="5FC8BC"/>
                </a:solidFill>
                <a:latin typeface="Consolas"/>
              </a:rPr>
              <a:t>dvc_set_dqi</a:t>
            </a:r>
            <a:r>
              <a:rPr sz="1050">
                <a:solidFill>
                  <a:srgbClr val="C6D0DA"/>
                </a:solidFill>
                <a:latin typeface="Consolas"/>
              </a:rPr>
              <a:t> </a:t>
            </a:r>
            <a:r>
              <a:rPr sz="1050">
                <a:solidFill>
                  <a:srgbClr val="F4F7FA"/>
                </a:solidFill>
                <a:latin typeface="Consolas"/>
              </a:rPr>
              <a:t>WNS</a:t>
            </a:r>
            <a:r>
              <a:rPr sz="1050">
                <a:solidFill>
                  <a:srgbClr val="C6D0DA"/>
                </a:solidFill>
                <a:latin typeface="Consolas"/>
              </a:rPr>
              <a:t> </a:t>
            </a:r>
            <a:r>
              <a:rPr sz="1050">
                <a:solidFill>
                  <a:srgbClr val="D8A65E"/>
                </a:solidFill>
                <a:latin typeface="Consolas"/>
              </a:rPr>
              <a:t>-0.152</a:t>
            </a:r>
          </a:p>
          <a:p>
            <a:pPr>
              <a:spcAft>
                <a:spcPts val="260"/>
              </a:spcAft>
            </a:pPr>
            <a:r>
              <a:rPr sz="1050">
                <a:solidFill>
                  <a:srgbClr val="7C8998"/>
                </a:solidFill>
                <a:latin typeface="Consolas"/>
              </a:rPr>
              <a:t>%</a:t>
            </a:r>
            <a:r>
              <a:rPr sz="1050">
                <a:solidFill>
                  <a:srgbClr val="7C8998"/>
                </a:solidFill>
                <a:latin typeface="Consolas"/>
              </a:rPr>
              <a:t> </a:t>
            </a:r>
            <a:r>
              <a:rPr sz="1050">
                <a:solidFill>
                  <a:srgbClr val="5FC8BC"/>
                </a:solidFill>
                <a:latin typeface="Consolas"/>
              </a:rPr>
              <a:t>dvc_set_dqi</a:t>
            </a:r>
            <a:r>
              <a:rPr sz="1050">
                <a:solidFill>
                  <a:srgbClr val="C6D0DA"/>
                </a:solidFill>
                <a:latin typeface="Consolas"/>
              </a:rPr>
              <a:t> </a:t>
            </a:r>
            <a:r>
              <a:rPr sz="1050">
                <a:solidFill>
                  <a:srgbClr val="F4F7FA"/>
                </a:solidFill>
                <a:latin typeface="Consolas"/>
              </a:rPr>
              <a:t>DRC</a:t>
            </a:r>
            <a:r>
              <a:rPr sz="1050">
                <a:solidFill>
                  <a:srgbClr val="C6D0DA"/>
                </a:solidFill>
                <a:latin typeface="Consolas"/>
              </a:rPr>
              <a:t> </a:t>
            </a:r>
            <a:r>
              <a:rPr sz="1050">
                <a:solidFill>
                  <a:srgbClr val="F4F7FA"/>
                </a:solidFill>
                <a:latin typeface="Consolas"/>
              </a:rPr>
              <a:t>12</a:t>
            </a:r>
          </a:p>
          <a:p>
            <a:pPr>
              <a:spcAft>
                <a:spcPts val="26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spcAft>
                <a:spcPts val="260"/>
              </a:spcAft>
            </a:pPr>
            <a:r>
              <a:rPr sz="1050">
                <a:solidFill>
                  <a:srgbClr val="7C8998"/>
                </a:solidFill>
                <a:latin typeface="Consolas"/>
              </a:rPr>
              <a:t># 4  入库 + 复核（此刻起别人才能看到）</a:t>
            </a:r>
          </a:p>
          <a:p>
            <a:pPr>
              <a:spcAft>
                <a:spcPts val="260"/>
              </a:spcAft>
            </a:pPr>
            <a:r>
              <a:rPr sz="1050">
                <a:solidFill>
                  <a:srgbClr val="7C8998"/>
                </a:solidFill>
                <a:latin typeface="Consolas"/>
              </a:rPr>
              <a:t>%</a:t>
            </a:r>
            <a:r>
              <a:rPr sz="1050">
                <a:solidFill>
                  <a:srgbClr val="7C8998"/>
                </a:solidFill>
                <a:latin typeface="Consolas"/>
              </a:rPr>
              <a:t> </a:t>
            </a:r>
            <a:r>
              <a:rPr sz="1050">
                <a:solidFill>
                  <a:srgbClr val="5FC8BC"/>
                </a:solidFill>
                <a:latin typeface="Consolas"/>
              </a:rPr>
              <a:t>dvc_checkin_container</a:t>
            </a:r>
          </a:p>
          <a:p>
            <a:pPr>
              <a:spcAft>
                <a:spcPts val="260"/>
              </a:spcAft>
            </a:pPr>
            <a:r>
              <a:rPr sz="1050">
                <a:solidFill>
                  <a:srgbClr val="7C8998"/>
                </a:solidFill>
                <a:latin typeface="Consolas"/>
              </a:rPr>
              <a:t>%</a:t>
            </a:r>
            <a:r>
              <a:rPr sz="1050">
                <a:solidFill>
                  <a:srgbClr val="7C8998"/>
                </a:solidFill>
                <a:latin typeface="Consolas"/>
              </a:rPr>
              <a:t> </a:t>
            </a:r>
            <a:r>
              <a:rPr sz="1050">
                <a:solidFill>
                  <a:srgbClr val="5FC8BC"/>
                </a:solidFill>
                <a:latin typeface="Consolas"/>
              </a:rPr>
              <a:t>dvc_list_container</a:t>
            </a:r>
          </a:p>
          <a:p>
            <a:pPr>
              <a:spcAft>
                <a:spcPts val="260"/>
              </a:spcAft>
            </a:pPr>
            <a:r>
              <a:rPr sz="1050">
                <a:solidFill>
                  <a:srgbClr val="F4F7FA"/>
                </a:solidFill>
                <a:latin typeface="Consolas"/>
              </a:rPr>
              <a:t>cpu.def</a:t>
            </a:r>
            <a:r>
              <a:rPr sz="1050">
                <a:solidFill>
                  <a:srgbClr val="C6D0DA"/>
                </a:solidFill>
                <a:latin typeface="Consolas"/>
              </a:rPr>
              <a:t>  </a:t>
            </a:r>
            <a:r>
              <a:rPr sz="1050">
                <a:solidFill>
                  <a:srgbClr val="F4F7FA"/>
                </a:solidFill>
                <a:latin typeface="Consolas"/>
              </a:rPr>
              <a:t>cpu.spef.gz</a:t>
            </a:r>
            <a:r>
              <a:rPr sz="1050">
                <a:solidFill>
                  <a:srgbClr val="C6D0DA"/>
                </a:solidFill>
                <a:latin typeface="Consolas"/>
              </a:rPr>
              <a:t>  </a:t>
            </a:r>
            <a:r>
              <a:rPr sz="1050">
                <a:solidFill>
                  <a:srgbClr val="F4F7FA"/>
                </a:solidFill>
                <a:latin typeface="Consolas"/>
              </a:rPr>
              <a:t>report/</a:t>
            </a:r>
            <a:r>
              <a:rPr sz="1050">
                <a:solidFill>
                  <a:srgbClr val="C6D0DA"/>
                </a:solidFill>
                <a:latin typeface="Consolas"/>
              </a:rPr>
              <a:t>  </a:t>
            </a:r>
            <a:r>
              <a:rPr sz="1050">
                <a:solidFill>
                  <a:srgbClr val="F4F7FA"/>
                </a:solidFill>
                <a:latin typeface="Consolas"/>
              </a:rPr>
              <a:t>route.log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995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OBJECTS · 取舍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621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4F7FA"/>
                </a:solidFill>
                <a:latin typeface="Arial"/>
              </a:rPr>
              <a:t>复制还是链接：一个决定，三种后果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9960559" cy="332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A97A6"/>
                </a:solidFill>
                <a:latin typeface="Arial"/>
              </a:rPr>
              <a:t>copy 让数据进仓库（可交付、可复现）；link 只留一条路径（省空间、跨机即断）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9777679" cy="258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· Design Version Control — 芯片设计数据管理与共享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309360"/>
            <a:ext cx="1097280" cy="274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65376"/>
            <a:ext cx="11064240" cy="3602736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2066544"/>
            <a:ext cx="5280660" cy="685800"/>
          </a:xfrm>
          <a:prstGeom prst="rect">
            <a:avLst/>
          </a:prstGeom>
          <a:solidFill>
            <a:srgbClr val="4C5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91440"/>
          <a:lstStyle/>
          <a:p>
            <a:pPr algn="l"/>
            <a:r>
              <a:rPr sz="1000" b="1">
                <a:solidFill>
                  <a:srgbClr val="F3F1EC"/>
                </a:solidFill>
                <a:latin typeface="Arial"/>
              </a:rPr>
              <a:t>DVC_COPY_OBJECT</a:t>
            </a:r>
          </a:p>
          <a:p>
            <a:pPr algn="l">
              <a:spcBef>
                <a:spcPts val="200"/>
              </a:spcBef>
            </a:pPr>
            <a:r>
              <a:rPr sz="1800" b="1">
                <a:solidFill>
                  <a:srgbClr val="F3F1EC"/>
                </a:solidFill>
                <a:latin typeface="Arial"/>
              </a:rPr>
              <a:t>实体复制 · 进版本库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" y="2752344"/>
            <a:ext cx="5280660" cy="2514600"/>
          </a:xfrm>
          <a:prstGeom prst="rect">
            <a:avLst/>
          </a:prstGeom>
          <a:solidFill>
            <a:srgbClr val="F3F1EC"/>
          </a:solidFill>
          <a:ln w="12700">
            <a:solidFill>
              <a:srgbClr val="818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l"/>
            <a:r>
              <a:rPr sz="1100" i="1">
                <a:solidFill>
                  <a:srgbClr val="4C5764"/>
                </a:solidFill>
                <a:latin typeface="Arial"/>
              </a:rPr>
              <a:t>默认动作，交付物一律走这条路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12181F"/>
                </a:solidFill>
                <a:latin typeface="Arial"/>
              </a:rPr>
              <a:t>01  网表 / DEF / SDC / 报告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12181F"/>
                </a:solidFill>
                <a:latin typeface="Arial"/>
              </a:rPr>
              <a:t>体积小、必须可复现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12181F"/>
                </a:solidFill>
                <a:latin typeface="Arial"/>
              </a:rPr>
              <a:t>02  对方 checkout 即得内容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12181F"/>
                </a:solidFill>
                <a:latin typeface="Arial"/>
              </a:rPr>
              <a:t>跨机、跨年都成立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12181F"/>
                </a:solidFill>
                <a:latin typeface="Arial"/>
              </a:rPr>
              <a:t>03  代价：仓库变大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12181F"/>
                </a:solidFill>
                <a:latin typeface="Arial"/>
              </a:rPr>
              <a:t>用 --depth 控制取多少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4204" y="2066544"/>
            <a:ext cx="5280660" cy="6858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91440"/>
          <a:lstStyle/>
          <a:p>
            <a:pPr algn="l"/>
            <a:r>
              <a:rPr sz="1000" b="1">
                <a:solidFill>
                  <a:srgbClr val="F3F1EC"/>
                </a:solidFill>
                <a:latin typeface="Arial"/>
              </a:rPr>
              <a:t>DVC_LINK_OBJECT</a:t>
            </a:r>
          </a:p>
          <a:p>
            <a:pPr algn="l">
              <a:spcBef>
                <a:spcPts val="200"/>
              </a:spcBef>
            </a:pPr>
            <a:r>
              <a:rPr sz="1800" b="1">
                <a:solidFill>
                  <a:srgbClr val="F3F1EC"/>
                </a:solidFill>
                <a:latin typeface="Arial"/>
              </a:rPr>
              <a:t>软链接 · 省空间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204" y="2752344"/>
            <a:ext cx="5280660" cy="2514600"/>
          </a:xfrm>
          <a:prstGeom prst="rect">
            <a:avLst/>
          </a:prstGeom>
          <a:solidFill>
            <a:srgbClr val="F3F1EC"/>
          </a:solidFill>
          <a:ln w="12700">
            <a:solidFill>
              <a:srgbClr val="1E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l"/>
            <a:r>
              <a:rPr sz="1100" i="1">
                <a:solidFill>
                  <a:srgbClr val="4C5764"/>
                </a:solidFill>
                <a:latin typeface="Arial"/>
              </a:rPr>
              <a:t>只在同一台机 / 统一挂载点内使用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1E2A38"/>
                </a:solidFill>
                <a:latin typeface="Arial"/>
              </a:rPr>
              <a:t>01  GDS · SPEF · SAIF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12181F"/>
                </a:solidFill>
                <a:latin typeface="Arial"/>
              </a:rPr>
              <a:t>GB 级、可重跑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1E2A38"/>
                </a:solidFill>
                <a:latin typeface="Arial"/>
              </a:rPr>
              <a:t>02  入库的是 realpath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12181F"/>
                </a:solidFill>
                <a:latin typeface="Arial"/>
              </a:rPr>
              <a:t>换机器后链接指向空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1E2A38"/>
                </a:solidFill>
                <a:latin typeface="Arial"/>
              </a:rPr>
              <a:t>03  对方看不到真实内容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12181F"/>
                </a:solidFill>
                <a:latin typeface="Arial"/>
              </a:rPr>
              <a:t>共享前必须改 copy</a:t>
            </a:r>
          </a:p>
        </p:txBody>
      </p:sp>
      <p:sp>
        <p:nvSpPr>
          <p:cNvPr id="15" name="Oval 14"/>
          <p:cNvSpPr/>
          <p:nvPr/>
        </p:nvSpPr>
        <p:spPr>
          <a:xfrm>
            <a:off x="5815584" y="3392424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3F1EC"/>
                </a:solidFill>
                <a:latin typeface="Arial"/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669280"/>
            <a:ext cx="11064240" cy="332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E9A63C"/>
                </a:solidFill>
                <a:latin typeface="Arial"/>
              </a:rPr>
              <a:t>判断依据只有一条：这份数据，别人以后要不要复现？要，就 copy；只是本机流程的中间产物，才考虑 link。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995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COMMIT · 提交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621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4F7FA"/>
                </a:solidFill>
                <a:latin typeface="Arial"/>
              </a:rPr>
              <a:t>commit / checkin / clean：三种姿势，风险各不同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58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· Design Version Control — 芯片设计数据管理与共享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74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56692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787652"/>
            <a:ext cx="145600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F4F7FA"/>
                </a:solidFill>
                <a:latin typeface="Arial"/>
              </a:rPr>
              <a:t>命令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686" y="1787652"/>
            <a:ext cx="154322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F4F7FA"/>
                </a:solidFill>
                <a:latin typeface="Arial"/>
              </a:rPr>
              <a:t>实际动作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787652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F4F7FA"/>
                </a:solidFill>
                <a:latin typeface="Arial"/>
              </a:rPr>
              <a:t>什么时候用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2936" y="1787652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F4F7FA"/>
                </a:solidFill>
                <a:latin typeface="Arial"/>
              </a:rPr>
              <a:t>风险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048256"/>
            <a:ext cx="5669280" cy="459943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093976"/>
            <a:ext cx="1456006" cy="368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5FC8BC"/>
                </a:solidFill>
                <a:latin typeface="Consolas"/>
              </a:rPr>
              <a:t>dvc_commit_container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686" y="2093976"/>
            <a:ext cx="1543225" cy="368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svn commit（只提交已跟踪变更）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093976"/>
            <a:ext cx="932688" cy="368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精确控制内容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2093976"/>
            <a:ext cx="932688" cy="368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漏掉未 add 的新文件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508199"/>
            <a:ext cx="5669280" cy="459943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553919"/>
            <a:ext cx="1456006" cy="368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5FC8BC"/>
                </a:solidFill>
                <a:latin typeface="Consolas"/>
              </a:rPr>
              <a:t>dvc_checkin_container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686" y="2553919"/>
            <a:ext cx="1543225" cy="368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先 add --force 再 commit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2553919"/>
            <a:ext cx="932688" cy="368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跑批收尾，最省心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2553919"/>
            <a:ext cx="932688" cy="368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易把 cache 一起提交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968142"/>
            <a:ext cx="5669280" cy="459943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3013862"/>
            <a:ext cx="1456006" cy="368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5FC8BC"/>
                </a:solidFill>
                <a:latin typeface="Consolas"/>
              </a:rPr>
              <a:t>dvc_checkin_folder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686" y="3013862"/>
            <a:ext cx="1543225" cy="368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四层 + 容器逐级 add/update/commit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3013862"/>
            <a:ext cx="932688" cy="368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整条路径一次入库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2936" y="3013862"/>
            <a:ext cx="932688" cy="368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同上，范围更大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428085"/>
            <a:ext cx="5669280" cy="459943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473805"/>
            <a:ext cx="1456006" cy="368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5FC8BC"/>
                </a:solidFill>
                <a:latin typeface="Consolas"/>
              </a:rPr>
              <a:t>dvc_clean_container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24686" y="3473805"/>
            <a:ext cx="1543225" cy="368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remove 全部对象 + commit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3473805"/>
            <a:ext cx="932688" cy="368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为重跑腾位置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02936" y="3473805"/>
            <a:ext cx="932688" cy="368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工作视图被清空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888028"/>
            <a:ext cx="56692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3888028"/>
            <a:ext cx="56692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4112971"/>
            <a:ext cx="5669280" cy="1557934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8096" y="4309567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4268419"/>
            <a:ext cx="512064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checkin：容器里所有东西一起进门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" y="4606747"/>
            <a:ext cx="5266944" cy="903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dvc_checkin_container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route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Adding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route/cpu.def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Adding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(</a:t>
            </a:r>
            <a:r>
              <a:rPr sz="1150">
                <a:solidFill>
                  <a:srgbClr val="F4F7FA"/>
                </a:solidFill>
                <a:latin typeface="Consolas"/>
              </a:rPr>
              <a:t>bin</a:t>
            </a:r>
            <a:r>
              <a:rPr sz="1150">
                <a:solidFill>
                  <a:srgbClr val="F4F7FA"/>
                </a:solidFill>
                <a:latin typeface="Consolas"/>
              </a:rPr>
              <a:t>)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route/report/route.rpt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Committed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229.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28232" y="1737360"/>
            <a:ext cx="5239512" cy="2844126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29400" y="193395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03136" y="1892808"/>
            <a:ext cx="4690872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提交与自查的固定四步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2231136"/>
            <a:ext cx="4837176" cy="2189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# 收尾推荐：先点名要交付的对象，再提交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$REP/sta.rpt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sta.rpt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dvc_link_object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$REP/cpu.spef.gz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cpu.spef.gz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dvc_delete_object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cache/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.XSC_user.svf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dvc_checkin_container</a:t>
            </a:r>
          </a:p>
          <a:p>
            <a:pPr>
              <a:spcAft>
                <a:spcPts val="26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## 复核：服务器里到底有什么？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dvc_list_container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cpu.def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cpu.spef.gz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report/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sta.rpt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dvc_list_version</a:t>
            </a:r>
            <a:r>
              <a:rPr sz="1150">
                <a:solidFill>
                  <a:srgbClr val="C6D0DA"/>
                </a:solidFill>
                <a:latin typeface="Consolas"/>
              </a:rPr>
              <a:t>            </a:t>
            </a:r>
            <a:r>
              <a:rPr sz="1150">
                <a:solidFill>
                  <a:srgbClr val="7C8998"/>
                </a:solidFill>
                <a:latin typeface="Consolas"/>
              </a:rPr>
              <a:t># 有哪些容器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8232" y="4782654"/>
            <a:ext cx="5239512" cy="2995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E9A63C"/>
                </a:solidFill>
                <a:latin typeface="Consolas"/>
              </a:rPr>
              <a:t>—  </a:t>
            </a:r>
            <a:r>
              <a:rPr sz="1150">
                <a:solidFill>
                  <a:srgbClr val="C6D0DA"/>
                </a:solidFill>
                <a:latin typeface="Arial"/>
              </a:rPr>
              <a:t>团队约定：checkin 前必须 delete 临时物，或事先设 svn:ignore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995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DQI · 质量指标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621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4F7FA"/>
                </a:solidFill>
                <a:latin typeface="Arial"/>
              </a:rPr>
              <a:t>让指标跟着版本走，评审不再靠截图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9960559" cy="332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A97A6"/>
                </a:solidFill>
                <a:latin typeface="Arial"/>
              </a:rPr>
              <a:t>.dqi 一名一文件、纯文本，随版本入库 —— 跨版本趋势一条命令拉出来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9777679" cy="258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· Design Version Control — 芯片设计数据管理与共享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309360"/>
            <a:ext cx="1097280" cy="274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01952"/>
            <a:ext cx="5486400" cy="2009546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0985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057400"/>
            <a:ext cx="493776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写入与读取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395728"/>
            <a:ext cx="5084064" cy="1354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dvc_set_dqi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--root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-0.152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DQI: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-0.152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dvc_set_dqi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--root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TNS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-3.418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dvc_set_dqi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--root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DRC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12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dvc_set_dqi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--root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--group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REG2REG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-0.098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dvc_get_dqi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--root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993794"/>
            <a:ext cx="548640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C8998"/>
                </a:solidFill>
                <a:latin typeface="Consolas"/>
              </a:rPr>
              <a:t>分组用 --group，或把名字写成 REG2REG/WNS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441850"/>
            <a:ext cx="5486400" cy="1557934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" y="463844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7298"/>
            <a:ext cx="493776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--html 直接产出评审用表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935626"/>
            <a:ext cx="5084064" cy="903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dvc_get_dqi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--root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--group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REG2REG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--html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8A97A6"/>
                </a:solidFill>
                <a:latin typeface="Consolas"/>
              </a:rPr>
              <a:t>&lt;table id=dqitable&gt;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8A97A6"/>
                </a:solidFill>
                <a:latin typeface="Consolas"/>
              </a:rPr>
              <a:t>&lt;tr class=data&gt;</a:t>
            </a:r>
            <a:r>
              <a:rPr sz="1150">
                <a:solidFill>
                  <a:srgbClr val="8A97A6"/>
                </a:solidFill>
                <a:latin typeface="Consolas"/>
              </a:rPr>
              <a:t>&lt;td&gt;</a:t>
            </a:r>
            <a:r>
              <a:rPr sz="1150">
                <a:solidFill>
                  <a:srgbClr val="D8A65E"/>
                </a:solidFill>
                <a:latin typeface="Consolas"/>
              </a:rPr>
              <a:t>WNS&lt;/td&gt;&lt;td&gt;-0.152&lt;/td&gt;&lt;/tr&gt;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8A97A6"/>
                </a:solidFill>
                <a:latin typeface="Consolas"/>
              </a:rPr>
              <a:t>&lt;/table&gt;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901952"/>
            <a:ext cx="4873752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67144" y="1952244"/>
            <a:ext cx="142341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F4F7FA"/>
                </a:solidFill>
                <a:latin typeface="Arial"/>
              </a:rPr>
              <a:t>签核版本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1727" y="1952244"/>
            <a:ext cx="61112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F4F7FA"/>
                </a:solidFill>
                <a:latin typeface="Arial"/>
              </a:rPr>
              <a:t>WNS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4019" y="1952244"/>
            <a:ext cx="61112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F4F7FA"/>
                </a:solidFill>
                <a:latin typeface="Arial"/>
              </a:rPr>
              <a:t>TNS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16312" y="1952244"/>
            <a:ext cx="48286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F4F7FA"/>
                </a:solidFill>
                <a:latin typeface="Arial"/>
              </a:rPr>
              <a:t>DRC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0347" y="1952244"/>
            <a:ext cx="7393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F4F7FA"/>
                </a:solidFill>
                <a:latin typeface="Arial"/>
              </a:rPr>
              <a:t>结论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212848"/>
            <a:ext cx="4873752" cy="420624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67144" y="2258568"/>
            <a:ext cx="142341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2021_0601-rc0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1727" y="2258568"/>
            <a:ext cx="6111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-0.412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4019" y="2258568"/>
            <a:ext cx="6111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-5.31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16312" y="2258568"/>
            <a:ext cx="48286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0347" y="2258568"/>
            <a:ext cx="7393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未达标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2633472"/>
            <a:ext cx="4873752" cy="420624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67144" y="2679191"/>
            <a:ext cx="142341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2021_0610-rc1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1727" y="2679191"/>
            <a:ext cx="6111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-0.152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4019" y="2679191"/>
            <a:ext cx="6111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-3.42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16312" y="2679191"/>
            <a:ext cx="48286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00347" y="2679191"/>
            <a:ext cx="7393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改善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60" y="3054096"/>
            <a:ext cx="4873752" cy="420624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67144" y="3099815"/>
            <a:ext cx="142341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2021_0620-final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1727" y="3099815"/>
            <a:ext cx="6111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-0.008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04019" y="3099815"/>
            <a:ext cx="6111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-0.41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16312" y="3099815"/>
            <a:ext cx="48286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00347" y="3099815"/>
            <a:ext cx="7393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可流片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0" y="3474720"/>
            <a:ext cx="4873752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766560" y="3474720"/>
            <a:ext cx="4873752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3717950"/>
            <a:ext cx="4873752" cy="316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这张表不是手工整理的，而是跨版本读出来的：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66560" y="4065422"/>
            <a:ext cx="4873752" cy="1557934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67728" y="426201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41464" y="4220870"/>
            <a:ext cx="4325112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趋势脚本片段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67728" y="4559198"/>
            <a:ext cx="4471416" cy="903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foreach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v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(</a:t>
            </a:r>
            <a:r>
              <a:rPr sz="1150">
                <a:solidFill>
                  <a:srgbClr val="F4F7FA"/>
                </a:solidFill>
                <a:latin typeface="Consolas"/>
              </a:rPr>
              <a:t>rc0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rc1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final</a:t>
            </a:r>
            <a:r>
              <a:rPr sz="1150">
                <a:solidFill>
                  <a:srgbClr val="F4F7FA"/>
                </a:solidFill>
                <a:latin typeface="Consolas"/>
              </a:rPr>
              <a:t>)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5FC8BC"/>
                </a:solidFill>
                <a:latin typeface="Consolas"/>
              </a:rPr>
              <a:t>dvc_get_dqi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--root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_/P2-stable/\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</a:t>
            </a:r>
            <a:r>
              <a:rPr sz="1150">
                <a:solidFill>
                  <a:srgbClr val="F4F7FA"/>
                </a:solidFill>
                <a:latin typeface="Consolas"/>
              </a:rPr>
              <a:t>cpu/500-TIMING/$v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995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TRACE · 追溯与找回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621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4F7FA"/>
                </a:solidFill>
                <a:latin typeface="Arial"/>
              </a:rPr>
              <a:t>“三周前那一版”怎么在 30 秒内定位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9960559" cy="332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A97A6"/>
                </a:solidFill>
                <a:latin typeface="Arial"/>
              </a:rPr>
              <a:t>DVC 给语义与路径，SVN 给历史与作者 —— 合起来才是完整追溯链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9777679" cy="258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· Design Version Control — 芯片设计数据管理与共享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309360"/>
            <a:ext cx="1097280" cy="274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01952"/>
            <a:ext cx="5394960" cy="2235352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0985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057400"/>
            <a:ext cx="484632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只读追溯：不打扰任何人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395728"/>
            <a:ext cx="4992624" cy="15806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## 1 谁在什么时候提的？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svn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log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^/P2-stable/cpu/400-APR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|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head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## 2 那一版里有哪些对象？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dvc_list_version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2021_0519-eco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## 3 不检出，直接取一个文件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svn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cat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^/.../2021_0519-eco/cpu.v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\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 </a:t>
            </a:r>
            <a:r>
              <a:rPr sz="1150">
                <a:solidFill>
                  <a:srgbClr val="F4F7FA"/>
                </a:solidFill>
                <a:latin typeface="Consolas"/>
              </a:rPr>
              <a:t>&gt;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old_cpu.v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38472"/>
            <a:ext cx="5394960" cy="1332128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" y="453506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493920"/>
            <a:ext cx="484632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用 SVN 原生命令补齐 DVC 不管的部分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832248"/>
            <a:ext cx="4992624" cy="6774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svn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up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-r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218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:version</a:t>
            </a:r>
            <a:r>
              <a:rPr sz="1150">
                <a:solidFill>
                  <a:srgbClr val="C6D0DA"/>
                </a:solidFill>
                <a:latin typeface="Consolas"/>
              </a:rPr>
              <a:t>      </a:t>
            </a:r>
            <a:r>
              <a:rPr sz="1150">
                <a:solidFill>
                  <a:srgbClr val="7C8998"/>
                </a:solidFill>
                <a:latin typeface="Consolas"/>
              </a:rPr>
              <a:t># 回到当时的状态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svn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revert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-R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:container</a:t>
            </a:r>
            <a:r>
              <a:rPr sz="1150">
                <a:solidFill>
                  <a:srgbClr val="C6D0DA"/>
                </a:solidFill>
                <a:latin typeface="Consolas"/>
              </a:rPr>
              <a:t>    </a:t>
            </a:r>
            <a:r>
              <a:rPr sz="1150">
                <a:solidFill>
                  <a:srgbClr val="7C8998"/>
                </a:solidFill>
                <a:latin typeface="Consolas"/>
              </a:rPr>
              <a:t># 放弃本地误改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svn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diff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-c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331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^/.../cpu.v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7C8998"/>
                </a:solidFill>
                <a:latin typeface="Consolas"/>
              </a:rPr>
              <a:t># 看某一版改了什么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901952"/>
            <a:ext cx="534924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1952244"/>
            <a:ext cx="22677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F4F7FA"/>
                </a:solidFill>
                <a:latin typeface="Arial"/>
              </a:rPr>
              <a:t>你要回答的问题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1952244"/>
            <a:ext cx="26791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F4F7FA"/>
                </a:solidFill>
                <a:latin typeface="Arial"/>
              </a:rPr>
              <a:t>用什么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212848"/>
            <a:ext cx="5349240" cy="40233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2258568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这个版本是谁、何时入库的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2258568"/>
            <a:ext cx="26791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dvc_list_stage -v / svn log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615184"/>
            <a:ext cx="5349240" cy="40233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4" y="2660903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这一版与上一版差在哪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660903"/>
            <a:ext cx="26791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svn diff（DVC 不封装 diff）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017520"/>
            <a:ext cx="5349240" cy="40233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3063239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当时用的约束文件内容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063239"/>
            <a:ext cx="26791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svn cat ^/…/design.sdc -r 331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419856"/>
            <a:ext cx="5349240" cy="40233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3465576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整个项目的交付清单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3465576"/>
            <a:ext cx="26791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dvc_list_project --recursive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822191"/>
            <a:ext cx="5349240" cy="40233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3867911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哪些 corner 已经跑过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78824" y="3867911"/>
            <a:ext cx="26791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dvc_list_version + dvc_get_dqi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224528"/>
            <a:ext cx="5349240" cy="40233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9944" y="4270248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谁删掉了那个 740MB 的 GDS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8824" y="4270248"/>
            <a:ext cx="26791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svn log --verbose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626864"/>
            <a:ext cx="534924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4626864"/>
            <a:ext cx="534924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870094"/>
            <a:ext cx="41148" cy="32918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4888382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判断   </a:t>
            </a:r>
            <a:r>
              <a:rPr sz="1350">
                <a:solidFill>
                  <a:srgbClr val="E9A63C"/>
                </a:solidFill>
                <a:latin typeface="Arial"/>
              </a:rPr>
              <a:t>追溯能力不是加分项，是签核与审计的入场券。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995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MANAGE · 项目经理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621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4F7FA"/>
                </a:solidFill>
                <a:latin typeface="Arial"/>
              </a:rPr>
              <a:t>把阶段、门禁与交付物写进目录结构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9960559" cy="332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A97A6"/>
                </a:solidFill>
                <a:latin typeface="Arial"/>
              </a:rPr>
              <a:t>Phase / Stage 不是 PPT 里的词，而是 SVN 上真实存在的目录 —— 进度无法伪装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9777679" cy="258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· Design Version Control — 芯片设计数据管理与共享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309360"/>
            <a:ext cx="1097280" cy="274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65376"/>
            <a:ext cx="11064240" cy="3712463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13232" y="2139696"/>
            <a:ext cx="10771632" cy="0"/>
          </a:xfrm>
          <a:prstGeom prst="line">
            <a:avLst/>
          </a:prstGeom>
          <a:ln w="19050">
            <a:solidFill>
              <a:srgbClr val="4C57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05612" y="2048256"/>
            <a:ext cx="15240" cy="18288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8520" y="2048256"/>
            <a:ext cx="15240" cy="18288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1428" y="2048256"/>
            <a:ext cx="15240" cy="18288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4336" y="2048256"/>
            <a:ext cx="15240" cy="18288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77244" y="2048256"/>
            <a:ext cx="15240" cy="18288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" y="2276856"/>
            <a:ext cx="2601468" cy="411480"/>
          </a:xfrm>
          <a:prstGeom prst="rect">
            <a:avLst/>
          </a:prstGeom>
          <a:solidFill>
            <a:srgbClr val="616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100" b="1">
                <a:solidFill>
                  <a:srgbClr val="F3F1EC"/>
                </a:solidFill>
                <a:latin typeface="Arial"/>
              </a:rPr>
              <a:t>M1–M3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51860" y="2276856"/>
            <a:ext cx="2601468" cy="411480"/>
          </a:xfrm>
          <a:prstGeom prst="rect">
            <a:avLst/>
          </a:prstGeom>
          <a:solidFill>
            <a:srgbClr val="616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100" b="1">
                <a:solidFill>
                  <a:srgbClr val="F3F1EC"/>
                </a:solidFill>
                <a:latin typeface="Arial"/>
              </a:rPr>
              <a:t>M4–M7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2276856"/>
            <a:ext cx="2601468" cy="41148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100" b="1">
                <a:solidFill>
                  <a:srgbClr val="F3F1EC"/>
                </a:solidFill>
                <a:latin typeface="Arial"/>
              </a:rPr>
              <a:t>M8–M9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37676" y="2276856"/>
            <a:ext cx="2601468" cy="411480"/>
          </a:xfrm>
          <a:prstGeom prst="rect">
            <a:avLst/>
          </a:prstGeom>
          <a:solidFill>
            <a:srgbClr val="616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100" b="1">
                <a:solidFill>
                  <a:srgbClr val="F3F1EC"/>
                </a:solidFill>
                <a:latin typeface="Arial"/>
              </a:rPr>
              <a:t>M10+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" y="2825496"/>
            <a:ext cx="2601468" cy="2606040"/>
          </a:xfrm>
          <a:prstGeom prst="rect">
            <a:avLst/>
          </a:prstGeom>
          <a:solidFill>
            <a:srgbClr val="F3F1EC"/>
          </a:solidFill>
          <a:ln w="9525">
            <a:solidFill>
              <a:srgbClr val="818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wrap="square"/>
          <a:lstStyle/>
          <a:p>
            <a:pPr algn="l"/>
            <a:r>
              <a:rPr sz="900" b="1">
                <a:solidFill>
                  <a:srgbClr val="8A590F"/>
                </a:solidFill>
                <a:latin typeface="Arial"/>
              </a:rPr>
              <a:t>P1-TRIAL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12181F"/>
                </a:solidFill>
                <a:latin typeface="Arial"/>
              </a:rPr>
              <a:t>试跑与铺路</a:t>
            </a:r>
          </a:p>
          <a:p>
            <a:pPr algn="l">
              <a:spcBef>
                <a:spcPts val="800"/>
              </a:spcBef>
            </a:pPr>
            <a:r>
              <a:rPr sz="900" b="1">
                <a:solidFill>
                  <a:srgbClr val="4C5764"/>
                </a:solidFill>
                <a:latin typeface="Arial"/>
              </a:rPr>
              <a:t>交付清单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·  000-DATA 基线（PDK link + 输入 copy）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·  四模块目录与命名规范定稿</a:t>
            </a:r>
          </a:p>
          <a:p>
            <a:pPr algn="l">
              <a:spcBef>
                <a:spcPts val="800"/>
              </a:spcBef>
            </a:pPr>
            <a:r>
              <a:rPr sz="900" i="1">
                <a:solidFill>
                  <a:srgbClr val="1E2A38"/>
                </a:solidFill>
                <a:latin typeface="Arial"/>
              </a:rPr>
              <a:t>退出门槛  dvc_list_project 四层全覆盖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51860" y="2825496"/>
            <a:ext cx="2601468" cy="2606040"/>
          </a:xfrm>
          <a:prstGeom prst="rect">
            <a:avLst/>
          </a:prstGeom>
          <a:solidFill>
            <a:srgbClr val="F3F1EC"/>
          </a:solidFill>
          <a:ln w="9525">
            <a:solidFill>
              <a:srgbClr val="818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wrap="square"/>
          <a:lstStyle/>
          <a:p>
            <a:pPr algn="l"/>
            <a:r>
              <a:rPr sz="900" b="1">
                <a:solidFill>
                  <a:srgbClr val="8A590F"/>
                </a:solidFill>
                <a:latin typeface="Arial"/>
              </a:rPr>
              <a:t>P2-STABLE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12181F"/>
                </a:solidFill>
                <a:latin typeface="Arial"/>
              </a:rPr>
              <a:t>稳定与签核</a:t>
            </a:r>
          </a:p>
          <a:p>
            <a:pPr algn="l">
              <a:spcBef>
                <a:spcPts val="800"/>
              </a:spcBef>
            </a:pPr>
            <a:r>
              <a:rPr sz="900" b="1">
                <a:solidFill>
                  <a:srgbClr val="4C5764"/>
                </a:solidFill>
                <a:latin typeface="Arial"/>
              </a:rPr>
              <a:t>交付清单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·  400-APR 五 step 容器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·  500-TIMING 四 corner + DQI</a:t>
            </a:r>
          </a:p>
          <a:p>
            <a:pPr algn="l">
              <a:spcBef>
                <a:spcPts val="800"/>
              </a:spcBef>
            </a:pPr>
            <a:r>
              <a:rPr sz="900" i="1">
                <a:solidFill>
                  <a:srgbClr val="1E2A38"/>
                </a:solidFill>
                <a:latin typeface="Arial"/>
              </a:rPr>
              <a:t>退出门槛  签核指标达标，WNS ≥ -0.01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2825496"/>
            <a:ext cx="2601468" cy="2606040"/>
          </a:xfrm>
          <a:prstGeom prst="rect">
            <a:avLst/>
          </a:prstGeom>
          <a:solidFill>
            <a:srgbClr val="F3F1EC"/>
          </a:solidFill>
          <a:ln w="9525">
            <a:solidFill>
              <a:srgbClr val="818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wrap="square"/>
          <a:lstStyle/>
          <a:p>
            <a:pPr algn="l"/>
            <a:r>
              <a:rPr sz="900" b="1">
                <a:solidFill>
                  <a:srgbClr val="8A590F"/>
                </a:solidFill>
                <a:latin typeface="Arial"/>
              </a:rPr>
              <a:t>P3-FINAL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12181F"/>
                </a:solidFill>
                <a:latin typeface="Arial"/>
              </a:rPr>
              <a:t>收敛与冻结</a:t>
            </a:r>
          </a:p>
          <a:p>
            <a:pPr algn="l">
              <a:spcBef>
                <a:spcPts val="800"/>
              </a:spcBef>
            </a:pPr>
            <a:r>
              <a:rPr sz="900" b="1">
                <a:solidFill>
                  <a:srgbClr val="4C5764"/>
                </a:solidFill>
                <a:latin typeface="Arial"/>
              </a:rPr>
              <a:t>交付清单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·  700-TAPEOUT golden（gds/netlist/lef/signoff）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·  manifest + 质量表 + FROZEN</a:t>
            </a:r>
          </a:p>
          <a:p>
            <a:pPr algn="l">
              <a:spcBef>
                <a:spcPts val="800"/>
              </a:spcBef>
            </a:pPr>
            <a:r>
              <a:rPr sz="900" i="1">
                <a:solidFill>
                  <a:srgbClr val="1E2A38"/>
                </a:solidFill>
                <a:latin typeface="Arial"/>
              </a:rPr>
              <a:t>退出门槛  golden 清单与 DQI 双签收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37676" y="2825496"/>
            <a:ext cx="2601468" cy="2606040"/>
          </a:xfrm>
          <a:prstGeom prst="rect">
            <a:avLst/>
          </a:prstGeom>
          <a:solidFill>
            <a:srgbClr val="F3F1EC"/>
          </a:solidFill>
          <a:ln w="9525">
            <a:solidFill>
              <a:srgbClr val="818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wrap="square"/>
          <a:lstStyle/>
          <a:p>
            <a:pPr algn="l"/>
            <a:r>
              <a:rPr sz="900" b="1">
                <a:solidFill>
                  <a:srgbClr val="8A590F"/>
                </a:solidFill>
                <a:latin typeface="Arial"/>
              </a:rPr>
              <a:t>P4-VALIDATION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12181F"/>
                </a:solidFill>
                <a:latin typeface="Arial"/>
              </a:rPr>
              <a:t>硅验证回灌</a:t>
            </a:r>
          </a:p>
          <a:p>
            <a:pPr algn="l">
              <a:spcBef>
                <a:spcPts val="800"/>
              </a:spcBef>
            </a:pPr>
            <a:r>
              <a:rPr sz="900" b="1">
                <a:solidFill>
                  <a:srgbClr val="4C5764"/>
                </a:solidFill>
                <a:latin typeface="Arial"/>
              </a:rPr>
              <a:t>交付清单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·  测试 / 封装数据（900-PACKAGE）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12181F"/>
                </a:solidFill>
                <a:latin typeface="Arial"/>
              </a:rPr>
              <a:t>·  问题只用新 Version 记录，不改 golden</a:t>
            </a:r>
          </a:p>
          <a:p>
            <a:pPr algn="l">
              <a:spcBef>
                <a:spcPts val="800"/>
              </a:spcBef>
            </a:pPr>
            <a:r>
              <a:rPr sz="900" i="1">
                <a:solidFill>
                  <a:srgbClr val="1E2A38"/>
                </a:solidFill>
                <a:latin typeface="Arial"/>
              </a:rPr>
              <a:t>退出门槛  回归结论写入 .dqi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760720"/>
            <a:ext cx="10972800" cy="2913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97A6"/>
                </a:solidFill>
                <a:latin typeface="Arial"/>
              </a:rPr>
              <a:t>落地手法：Phase / Stage 名称一律写进 etc/rule/DEFINE_* 并在 kickoff 会上确认；新增阶段线必须先过设计经理评审，避免目录自由生长。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995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MANAGE · 项目经理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621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4F7FA"/>
                </a:solidFill>
                <a:latin typeface="Arial"/>
              </a:rPr>
              <a:t>进度与交付的可见性，只要三条命令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58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· Design Version Control — 芯片设计数据管理与共享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74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92224"/>
            <a:ext cx="246888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DVC_LIST_STAGE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66544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E9A63C"/>
                </a:solidFill>
                <a:latin typeface="Arial"/>
              </a:rPr>
              <a:t>128</a:t>
            </a:r>
            <a:r>
              <a:rPr sz="1200">
                <a:solidFill>
                  <a:srgbClr val="C6D0DA"/>
                </a:solidFill>
                <a:latin typeface="Arial"/>
              </a:rPr>
              <a:t> 个版本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706624"/>
            <a:ext cx="2468880" cy="2830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6D0DA"/>
                </a:solidFill>
                <a:latin typeface="Arial"/>
              </a:rPr>
              <a:t>覆盖 4 阶段 · 4 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1792224"/>
            <a:ext cx="246888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DVC_LIST_VERSION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066544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E9A63C"/>
                </a:solidFill>
                <a:latin typeface="Arial"/>
              </a:rPr>
              <a:t>412</a:t>
            </a:r>
            <a:r>
              <a:rPr sz="1200">
                <a:solidFill>
                  <a:srgbClr val="C6D0DA"/>
                </a:solidFill>
                <a:latin typeface="Arial"/>
              </a:rPr>
              <a:t> 个容器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706624"/>
            <a:ext cx="2468880" cy="2830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6D0DA"/>
                </a:solidFill>
                <a:latin typeface="Arial"/>
              </a:rPr>
              <a:t>corner / step / testbench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4" y="1792224"/>
            <a:ext cx="246888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DVC_GET_DQI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4" y="2066544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E9A63C"/>
                </a:solidFill>
                <a:latin typeface="Arial"/>
              </a:rPr>
              <a:t>1.9k</a:t>
            </a:r>
            <a:r>
              <a:rPr sz="1200">
                <a:solidFill>
                  <a:srgbClr val="C6D0DA"/>
                </a:solidFill>
                <a:latin typeface="Arial"/>
              </a:rPr>
              <a:t> 条指标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4" y="2706624"/>
            <a:ext cx="2468880" cy="2830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6D0DA"/>
                </a:solidFill>
                <a:latin typeface="Arial"/>
              </a:rPr>
              <a:t>跨版本趋势可直接汇总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792224"/>
            <a:ext cx="320040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冻结 + 清单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66544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5FC8BC"/>
                </a:solidFill>
                <a:latin typeface="Arial"/>
              </a:rPr>
              <a:t>2</a:t>
            </a:r>
            <a:r>
              <a:rPr sz="1200">
                <a:solidFill>
                  <a:srgbClr val="C6D0DA"/>
                </a:solidFill>
                <a:latin typeface="Arial"/>
              </a:rPr>
              <a:t> 条命令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06624"/>
            <a:ext cx="3200400" cy="2830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6D0DA"/>
                </a:solidFill>
                <a:latin typeface="Arial"/>
              </a:rPr>
              <a:t>交付即审计，无需人工整理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602736"/>
            <a:ext cx="11055096" cy="18288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785616"/>
            <a:ext cx="5486400" cy="1591462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" y="3982212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3941064"/>
            <a:ext cx="493776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进度盘点：先看服务器，再决定拉不拉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279392"/>
            <a:ext cx="5084064" cy="936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dvc_list_project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N7A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--recursive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|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wc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-l</a:t>
            </a:r>
          </a:p>
          <a:p>
            <a:pPr>
              <a:spcAft>
                <a:spcPts val="260"/>
              </a:spcAft>
            </a:pPr>
            <a:r>
              <a:rPr sz="1200">
                <a:solidFill>
                  <a:srgbClr val="F4F7FA"/>
                </a:solidFill>
                <a:latin typeface="Consolas"/>
              </a:rPr>
              <a:t>1284</a:t>
            </a:r>
          </a:p>
          <a:p>
            <a:pPr>
              <a:spcAft>
                <a:spcPts val="26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dvc_list_stage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500-TIMING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-v</a:t>
            </a:r>
          </a:p>
          <a:p>
            <a:pPr>
              <a:spcAft>
                <a:spcPts val="26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dvc_list_container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785616"/>
            <a:ext cx="5349240" cy="1357274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10528" y="3982212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84264" y="3941064"/>
            <a:ext cx="480060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交付状态是全局变量，不是口头承诺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4279392"/>
            <a:ext cx="4946903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dvc_set_env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--server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NETLIST_STATE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FROZEN_2021_0818</a:t>
            </a:r>
          </a:p>
          <a:p>
            <a:pPr>
              <a:spcAft>
                <a:spcPts val="26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dvc_get_env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--server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NETLIST_STATE</a:t>
            </a:r>
          </a:p>
          <a:p>
            <a:pPr>
              <a:spcAft>
                <a:spcPts val="260"/>
              </a:spcAft>
            </a:pPr>
            <a:r>
              <a:rPr sz="1200">
                <a:solidFill>
                  <a:srgbClr val="F4F7FA"/>
                </a:solidFill>
                <a:latin typeface="Consolas"/>
              </a:rPr>
              <a:t>FROZEN_2021_0818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596534"/>
            <a:ext cx="11064240" cy="307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管理者每周只需三条命令：list_project --recursive、list_stage -v、get_dqi --all；指标缺失 = 该版本未签核，目录缺层 = 流程节点未开始。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995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SHARE · 本质澄清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621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4F7FA"/>
                </a:solidFill>
                <a:latin typeface="Arial"/>
              </a:rPr>
              <a:t>共享的是仓库，不是你的工作目录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9960559" cy="332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A97A6"/>
                </a:solidFill>
                <a:latin typeface="Arial"/>
              </a:rPr>
              <a:t>工作副本与 :链接是本机的；仓库里的版本与元数据才是团队共用的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9777679" cy="258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· Design Version Control — 芯片设计数据管理与共享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309360"/>
            <a:ext cx="1097280" cy="274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01952"/>
            <a:ext cx="562356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952244"/>
            <a:ext cx="19452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东西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3908" y="1952244"/>
            <a:ext cx="125838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存在哪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3458" y="1952244"/>
            <a:ext cx="181644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能不能给别人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212848"/>
            <a:ext cx="5623560" cy="47731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258568"/>
            <a:ext cx="1945228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工作副本 _ 与 :链接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3908" y="2258568"/>
            <a:ext cx="1258381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本机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3458" y="2258568"/>
            <a:ext cx="1816445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不能 —— 链接指向本机绝对路径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690164"/>
            <a:ext cx="5623560" cy="47731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735884"/>
            <a:ext cx="1945228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未 checkin 的产出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3908" y="2735884"/>
            <a:ext cx="1258381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本机 + 本地 svn 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3458" y="2735884"/>
            <a:ext cx="1816445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不能 —— 仓库里没有它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167481"/>
            <a:ext cx="5623560" cy="47731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213201"/>
            <a:ext cx="1945228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版本数据 + .dvc/.dqi/.htm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3908" y="3213201"/>
            <a:ext cx="1258381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SVN 仓库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3458" y="3213201"/>
            <a:ext cx="1816445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能，对方 checkout 即还原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644798"/>
            <a:ext cx="5623560" cy="47731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3690518"/>
            <a:ext cx="1945228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修订号 / 作者 / 提交日志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3908" y="3690518"/>
            <a:ext cx="1258381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SVN 仓库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3458" y="3690518"/>
            <a:ext cx="1816445" cy="385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能，天然可审计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122115"/>
            <a:ext cx="562356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122115"/>
            <a:ext cx="562356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347057"/>
            <a:ext cx="5623560" cy="1332128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8096" y="4543653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" y="4502505"/>
            <a:ext cx="507492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先浏览，再决定拉什么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4840833"/>
            <a:ext cx="5221224" cy="6774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dvc_list_project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N7A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7C8998"/>
                </a:solidFill>
                <a:latin typeface="Consolas"/>
              </a:rPr>
              <a:t># 问服务器，不占空间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dvc_list_stage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400-APR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-v</a:t>
            </a:r>
            <a:r>
              <a:rPr sz="1150">
                <a:solidFill>
                  <a:srgbClr val="C6D0DA"/>
                </a:solidFill>
                <a:latin typeface="Consolas"/>
              </a:rPr>
              <a:t>    </a:t>
            </a:r>
            <a:r>
              <a:rPr sz="1150">
                <a:solidFill>
                  <a:srgbClr val="7C8998"/>
                </a:solidFill>
                <a:latin typeface="Consolas"/>
              </a:rPr>
              <a:t># 带作者与修订号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svn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cat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^/.../cpu.v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&gt;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cpu.v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7C8998"/>
                </a:solidFill>
                <a:latin typeface="Consolas"/>
              </a:rPr>
              <a:t># 只要一个文件时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901952"/>
            <a:ext cx="5257800" cy="2487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300" b="1">
                <a:solidFill>
                  <a:srgbClr val="E9A63C"/>
                </a:solidFill>
                <a:latin typeface="Consolas"/>
              </a:rPr>
              <a:t>01  </a:t>
            </a:r>
            <a:r>
              <a:rPr sz="1300">
                <a:solidFill>
                  <a:srgbClr val="C6D0DA"/>
                </a:solidFill>
                <a:latin typeface="Arial"/>
              </a:rPr>
              <a:t>共享半径由 SVN 模式决定：file 模式要双方都能读写同一目录；svn 模式只需网络可达 + 账号。</a:t>
            </a:r>
          </a:p>
          <a:p>
            <a:pPr>
              <a:spcAft>
                <a:spcPts val="1300"/>
              </a:spcAft>
            </a:pPr>
            <a:r>
              <a:rPr sz="1300" b="1">
                <a:solidFill>
                  <a:srgbClr val="E9A63C"/>
                </a:solidFill>
                <a:latin typeface="Consolas"/>
              </a:rPr>
              <a:t>02  </a:t>
            </a:r>
            <a:r>
              <a:rPr sz="1300">
                <a:solidFill>
                  <a:srgbClr val="C6D0DA"/>
                </a:solidFill>
                <a:latin typeface="Arial"/>
              </a:rPr>
              <a:t>元数据 .dvc / .dqi 与数据一起入库，因此换人、换机器 checkout 后上下文自动还原。</a:t>
            </a:r>
          </a:p>
          <a:p>
            <a:pPr>
              <a:spcAft>
                <a:spcPts val="1300"/>
              </a:spcAft>
            </a:pPr>
            <a:r>
              <a:rPr sz="1300" b="1">
                <a:solidFill>
                  <a:srgbClr val="E9A63C"/>
                </a:solidFill>
                <a:latin typeface="Consolas"/>
              </a:rPr>
              <a:t>03  </a:t>
            </a:r>
            <a:r>
              <a:rPr sz="1300">
                <a:solidFill>
                  <a:srgbClr val="C6D0DA"/>
                </a:solidFill>
                <a:latin typeface="Arial"/>
              </a:rPr>
              <a:t>dvc_link_object 收录的是本机 realpath —— 本机高效，对外交付即失效。</a:t>
            </a:r>
          </a:p>
          <a:p>
            <a:pPr>
              <a:spcAft>
                <a:spcPts val="1300"/>
              </a:spcAft>
            </a:pPr>
            <a:r>
              <a:rPr sz="1300" b="1">
                <a:solidFill>
                  <a:srgbClr val="E9A63C"/>
                </a:solidFill>
                <a:latin typeface="Consolas"/>
              </a:rPr>
              <a:t>04  </a:t>
            </a:r>
            <a:r>
              <a:rPr sz="1300">
                <a:solidFill>
                  <a:srgbClr val="C6D0DA"/>
                </a:solidFill>
                <a:latin typeface="Arial"/>
              </a:rPr>
              <a:t>上下文是本地状态：对方接手要自己 set_project + checkout_folder 重建。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687568"/>
            <a:ext cx="41148" cy="32918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5705856"/>
            <a:ext cx="4160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判断   </a:t>
            </a:r>
            <a:r>
              <a:rPr sz="1350">
                <a:solidFill>
                  <a:srgbClr val="E9A63C"/>
                </a:solidFill>
                <a:latin typeface="Arial"/>
              </a:rPr>
              <a:t>先问两句：进仓库了吗？是实体还是链接？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995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SHARE · 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621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4F7FA"/>
                </a:solidFill>
                <a:latin typeface="Arial"/>
              </a:rPr>
              <a:t>分享给其他设计团队：三条通道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9960559" cy="332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A97A6"/>
                </a:solidFill>
                <a:latin typeface="Arial"/>
              </a:rPr>
              <a:t>同一仓库直连 · 交付快照 · 只读镜像 —— 先选通道，再谈命令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9777679" cy="258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· Design Version Control — 芯片设计数据管理与共享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309360"/>
            <a:ext cx="1097280" cy="274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14</a:t>
            </a:r>
          </a:p>
        </p:txBody>
      </p:sp>
      <p:pic>
        <p:nvPicPr>
          <p:cNvPr id="10" name="Picture 9" descr="share.jpg"/>
          <p:cNvPicPr>
            <a:picLocks noChangeAspect="1"/>
          </p:cNvPicPr>
          <p:nvPr/>
        </p:nvPicPr>
        <p:blipFill>
          <a:blip r:embed="rId2"/>
          <a:srcRect t="20592" b="20592"/>
          <a:stretch>
            <a:fillRect/>
          </a:stretch>
        </p:blipFill>
        <p:spPr>
          <a:xfrm>
            <a:off x="566928" y="1847088"/>
            <a:ext cx="4892040" cy="43159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66928" y="1847088"/>
            <a:ext cx="4892040" cy="4315968"/>
          </a:xfrm>
          <a:prstGeom prst="rect">
            <a:avLst/>
          </a:prstGeom>
          <a:noFill/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833872"/>
            <a:ext cx="4892040" cy="2830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C8998"/>
                </a:solidFill>
                <a:latin typeface="Arial"/>
              </a:rPr>
              <a:t>共享的前提：地址、账号与权限，始终由 CAD 统一掌舵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847088"/>
            <a:ext cx="5971032" cy="292608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9864" y="1897380"/>
            <a:ext cx="85039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1">
                <a:solidFill>
                  <a:srgbClr val="F4F7FA"/>
                </a:solidFill>
                <a:latin typeface="Arial"/>
              </a:rPr>
              <a:t>通道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1424" y="1897380"/>
            <a:ext cx="18105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1">
                <a:solidFill>
                  <a:srgbClr val="F4F7FA"/>
                </a:solidFill>
                <a:latin typeface="Arial"/>
              </a:rPr>
              <a:t>怎么做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3104" y="1897380"/>
            <a:ext cx="126187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1">
                <a:solidFill>
                  <a:srgbClr val="F4F7FA"/>
                </a:solidFill>
                <a:latin typeface="Arial"/>
              </a:rPr>
              <a:t>适合谁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96144" y="1897380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1">
                <a:solidFill>
                  <a:srgbClr val="F4F7FA"/>
                </a:solidFill>
                <a:latin typeface="Arial"/>
              </a:rPr>
              <a:t>要盯住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2139696"/>
            <a:ext cx="5971032" cy="93268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9864" y="2185415"/>
            <a:ext cx="850391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>
                <a:solidFill>
                  <a:srgbClr val="C6D0DA"/>
                </a:solidFill>
                <a:latin typeface="Arial"/>
              </a:rPr>
              <a:t>① 同仓直连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2185415"/>
            <a:ext cx="1810512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>
                <a:solidFill>
                  <a:srgbClr val="C6D0DA"/>
                </a:solidFill>
                <a:latin typeface="Arial"/>
              </a:rPr>
              <a:t>在同一个 SVN 仓库里按路径授权，对方直接 checkout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3104" y="2185415"/>
            <a:ext cx="1261871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>
                <a:solidFill>
                  <a:srgbClr val="C6D0DA"/>
                </a:solidFill>
                <a:latin typeface="Arial"/>
              </a:rPr>
              <a:t>公司内跨部门、长期协作伙伴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96144" y="2185415"/>
            <a:ext cx="12435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>
                <a:solidFill>
                  <a:srgbClr val="C6D0DA"/>
                </a:solidFill>
                <a:latin typeface="Arial"/>
              </a:rPr>
              <a:t>link 对象跨机失效；写权限要收窄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3072384"/>
            <a:ext cx="5971032" cy="93268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9864" y="3118103"/>
            <a:ext cx="850391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>
                <a:solidFill>
                  <a:srgbClr val="C6D0DA"/>
                </a:solidFill>
                <a:latin typeface="Arial"/>
              </a:rPr>
              <a:t>② 交付快照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3118103"/>
            <a:ext cx="1810512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>
                <a:solidFill>
                  <a:srgbClr val="C6D0DA"/>
                </a:solidFill>
                <a:latin typeface="Arial"/>
              </a:rPr>
              <a:t>建 golden 版本，全量 copy 后 checkin，另出清单与指标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3118103"/>
            <a:ext cx="1261871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>
                <a:solidFill>
                  <a:srgbClr val="C6D0DA"/>
                </a:solidFill>
                <a:latin typeface="Arial"/>
              </a:rPr>
              <a:t>封装 / 测试 / 软件 / 客户交付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96144" y="3118103"/>
            <a:ext cx="12435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>
                <a:solidFill>
                  <a:srgbClr val="C6D0DA"/>
                </a:solidFill>
                <a:latin typeface="Arial"/>
              </a:rPr>
              <a:t>绝不给 link；清单与 .dqi 要一起给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4005072"/>
            <a:ext cx="5971032" cy="93268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9864" y="4050791"/>
            <a:ext cx="850391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>
                <a:solidFill>
                  <a:srgbClr val="C6D0DA"/>
                </a:solidFill>
                <a:latin typeface="Arial"/>
              </a:rPr>
              <a:t>③ 只读镜像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4050791"/>
            <a:ext cx="1810512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>
                <a:solidFill>
                  <a:srgbClr val="C6D0DA"/>
                </a:solidFill>
                <a:latin typeface="Arial"/>
              </a:rPr>
              <a:t>svnadmin dump/load 或 svnsync 同步整个仓库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3104" y="4050791"/>
            <a:ext cx="1261871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>
                <a:solidFill>
                  <a:srgbClr val="C6D0DA"/>
                </a:solidFill>
                <a:latin typeface="Arial"/>
              </a:rPr>
              <a:t>跨网段、外部合作方、离线评审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96144" y="4050791"/>
            <a:ext cx="12435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>
                <a:solidFill>
                  <a:srgbClr val="C6D0DA"/>
                </a:solidFill>
                <a:latin typeface="Arial"/>
              </a:rPr>
              <a:t>dump 含全部历史，先做范围与保密评估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4937760"/>
            <a:ext cx="5971032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0" y="4937760"/>
            <a:ext cx="5971032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5107838"/>
            <a:ext cx="5971032" cy="2830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97A6"/>
                </a:solidFill>
                <a:latin typeface="Arial"/>
              </a:rPr>
              <a:t>三条通道共用同一套语义：元数据随数据入库，差别只在范围与权限。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995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SHARE · 实操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621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4F7FA"/>
                </a:solidFill>
                <a:latin typeface="Arial"/>
              </a:rPr>
              <a:t>两条命令链：管理员开放、对方接手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58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· Design Version Control — 芯片设计数据管理与共享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74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19072"/>
            <a:ext cx="5486400" cy="2913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C8998"/>
                </a:solidFill>
                <a:latin typeface="Consolas"/>
              </a:rPr>
              <a:t>① 管理员侧：开账号、按路径授权、重启服务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48256"/>
            <a:ext cx="5486400" cy="3072384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44852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03704"/>
            <a:ext cx="493776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conf/ 在项目仓库内（create_project 时拷入）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42032"/>
            <a:ext cx="5084064" cy="2417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000">
                <a:solidFill>
                  <a:srgbClr val="7C8998"/>
                </a:solidFill>
                <a:latin typeface="Consolas"/>
              </a:rPr>
              <a:t>%</a:t>
            </a:r>
            <a:r>
              <a:rPr sz="1000">
                <a:solidFill>
                  <a:srgbClr val="7C8998"/>
                </a:solidFill>
                <a:latin typeface="Consolas"/>
              </a:rPr>
              <a:t> </a:t>
            </a:r>
            <a:r>
              <a:rPr sz="1000">
                <a:solidFill>
                  <a:srgbClr val="F4F7FA"/>
                </a:solidFill>
                <a:latin typeface="Consolas"/>
              </a:rPr>
              <a:t>vi</a:t>
            </a:r>
            <a:r>
              <a:rPr sz="1000">
                <a:solidFill>
                  <a:srgbClr val="C6D0DA"/>
                </a:solidFill>
                <a:latin typeface="Consolas"/>
              </a:rPr>
              <a:t> </a:t>
            </a:r>
            <a:r>
              <a:rPr sz="1000">
                <a:solidFill>
                  <a:srgbClr val="F4F7FA"/>
                </a:solidFill>
                <a:latin typeface="Consolas"/>
              </a:rPr>
              <a:t>$SVN_ROOT/N7A/conf/passwd</a:t>
            </a:r>
          </a:p>
          <a:p>
            <a:pPr>
              <a:spcAft>
                <a:spcPts val="260"/>
              </a:spcAft>
            </a:pPr>
            <a:r>
              <a:rPr sz="1000">
                <a:solidFill>
                  <a:srgbClr val="C6D0DA"/>
                </a:solidFill>
                <a:latin typeface="Consolas"/>
              </a:rPr>
              <a:t>  </a:t>
            </a:r>
            <a:r>
              <a:rPr sz="1000">
                <a:solidFill>
                  <a:srgbClr val="F4F7FA"/>
                </a:solidFill>
                <a:latin typeface="Consolas"/>
              </a:rPr>
              <a:t>pkgteam</a:t>
            </a:r>
            <a:r>
              <a:rPr sz="1000">
                <a:solidFill>
                  <a:srgbClr val="C6D0DA"/>
                </a:solidFill>
                <a:latin typeface="Consolas"/>
              </a:rPr>
              <a:t> </a:t>
            </a:r>
            <a:r>
              <a:rPr sz="1000">
                <a:solidFill>
                  <a:srgbClr val="F4F7FA"/>
                </a:solidFill>
                <a:latin typeface="Consolas"/>
              </a:rPr>
              <a:t>=</a:t>
            </a:r>
            <a:r>
              <a:rPr sz="1000">
                <a:solidFill>
                  <a:srgbClr val="C6D0DA"/>
                </a:solidFill>
                <a:latin typeface="Consolas"/>
              </a:rPr>
              <a:t> </a:t>
            </a:r>
            <a:r>
              <a:rPr sz="1000">
                <a:solidFill>
                  <a:srgbClr val="F4F7FA"/>
                </a:solidFill>
                <a:latin typeface="Consolas"/>
              </a:rPr>
              <a:t>******</a:t>
            </a:r>
          </a:p>
          <a:p>
            <a:pPr>
              <a:spcAft>
                <a:spcPts val="260"/>
              </a:spcAft>
            </a:pPr>
            <a:r>
              <a:rPr sz="1000">
                <a:solidFill>
                  <a:srgbClr val="7C8998"/>
                </a:solidFill>
                <a:latin typeface="Consolas"/>
              </a:rPr>
              <a:t>%</a:t>
            </a:r>
            <a:r>
              <a:rPr sz="1000">
                <a:solidFill>
                  <a:srgbClr val="7C8998"/>
                </a:solidFill>
                <a:latin typeface="Consolas"/>
              </a:rPr>
              <a:t> </a:t>
            </a:r>
            <a:r>
              <a:rPr sz="1000">
                <a:solidFill>
                  <a:srgbClr val="F4F7FA"/>
                </a:solidFill>
                <a:latin typeface="Consolas"/>
              </a:rPr>
              <a:t>vi</a:t>
            </a:r>
            <a:r>
              <a:rPr sz="1000">
                <a:solidFill>
                  <a:srgbClr val="C6D0DA"/>
                </a:solidFill>
                <a:latin typeface="Consolas"/>
              </a:rPr>
              <a:t> </a:t>
            </a:r>
            <a:r>
              <a:rPr sz="1000">
                <a:solidFill>
                  <a:srgbClr val="F4F7FA"/>
                </a:solidFill>
                <a:latin typeface="Consolas"/>
              </a:rPr>
              <a:t>$SVN_ROOT/N7A/conf/authz</a:t>
            </a:r>
          </a:p>
          <a:p>
            <a:pPr>
              <a:spcAft>
                <a:spcPts val="260"/>
              </a:spcAft>
            </a:pPr>
            <a:r>
              <a:rPr sz="1000">
                <a:solidFill>
                  <a:srgbClr val="C6D0DA"/>
                </a:solidFill>
                <a:latin typeface="Consolas"/>
              </a:rPr>
              <a:t>  </a:t>
            </a:r>
            <a:r>
              <a:rPr sz="1000">
                <a:solidFill>
                  <a:srgbClr val="F4F7FA"/>
                </a:solidFill>
                <a:latin typeface="Consolas"/>
              </a:rPr>
              <a:t>[groups]</a:t>
            </a:r>
          </a:p>
          <a:p>
            <a:pPr>
              <a:spcAft>
                <a:spcPts val="260"/>
              </a:spcAft>
            </a:pPr>
            <a:r>
              <a:rPr sz="1000">
                <a:solidFill>
                  <a:srgbClr val="C6D0DA"/>
                </a:solidFill>
                <a:latin typeface="Consolas"/>
              </a:rPr>
              <a:t>  </a:t>
            </a:r>
            <a:r>
              <a:rPr sz="1000">
                <a:solidFill>
                  <a:srgbClr val="F4F7FA"/>
                </a:solidFill>
                <a:latin typeface="Consolas"/>
              </a:rPr>
              <a:t>pkgteam</a:t>
            </a:r>
            <a:r>
              <a:rPr sz="1000">
                <a:solidFill>
                  <a:srgbClr val="C6D0DA"/>
                </a:solidFill>
                <a:latin typeface="Consolas"/>
              </a:rPr>
              <a:t> </a:t>
            </a:r>
            <a:r>
              <a:rPr sz="1000">
                <a:solidFill>
                  <a:srgbClr val="F4F7FA"/>
                </a:solidFill>
                <a:latin typeface="Consolas"/>
              </a:rPr>
              <a:t>=</a:t>
            </a:r>
            <a:r>
              <a:rPr sz="1000">
                <a:solidFill>
                  <a:srgbClr val="C6D0DA"/>
                </a:solidFill>
                <a:latin typeface="Consolas"/>
              </a:rPr>
              <a:t> </a:t>
            </a:r>
            <a:r>
              <a:rPr sz="1000">
                <a:solidFill>
                  <a:srgbClr val="F4F7FA"/>
                </a:solidFill>
                <a:latin typeface="Consolas"/>
              </a:rPr>
              <a:t>li.n,</a:t>
            </a:r>
            <a:r>
              <a:rPr sz="1000">
                <a:solidFill>
                  <a:srgbClr val="C6D0DA"/>
                </a:solidFill>
                <a:latin typeface="Consolas"/>
              </a:rPr>
              <a:t> </a:t>
            </a:r>
            <a:r>
              <a:rPr sz="1000">
                <a:solidFill>
                  <a:srgbClr val="F4F7FA"/>
                </a:solidFill>
                <a:latin typeface="Consolas"/>
              </a:rPr>
              <a:t>wang.m</a:t>
            </a:r>
          </a:p>
          <a:p>
            <a:pPr>
              <a:spcAft>
                <a:spcPts val="260"/>
              </a:spcAft>
            </a:pPr>
            <a:r>
              <a:rPr sz="1000">
                <a:solidFill>
                  <a:srgbClr val="C6D0DA"/>
                </a:solidFill>
                <a:latin typeface="Consolas"/>
              </a:rPr>
              <a:t>  </a:t>
            </a:r>
            <a:r>
              <a:rPr sz="1000">
                <a:solidFill>
                  <a:srgbClr val="F4F7FA"/>
                </a:solidFill>
                <a:latin typeface="Consolas"/>
              </a:rPr>
              <a:t>[/]</a:t>
            </a:r>
          </a:p>
          <a:p>
            <a:pPr>
              <a:spcAft>
                <a:spcPts val="260"/>
              </a:spcAft>
            </a:pPr>
            <a:r>
              <a:rPr sz="1000">
                <a:solidFill>
                  <a:srgbClr val="C6D0DA"/>
                </a:solidFill>
                <a:latin typeface="Consolas"/>
              </a:rPr>
              <a:t>  </a:t>
            </a:r>
            <a:r>
              <a:rPr sz="1000">
                <a:solidFill>
                  <a:srgbClr val="F4F7FA"/>
                </a:solidFill>
                <a:latin typeface="Consolas"/>
              </a:rPr>
              <a:t>*</a:t>
            </a:r>
            <a:r>
              <a:rPr sz="1000">
                <a:solidFill>
                  <a:srgbClr val="C6D0DA"/>
                </a:solidFill>
                <a:latin typeface="Consolas"/>
              </a:rPr>
              <a:t> </a:t>
            </a:r>
            <a:r>
              <a:rPr sz="1000">
                <a:solidFill>
                  <a:srgbClr val="F4F7FA"/>
                </a:solidFill>
                <a:latin typeface="Consolas"/>
              </a:rPr>
              <a:t>=</a:t>
            </a:r>
            <a:r>
              <a:rPr sz="1000">
                <a:solidFill>
                  <a:srgbClr val="C6D0DA"/>
                </a:solidFill>
                <a:latin typeface="Consolas"/>
              </a:rPr>
              <a:t>                       </a:t>
            </a:r>
            <a:r>
              <a:rPr sz="1000">
                <a:solidFill>
                  <a:srgbClr val="7C8998"/>
                </a:solidFill>
                <a:latin typeface="Consolas"/>
              </a:rPr>
              <a:t># 默认拒绝，逐路径放开</a:t>
            </a:r>
          </a:p>
          <a:p>
            <a:pPr>
              <a:spcAft>
                <a:spcPts val="260"/>
              </a:spcAft>
            </a:pPr>
            <a:r>
              <a:rPr sz="1000">
                <a:solidFill>
                  <a:srgbClr val="C6D0DA"/>
                </a:solidFill>
                <a:latin typeface="Consolas"/>
              </a:rPr>
              <a:t>  </a:t>
            </a:r>
            <a:r>
              <a:rPr sz="1000">
                <a:solidFill>
                  <a:srgbClr val="F4F7FA"/>
                </a:solidFill>
                <a:latin typeface="Consolas"/>
              </a:rPr>
              <a:t>[/P3-final/chip/700-TAPEOUT]</a:t>
            </a:r>
          </a:p>
          <a:p>
            <a:pPr>
              <a:spcAft>
                <a:spcPts val="260"/>
              </a:spcAft>
            </a:pPr>
            <a:r>
              <a:rPr sz="1000">
                <a:solidFill>
                  <a:srgbClr val="C6D0DA"/>
                </a:solidFill>
                <a:latin typeface="Consolas"/>
              </a:rPr>
              <a:t>  </a:t>
            </a:r>
            <a:r>
              <a:rPr sz="1000">
                <a:solidFill>
                  <a:srgbClr val="F4F7FA"/>
                </a:solidFill>
                <a:latin typeface="Consolas"/>
              </a:rPr>
              <a:t>@pkgteam</a:t>
            </a:r>
            <a:r>
              <a:rPr sz="1000">
                <a:solidFill>
                  <a:srgbClr val="C6D0DA"/>
                </a:solidFill>
                <a:latin typeface="Consolas"/>
              </a:rPr>
              <a:t> </a:t>
            </a:r>
            <a:r>
              <a:rPr sz="1000">
                <a:solidFill>
                  <a:srgbClr val="F4F7FA"/>
                </a:solidFill>
                <a:latin typeface="Consolas"/>
              </a:rPr>
              <a:t>=</a:t>
            </a:r>
            <a:r>
              <a:rPr sz="1000">
                <a:solidFill>
                  <a:srgbClr val="C6D0DA"/>
                </a:solidFill>
                <a:latin typeface="Consolas"/>
              </a:rPr>
              <a:t> </a:t>
            </a:r>
            <a:r>
              <a:rPr sz="1000">
                <a:solidFill>
                  <a:srgbClr val="F4F7FA"/>
                </a:solidFill>
                <a:latin typeface="Consolas"/>
              </a:rPr>
              <a:t>r</a:t>
            </a:r>
            <a:r>
              <a:rPr sz="1000">
                <a:solidFill>
                  <a:srgbClr val="C6D0DA"/>
                </a:solidFill>
                <a:latin typeface="Consolas"/>
              </a:rPr>
              <a:t>              </a:t>
            </a:r>
            <a:r>
              <a:rPr sz="1000">
                <a:solidFill>
                  <a:srgbClr val="7C8998"/>
                </a:solidFill>
                <a:latin typeface="Consolas"/>
              </a:rPr>
              <a:t># 只读交付路径</a:t>
            </a:r>
          </a:p>
          <a:p>
            <a:pPr>
              <a:spcAft>
                <a:spcPts val="260"/>
              </a:spcAft>
            </a:pPr>
            <a:r>
              <a:rPr sz="1000">
                <a:solidFill>
                  <a:srgbClr val="C6D0DA"/>
                </a:solidFill>
                <a:latin typeface="Consolas"/>
              </a:rPr>
              <a:t>  </a:t>
            </a:r>
            <a:r>
              <a:rPr sz="1000">
                <a:solidFill>
                  <a:srgbClr val="F4F7FA"/>
                </a:solidFill>
                <a:latin typeface="Consolas"/>
              </a:rPr>
              <a:t>[/P4-validation/pkg]</a:t>
            </a:r>
          </a:p>
          <a:p>
            <a:pPr>
              <a:spcAft>
                <a:spcPts val="260"/>
              </a:spcAft>
            </a:pPr>
            <a:r>
              <a:rPr sz="1000">
                <a:solidFill>
                  <a:srgbClr val="C6D0DA"/>
                </a:solidFill>
                <a:latin typeface="Consolas"/>
              </a:rPr>
              <a:t>  </a:t>
            </a:r>
            <a:r>
              <a:rPr sz="1000">
                <a:solidFill>
                  <a:srgbClr val="F4F7FA"/>
                </a:solidFill>
                <a:latin typeface="Consolas"/>
              </a:rPr>
              <a:t>@pkgteam</a:t>
            </a:r>
            <a:r>
              <a:rPr sz="1000">
                <a:solidFill>
                  <a:srgbClr val="C6D0DA"/>
                </a:solidFill>
                <a:latin typeface="Consolas"/>
              </a:rPr>
              <a:t> </a:t>
            </a:r>
            <a:r>
              <a:rPr sz="1000">
                <a:solidFill>
                  <a:srgbClr val="F4F7FA"/>
                </a:solidFill>
                <a:latin typeface="Consolas"/>
              </a:rPr>
              <a:t>=</a:t>
            </a:r>
            <a:r>
              <a:rPr sz="1000">
                <a:solidFill>
                  <a:srgbClr val="C6D0DA"/>
                </a:solidFill>
                <a:latin typeface="Consolas"/>
              </a:rPr>
              <a:t> </a:t>
            </a:r>
            <a:r>
              <a:rPr sz="1000">
                <a:solidFill>
                  <a:srgbClr val="F4F7FA"/>
                </a:solidFill>
                <a:latin typeface="Consolas"/>
              </a:rPr>
              <a:t>rw</a:t>
            </a:r>
            <a:r>
              <a:rPr sz="1000">
                <a:solidFill>
                  <a:srgbClr val="C6D0DA"/>
                </a:solidFill>
                <a:latin typeface="Consolas"/>
              </a:rPr>
              <a:t>             </a:t>
            </a:r>
            <a:r>
              <a:rPr sz="1000">
                <a:solidFill>
                  <a:srgbClr val="7C8998"/>
                </a:solidFill>
                <a:latin typeface="Consolas"/>
              </a:rPr>
              <a:t># 对方回灌数据的路径</a:t>
            </a:r>
          </a:p>
          <a:p>
            <a:pPr>
              <a:spcAft>
                <a:spcPts val="260"/>
              </a:spcAft>
            </a:pPr>
            <a:r>
              <a:rPr sz="1000">
                <a:solidFill>
                  <a:srgbClr val="7C8998"/>
                </a:solidFill>
                <a:latin typeface="Consolas"/>
              </a:rPr>
              <a:t>%</a:t>
            </a:r>
            <a:r>
              <a:rPr sz="1000">
                <a:solidFill>
                  <a:srgbClr val="7C8998"/>
                </a:solidFill>
                <a:latin typeface="Consolas"/>
              </a:rPr>
              <a:t> </a:t>
            </a:r>
            <a:r>
              <a:rPr sz="1000">
                <a:solidFill>
                  <a:srgbClr val="5FC8BC"/>
                </a:solidFill>
                <a:latin typeface="Consolas"/>
              </a:rPr>
              <a:t>dvc_init_server</a:t>
            </a:r>
            <a:r>
              <a:rPr sz="1000">
                <a:solidFill>
                  <a:srgbClr val="C6D0DA"/>
                </a:solidFill>
                <a:latin typeface="Consolas"/>
              </a:rPr>
              <a:t> </a:t>
            </a:r>
            <a:r>
              <a:rPr sz="1000">
                <a:solidFill>
                  <a:srgbClr val="F4F7FA"/>
                </a:solidFill>
                <a:latin typeface="Consolas"/>
              </a:rPr>
              <a:t>restart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719072"/>
            <a:ext cx="5349240" cy="2913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C8998"/>
                </a:solidFill>
                <a:latin typeface="Consolas"/>
              </a:rPr>
              <a:t>② 对方团队侧：指到同一地址，先浏览再按需检出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048256"/>
            <a:ext cx="5349240" cy="3072384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0528" y="2244852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4264" y="2203704"/>
            <a:ext cx="480060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svn 模式下地址由 MODE / HOST / PORT 决定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542032"/>
            <a:ext cx="4946903" cy="2417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dvc_get_system</a:t>
            </a:r>
            <a:r>
              <a:rPr sz="1100">
                <a:solidFill>
                  <a:srgbClr val="C6D0DA"/>
                </a:solidFill>
                <a:latin typeface="Consolas"/>
              </a:rPr>
              <a:t>                  </a:t>
            </a:r>
            <a:r>
              <a:rPr sz="1100">
                <a:solidFill>
                  <a:srgbClr val="7C8998"/>
                </a:solidFill>
                <a:latin typeface="Consolas"/>
              </a:rPr>
              <a:t># 版本要一致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INFO: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DVC_VERSON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=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2020_1115a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dvc_set_env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SVN_MODE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svn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dvc_set_env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SVN_HOST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cad01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dvc_set_env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SVN_PORT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13301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dvc_get_server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--info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INFO: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SVN_URL</a:t>
            </a:r>
            <a:r>
              <a:rPr sz="1100">
                <a:solidFill>
                  <a:srgbClr val="C6D0DA"/>
                </a:solidFill>
                <a:latin typeface="Consolas"/>
              </a:rPr>
              <a:t>  </a:t>
            </a:r>
            <a:r>
              <a:rPr sz="1100">
                <a:solidFill>
                  <a:srgbClr val="F4F7FA"/>
                </a:solidFill>
                <a:latin typeface="Consolas"/>
              </a:rPr>
              <a:t>=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svn://cad01:13301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dvc_list_project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N7A</a:t>
            </a:r>
            <a:r>
              <a:rPr sz="1100">
                <a:solidFill>
                  <a:srgbClr val="C6D0DA"/>
                </a:solidFill>
                <a:latin typeface="Consolas"/>
              </a:rPr>
              <a:t>            </a:t>
            </a:r>
            <a:r>
              <a:rPr sz="1100">
                <a:solidFill>
                  <a:srgbClr val="7C8998"/>
                </a:solidFill>
                <a:latin typeface="Consolas"/>
              </a:rPr>
              <a:t># 先看不下载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dvc_checkout_project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N7A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D8A65E"/>
                </a:solidFill>
                <a:latin typeface="Consolas"/>
              </a:rPr>
              <a:t>_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dvc_checkout_folder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\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C6D0DA"/>
                </a:solidFill>
                <a:latin typeface="Consolas"/>
              </a:rPr>
              <a:t>   </a:t>
            </a:r>
            <a:r>
              <a:rPr sz="1100">
                <a:solidFill>
                  <a:srgbClr val="F4F7FA"/>
                </a:solidFill>
                <a:latin typeface="Consolas"/>
              </a:rPr>
              <a:t>P3-final/chip/700-TAPEOUT/2021_0818-golden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321808"/>
            <a:ext cx="5486400" cy="709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file 模式：双方必须能读写同一个共享目录，且 chmod g+rwx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svn 模式：只需网络可达 + 账号；SVN_ROOT 只用于服务器侧建仓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5321808"/>
            <a:ext cx="5349240" cy="1022502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5522976"/>
            <a:ext cx="4946903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900">
                <a:solidFill>
                  <a:srgbClr val="7C8998"/>
                </a:solidFill>
                <a:latin typeface="Consolas"/>
              </a:rPr>
              <a:t># 只取一个容器，不要全量拉项目</a:t>
            </a:r>
          </a:p>
          <a:p>
            <a:pPr>
              <a:spcAft>
                <a:spcPts val="260"/>
              </a:spcAft>
            </a:pPr>
            <a:r>
              <a:rPr sz="900">
                <a:solidFill>
                  <a:srgbClr val="7C8998"/>
                </a:solidFill>
                <a:latin typeface="Consolas"/>
              </a:rPr>
              <a:t>%</a:t>
            </a:r>
            <a:r>
              <a:rPr sz="900">
                <a:solidFill>
                  <a:srgbClr val="7C8998"/>
                </a:solidFill>
                <a:latin typeface="Consolas"/>
              </a:rPr>
              <a:t> </a:t>
            </a:r>
            <a:r>
              <a:rPr sz="900">
                <a:solidFill>
                  <a:srgbClr val="5FC8BC"/>
                </a:solidFill>
                <a:latin typeface="Consolas"/>
              </a:rPr>
              <a:t>dvc_checkout_container</a:t>
            </a:r>
            <a:r>
              <a:rPr sz="900">
                <a:solidFill>
                  <a:srgbClr val="C6D0DA"/>
                </a:solidFill>
                <a:latin typeface="Consolas"/>
              </a:rPr>
              <a:t> </a:t>
            </a:r>
            <a:r>
              <a:rPr sz="900">
                <a:solidFill>
                  <a:srgbClr val="F4F7FA"/>
                </a:solidFill>
                <a:latin typeface="Consolas"/>
              </a:rPr>
              <a:t>gds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995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SHARE · 交付包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621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4F7FA"/>
                </a:solidFill>
                <a:latin typeface="Arial"/>
              </a:rPr>
              <a:t>把 golden 版本做成能交接的三件套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9960559" cy="332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A97A6"/>
                </a:solidFill>
                <a:latin typeface="Arial"/>
              </a:rPr>
              <a:t>实体数据 + 交付清单 + 质量快照，再加一个全局冻结标记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9777679" cy="258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· Design Version Control — 芯片设计数据管理与共享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309360"/>
            <a:ext cx="1097280" cy="274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01952"/>
            <a:ext cx="5852160" cy="3046374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0985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057400"/>
            <a:ext cx="530352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golden 版本的成型过程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395728"/>
            <a:ext cx="5449824" cy="2391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# 1 实体交付：分区容器，全部 copy，一条 link 都不留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dvc_create_folder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P3-final/chip/700-TAPEOUT/2021_0818-golden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dvc_checkout_folder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dvc_create_container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gds</a:t>
            </a:r>
            <a:r>
              <a:rPr sz="1100">
                <a:solidFill>
                  <a:srgbClr val="C6D0DA"/>
                </a:solidFill>
                <a:latin typeface="Consolas"/>
              </a:rPr>
              <a:t>     </a:t>
            </a:r>
            <a:r>
              <a:rPr sz="1100">
                <a:solidFill>
                  <a:srgbClr val="F4F7FA"/>
                </a:solidFill>
                <a:latin typeface="Consolas"/>
              </a:rPr>
              <a:t>&amp;&amp;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dvc_checkout_container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gds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C6D0DA"/>
                </a:solidFill>
                <a:latin typeface="Consolas"/>
              </a:rPr>
              <a:t>  </a:t>
            </a:r>
            <a:r>
              <a:rPr sz="11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$IMP/chip.gds.gz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chip.gds.gz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dvc_create_container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netlist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&amp;&amp;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dvc_checkout_container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netlist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C6D0DA"/>
                </a:solidFill>
                <a:latin typeface="Consolas"/>
              </a:rPr>
              <a:t>  </a:t>
            </a:r>
            <a:r>
              <a:rPr sz="11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$IMP/chip.v</a:t>
            </a:r>
            <a:r>
              <a:rPr sz="1100">
                <a:solidFill>
                  <a:srgbClr val="C6D0DA"/>
                </a:solidFill>
                <a:latin typeface="Consolas"/>
              </a:rPr>
              <a:t>      </a:t>
            </a:r>
            <a:r>
              <a:rPr sz="1100">
                <a:solidFill>
                  <a:srgbClr val="F4F7FA"/>
                </a:solidFill>
                <a:latin typeface="Consolas"/>
              </a:rPr>
              <a:t>chip.v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C6D0DA"/>
                </a:solidFill>
                <a:latin typeface="Consolas"/>
              </a:rPr>
              <a:t>  </a:t>
            </a:r>
            <a:r>
              <a:rPr sz="11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$DFT/chip_scan.v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chip_scan.v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dvc_create_container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signoff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&amp;&amp;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dvc_checkout_container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signoff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C6D0DA"/>
                </a:solidFill>
                <a:latin typeface="Consolas"/>
              </a:rPr>
              <a:t>  </a:t>
            </a:r>
            <a:r>
              <a:rPr sz="11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$STA/final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report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dvc_checkin_version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828032"/>
            <a:ext cx="5852160" cy="1306982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" y="502462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983480"/>
            <a:ext cx="530352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2 清单 · 3 质量快照 · 4 状态冻结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321808"/>
            <a:ext cx="5449824" cy="652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dvc_list_project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N7A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--recursive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&gt;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tapeout_manifest.txt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dvc_get_dqi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--root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:version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--all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--html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&gt;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signoff.html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dvc_set_env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5FC8BC"/>
                </a:solidFill>
                <a:latin typeface="Consolas"/>
              </a:rPr>
              <a:t>--server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NETLIST_STATE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FROZEN_2021_0818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1901952"/>
            <a:ext cx="5056632" cy="1494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25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50">
                <a:solidFill>
                  <a:srgbClr val="C6D0DA"/>
                </a:solidFill>
                <a:latin typeface="Arial"/>
              </a:rPr>
              <a:t>清单：服务器端路径列表，接收方能逐条核对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50">
                <a:solidFill>
                  <a:srgbClr val="C6D0DA"/>
                </a:solidFill>
                <a:latin typeface="Arial"/>
              </a:rPr>
              <a:t>质量快照：.dqi 导出，取代口头“已经签核过了”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50">
                <a:solidFill>
                  <a:srgbClr val="C6D0DA"/>
                </a:solidFill>
                <a:latin typeface="Arial"/>
              </a:rPr>
              <a:t>冻结标记：全局变量，谁都能 get_env 看到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50">
                <a:solidFill>
                  <a:srgbClr val="C6D0DA"/>
                </a:solidFill>
                <a:latin typeface="Arial"/>
              </a:rPr>
              <a:t>golden 只读不改：改动一律走新 Version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1968" y="3542284"/>
            <a:ext cx="5056632" cy="1741830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03136" y="3738880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3697732"/>
            <a:ext cx="4507992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5 顺手把这条路径设成对方只读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4036060"/>
            <a:ext cx="4654296" cy="1087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100">
                <a:solidFill>
                  <a:srgbClr val="7C8998"/>
                </a:solidFill>
                <a:latin typeface="Consolas"/>
              </a:rPr>
              <a:t>%</a:t>
            </a:r>
            <a:r>
              <a:rPr sz="1100">
                <a:solidFill>
                  <a:srgbClr val="7C8998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vi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$SVN_ROOT/N7A/conf/authz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C6D0DA"/>
                </a:solidFill>
                <a:latin typeface="Consolas"/>
              </a:rPr>
              <a:t>  </a:t>
            </a:r>
            <a:r>
              <a:rPr sz="1100">
                <a:solidFill>
                  <a:srgbClr val="F4F7FA"/>
                </a:solidFill>
                <a:latin typeface="Consolas"/>
              </a:rPr>
              <a:t>[/P3-final/chip/700-TAPEOUT]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C6D0DA"/>
                </a:solidFill>
                <a:latin typeface="Consolas"/>
              </a:rPr>
              <a:t>  </a:t>
            </a:r>
            <a:r>
              <a:rPr sz="1100">
                <a:solidFill>
                  <a:srgbClr val="F4F7FA"/>
                </a:solidFill>
                <a:latin typeface="Consolas"/>
              </a:rPr>
              <a:t>@pkgteam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=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r</a:t>
            </a:r>
            <a:r>
              <a:rPr sz="1100">
                <a:solidFill>
                  <a:srgbClr val="C6D0DA"/>
                </a:solidFill>
                <a:latin typeface="Consolas"/>
              </a:rPr>
              <a:t>        </a:t>
            </a:r>
            <a:r>
              <a:rPr sz="1100">
                <a:solidFill>
                  <a:srgbClr val="7C8998"/>
                </a:solidFill>
                <a:latin typeface="Consolas"/>
              </a:rPr>
              <a:t># 交付路径给只读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C6D0DA"/>
                </a:solidFill>
                <a:latin typeface="Consolas"/>
              </a:rPr>
              <a:t>  </a:t>
            </a:r>
            <a:r>
              <a:rPr sz="1100">
                <a:solidFill>
                  <a:srgbClr val="F4F7FA"/>
                </a:solidFill>
                <a:latin typeface="Consolas"/>
              </a:rPr>
              <a:t>[/P4-validation/pkg]</a:t>
            </a:r>
          </a:p>
          <a:p>
            <a:pPr>
              <a:spcAft>
                <a:spcPts val="260"/>
              </a:spcAft>
            </a:pPr>
            <a:r>
              <a:rPr sz="1100">
                <a:solidFill>
                  <a:srgbClr val="C6D0DA"/>
                </a:solidFill>
                <a:latin typeface="Consolas"/>
              </a:rPr>
              <a:t>  </a:t>
            </a:r>
            <a:r>
              <a:rPr sz="1100">
                <a:solidFill>
                  <a:srgbClr val="F4F7FA"/>
                </a:solidFill>
                <a:latin typeface="Consolas"/>
              </a:rPr>
              <a:t>@pkgteam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=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rw</a:t>
            </a:r>
            <a:r>
              <a:rPr sz="1100">
                <a:solidFill>
                  <a:srgbClr val="C6D0DA"/>
                </a:solidFill>
                <a:latin typeface="Consolas"/>
              </a:rPr>
              <a:t>       </a:t>
            </a:r>
            <a:r>
              <a:rPr sz="1100">
                <a:solidFill>
                  <a:srgbClr val="7C8998"/>
                </a:solidFill>
                <a:latin typeface="Consolas"/>
              </a:rPr>
              <a:t># 对方回灌数据的路径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01968" y="5412130"/>
            <a:ext cx="5056632" cy="18288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5521858"/>
            <a:ext cx="4663440" cy="2830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交付通知里只要三行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5777890"/>
            <a:ext cx="5056632" cy="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C6D0DA"/>
                </a:solidFill>
                <a:latin typeface="Consolas"/>
              </a:rPr>
              <a:t>DVC_PATH = P3-final/chip/700-TAPEOUT/2021_0818-golden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C6D0DA"/>
                </a:solidFill>
                <a:latin typeface="Consolas"/>
              </a:rPr>
              <a:t>gds 容器 · 校验值见 manifest · 状态 FROZEN_2021_0818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995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GUARD · 红线与追溯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621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4F7FA"/>
                </a:solidFill>
                <a:latin typeface="Arial"/>
              </a:rPr>
              <a:t>五条会坑到对方的做法，和一套审计动作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9960559" cy="332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A97A6"/>
                </a:solidFill>
                <a:latin typeface="Arial"/>
              </a:rPr>
              <a:t>协作事故几乎都出在“本地看起来没问题”的动作上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9777679" cy="258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· Design Version Control — 芯片设计数据管理与共享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309360"/>
            <a:ext cx="1097280" cy="274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537960" cy="329184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915668"/>
            <a:ext cx="168871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红线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7391" y="1915668"/>
            <a:ext cx="2403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后果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2359" y="1915668"/>
            <a:ext cx="18419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正确做法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194560"/>
            <a:ext cx="6537960" cy="65836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240279"/>
            <a:ext cx="168871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dvc_link_object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7391" y="2240279"/>
            <a:ext cx="2403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对方 checkout 后链接指向空路径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2359" y="2240279"/>
            <a:ext cx="18419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跨团队交付一律 copy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6537960" cy="65836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898648"/>
            <a:ext cx="168871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打包 _ / :version 目录发给对方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57391" y="2898648"/>
            <a:ext cx="2403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历史丢失、链接断裂、上下文错乱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2359" y="2898648"/>
            <a:ext cx="18419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让对方 checkout，用同一套语义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511296"/>
            <a:ext cx="6537960" cy="65836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557015"/>
            <a:ext cx="168871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dvc_remove_project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57391" y="3557015"/>
            <a:ext cx="2403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整个仓库连 SVN 历史一起物理删除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2359" y="3557015"/>
            <a:ext cx="18419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先 svnadmin dump 再操作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169664"/>
            <a:ext cx="6537960" cy="65836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4215384"/>
            <a:ext cx="168871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匿名可写（模板默认）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57391" y="4215384"/>
            <a:ext cx="2403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任何人都能改能删，出事查不到人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2359" y="4215384"/>
            <a:ext cx="18419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anon-access=none + authz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828031"/>
            <a:ext cx="6537960" cy="65836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4873751"/>
            <a:ext cx="168871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临时文件一起 checkin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57391" y="4873751"/>
            <a:ext cx="2403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对方拉到几百 MB 垃圾、检出变慢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2359" y="4873751"/>
            <a:ext cx="18419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提交前 delete 或 svn:ignore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486400"/>
            <a:ext cx="653796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486400"/>
            <a:ext cx="653796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5541264"/>
            <a:ext cx="41148" cy="32918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5559552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判断   </a:t>
            </a:r>
            <a:r>
              <a:rPr sz="1350">
                <a:solidFill>
                  <a:srgbClr val="E9A63C"/>
                </a:solidFill>
                <a:latin typeface="Arial"/>
              </a:rPr>
              <a:t>共享的安全度，取决于你提交前的那三秒钟自查。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1865376"/>
            <a:ext cx="4297680" cy="2913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C8998"/>
                </a:solidFill>
                <a:latin typeface="Consolas"/>
              </a:rPr>
              <a:t>交付后：清单、冻结、追溯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60920" y="2194560"/>
            <a:ext cx="4297680" cy="3200400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62088" y="239115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35824" y="2350008"/>
            <a:ext cx="374904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交付即审计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2088" y="2688336"/>
            <a:ext cx="3895344" cy="2545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dvc_list_project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N7A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--recursive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\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</a:t>
            </a:r>
            <a:r>
              <a:rPr sz="1150">
                <a:solidFill>
                  <a:srgbClr val="F4F7FA"/>
                </a:solidFill>
                <a:latin typeface="Consolas"/>
              </a:rPr>
              <a:t>&gt;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tapeout_manifest.txt</a:t>
            </a:r>
          </a:p>
          <a:p>
            <a:pPr>
              <a:spcAft>
                <a:spcPts val="26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dvc_set_env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--server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NETLIST_STATE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\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   </a:t>
            </a:r>
            <a:r>
              <a:rPr sz="1150">
                <a:solidFill>
                  <a:srgbClr val="F4F7FA"/>
                </a:solidFill>
                <a:latin typeface="Consolas"/>
              </a:rPr>
              <a:t>FROZEN_2021_0818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dvc_checkin_project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_</a:t>
            </a:r>
          </a:p>
          <a:p>
            <a:pPr>
              <a:spcAft>
                <a:spcPts val="26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svn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log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-v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^/P3-final/chip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svn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cat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^/.../golden/gds/chip.gds.gz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\</a:t>
            </a:r>
          </a:p>
          <a:p>
            <a:pPr>
              <a:spcAft>
                <a:spcPts val="26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 </a:t>
            </a:r>
            <a:r>
              <a:rPr sz="1150">
                <a:solidFill>
                  <a:srgbClr val="F4F7FA"/>
                </a:solidFill>
                <a:latin typeface="Consolas"/>
              </a:rPr>
              <a:t>&gt;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/tmp/verify.gz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5468112"/>
            <a:ext cx="4297680" cy="709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golden 版本只增不改，改动一律走新 Version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对方回报问题时，先要 DVC_PATH + 修订号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995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CLOSING · 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621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4F7FA"/>
                </a:solidFill>
                <a:latin typeface="Arial"/>
              </a:rPr>
              <a:t>明天就能开始的十件事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58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· Design Version Control — 芯片设计数据管理与共享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74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5394960" cy="21258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50" b="1">
                <a:solidFill>
                  <a:srgbClr val="E9A63C"/>
                </a:solidFill>
                <a:latin typeface="Consolas"/>
              </a:rPr>
              <a:t>01  </a:t>
            </a:r>
            <a:r>
              <a:rPr sz="1250">
                <a:solidFill>
                  <a:srgbClr val="C6D0DA"/>
                </a:solidFill>
                <a:latin typeface="Arial"/>
              </a:rPr>
              <a:t>四个 Block / 八个 Stage 的名字开一次会定死，写进 etc/rule/DEFINE_*。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E9A63C"/>
                </a:solidFill>
                <a:latin typeface="Consolas"/>
              </a:rPr>
              <a:t>02  </a:t>
            </a:r>
            <a:r>
              <a:rPr sz="1250">
                <a:solidFill>
                  <a:srgbClr val="C6D0DA"/>
                </a:solidFill>
                <a:latin typeface="Arial"/>
              </a:rPr>
              <a:t>新建项目当天收紧 svnserve.conf 与 authz，不留匿名可写。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E9A63C"/>
                </a:solidFill>
                <a:latin typeface="Consolas"/>
              </a:rPr>
              <a:t>03  </a:t>
            </a:r>
            <a:r>
              <a:rPr sz="1250">
                <a:solidFill>
                  <a:srgbClr val="C6D0DA"/>
                </a:solidFill>
                <a:latin typeface="Arial"/>
              </a:rPr>
              <a:t>统一 Version 命名：日期-备注；一次有意义的跑批一个新版本。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E9A63C"/>
                </a:solidFill>
                <a:latin typeface="Consolas"/>
              </a:rPr>
              <a:t>04  </a:t>
            </a:r>
            <a:r>
              <a:rPr sz="1250">
                <a:solidFill>
                  <a:srgbClr val="C6D0DA"/>
                </a:solidFill>
                <a:latin typeface="Arial"/>
              </a:rPr>
              <a:t>容器只按会被单独评审的粒度建（corner / step / testbench）。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E9A63C"/>
                </a:solidFill>
                <a:latin typeface="Consolas"/>
              </a:rPr>
              <a:t>05  </a:t>
            </a:r>
            <a:r>
              <a:rPr sz="1250">
                <a:solidFill>
                  <a:srgbClr val="C6D0DA"/>
                </a:solidFill>
                <a:latin typeface="Arial"/>
              </a:rPr>
              <a:t>流程脚本收尾固定四步：copy → set_dqi → checkin_container → list_container。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737360"/>
            <a:ext cx="5486400" cy="19194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50" b="1">
                <a:solidFill>
                  <a:srgbClr val="E9A63C"/>
                </a:solidFill>
                <a:latin typeface="Consolas"/>
              </a:rPr>
              <a:t>01  </a:t>
            </a:r>
            <a:r>
              <a:rPr sz="1250">
                <a:solidFill>
                  <a:srgbClr val="C6D0DA"/>
                </a:solidFill>
                <a:latin typeface="Arial"/>
              </a:rPr>
              <a:t>报告与摘要 copy；GB 级中间件 link，且只在本机流程用。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E9A63C"/>
                </a:solidFill>
                <a:latin typeface="Consolas"/>
              </a:rPr>
              <a:t>02  </a:t>
            </a:r>
            <a:r>
              <a:rPr sz="1250">
                <a:solidFill>
                  <a:srgbClr val="C6D0DA"/>
                </a:solidFill>
                <a:latin typeface="Arial"/>
              </a:rPr>
              <a:t>对外交付一律 copy，并随附 manifest 与 .dqi 快照。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E9A63C"/>
                </a:solidFill>
                <a:latin typeface="Consolas"/>
              </a:rPr>
              <a:t>03  </a:t>
            </a:r>
            <a:r>
              <a:rPr sz="1250">
                <a:solidFill>
                  <a:srgbClr val="C6D0DA"/>
                </a:solidFill>
                <a:latin typeface="Arial"/>
              </a:rPr>
              <a:t>项目级配置写 dvc_set_env --server；状态用 NETLIST_STATE 冻结。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E9A63C"/>
                </a:solidFill>
                <a:latin typeface="Consolas"/>
              </a:rPr>
              <a:t>04  </a:t>
            </a:r>
            <a:r>
              <a:rPr sz="1250">
                <a:solidFill>
                  <a:srgbClr val="C6D0DA"/>
                </a:solidFill>
                <a:latin typeface="Arial"/>
              </a:rPr>
              <a:t>remove_* 只授权 CAD/IT，执行前先 dump 备份。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E9A63C"/>
                </a:solidFill>
                <a:latin typeface="Consolas"/>
              </a:rPr>
              <a:t>05  </a:t>
            </a:r>
            <a:r>
              <a:rPr sz="1250">
                <a:solidFill>
                  <a:srgbClr val="C6D0DA"/>
                </a:solidFill>
                <a:latin typeface="Arial"/>
              </a:rPr>
              <a:t>周会准备固定三条命令：list_project / list_stage -v / get_dqi --all。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100957"/>
            <a:ext cx="11055096" cy="18288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283837"/>
            <a:ext cx="6949440" cy="2913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9A63C"/>
                </a:solidFill>
                <a:latin typeface="Consolas"/>
              </a:rPr>
              <a:t>配套材料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576445"/>
            <a:ext cx="6949440" cy="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8A97A6"/>
                </a:solidFill>
                <a:latin typeface="Arial"/>
              </a:rPr>
              <a:t>《DVC 使用手册》安装、目录模型与流程概念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8A97A6"/>
                </a:solidFill>
                <a:latin typeface="Arial"/>
              </a:rPr>
              <a:t>《DVC 命令参考手册》67 条命令逐条示例 + 完整项目案例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8A97A6"/>
                </a:solidFill>
                <a:latin typeface="Arial"/>
              </a:rPr>
              <a:t>仓库与示例 https://gitee.com/icdop/dvc（doc/DVC_CMDS.txt · run/01_case…05_apr）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4558157"/>
            <a:ext cx="3840480" cy="1072794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9288" y="4754753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4713605"/>
            <a:ext cx="3291840" cy="2665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带走这两行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5051933"/>
            <a:ext cx="3438144" cy="4180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"/>
              </a:spcAft>
            </a:pPr>
            <a:r>
              <a:rPr sz="1050">
                <a:solidFill>
                  <a:srgbClr val="7C8998"/>
                </a:solidFill>
                <a:latin typeface="Consolas"/>
              </a:rPr>
              <a:t>%</a:t>
            </a:r>
            <a:r>
              <a:rPr sz="1050">
                <a:solidFill>
                  <a:srgbClr val="7C8998"/>
                </a:solidFill>
                <a:latin typeface="Consolas"/>
              </a:rPr>
              <a:t> </a:t>
            </a:r>
            <a:r>
              <a:rPr sz="1050">
                <a:solidFill>
                  <a:srgbClr val="F4F7FA"/>
                </a:solidFill>
                <a:latin typeface="Consolas"/>
              </a:rPr>
              <a:t>source</a:t>
            </a:r>
            <a:r>
              <a:rPr sz="1050">
                <a:solidFill>
                  <a:srgbClr val="C6D0DA"/>
                </a:solidFill>
                <a:latin typeface="Consolas"/>
              </a:rPr>
              <a:t> </a:t>
            </a:r>
            <a:r>
              <a:rPr sz="1050">
                <a:solidFill>
                  <a:srgbClr val="D8A65E"/>
                </a:solidFill>
                <a:latin typeface="Consolas"/>
              </a:rPr>
              <a:t>/projects/N7A/flow/CSHRC.dvc</a:t>
            </a:r>
          </a:p>
          <a:p>
            <a:pPr>
              <a:spcAft>
                <a:spcPts val="260"/>
              </a:spcAft>
            </a:pPr>
            <a:r>
              <a:rPr sz="1050">
                <a:solidFill>
                  <a:srgbClr val="7C8998"/>
                </a:solidFill>
                <a:latin typeface="Consolas"/>
              </a:rPr>
              <a:t>%</a:t>
            </a:r>
            <a:r>
              <a:rPr sz="1050">
                <a:solidFill>
                  <a:srgbClr val="7C8998"/>
                </a:solidFill>
                <a:latin typeface="Consolas"/>
              </a:rPr>
              <a:t> </a:t>
            </a:r>
            <a:r>
              <a:rPr sz="1050">
                <a:solidFill>
                  <a:srgbClr val="5FC8BC"/>
                </a:solidFill>
                <a:latin typeface="Consolas"/>
              </a:rPr>
              <a:t>dvc_checkout_folder</a:t>
            </a:r>
            <a:r>
              <a:rPr sz="1050">
                <a:solidFill>
                  <a:srgbClr val="C6D0DA"/>
                </a:solidFill>
                <a:latin typeface="Consolas"/>
              </a:rPr>
              <a:t> </a:t>
            </a:r>
            <a:r>
              <a:rPr sz="1050">
                <a:solidFill>
                  <a:srgbClr val="8A97A6"/>
                </a:solidFill>
                <a:latin typeface="Consolas"/>
              </a:rPr>
              <a:t>&lt;phase/block/stage/version&gt;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